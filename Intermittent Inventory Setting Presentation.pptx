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7" Type="http://schemas.microsoft.com/office/2020/02/relationships/classificationlabels" Target="docMetadata/LabelInfo.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3"/>
  </p:notesMasterIdLst>
  <p:handoutMasterIdLst>
    <p:handoutMasterId r:id="rId24"/>
  </p:handoutMasterIdLst>
  <p:sldIdLst>
    <p:sldId id="256" r:id="rId5"/>
    <p:sldId id="1555" r:id="rId6"/>
    <p:sldId id="1556" r:id="rId7"/>
    <p:sldId id="1524" r:id="rId8"/>
    <p:sldId id="1528" r:id="rId9"/>
    <p:sldId id="1533" r:id="rId10"/>
    <p:sldId id="1538" r:id="rId11"/>
    <p:sldId id="260" r:id="rId12"/>
    <p:sldId id="1536" r:id="rId13"/>
    <p:sldId id="1534" r:id="rId14"/>
    <p:sldId id="1542" r:id="rId15"/>
    <p:sldId id="1549" r:id="rId16"/>
    <p:sldId id="1546" r:id="rId17"/>
    <p:sldId id="1547" r:id="rId18"/>
    <p:sldId id="1548" r:id="rId19"/>
    <p:sldId id="1552" r:id="rId20"/>
    <p:sldId id="1553" r:id="rId21"/>
    <p:sldId id="267"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DDE3DC8-124B-43D1-ADCF-B0EFEC9F3BE8}" v="1" dt="2026-06-25T16:56:15.67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58"/>
  </p:normalViewPr>
  <p:slideViewPr>
    <p:cSldViewPr snapToGrid="0">
      <p:cViewPr>
        <p:scale>
          <a:sx n="98" d="100"/>
          <a:sy n="98" d="100"/>
        </p:scale>
        <p:origin x="374" y="86"/>
      </p:cViewPr>
      <p:guideLst/>
    </p:cSldViewPr>
  </p:slideViewPr>
  <p:notesTextViewPr>
    <p:cViewPr>
      <p:scale>
        <a:sx n="1" d="1"/>
        <a:sy n="1" d="1"/>
      </p:scale>
      <p:origin x="0" y="0"/>
    </p:cViewPr>
  </p:notesTextViewPr>
  <p:sorterViewPr>
    <p:cViewPr>
      <p:scale>
        <a:sx n="100" d="100"/>
        <a:sy n="100" d="100"/>
      </p:scale>
      <p:origin x="0" y="-1972"/>
    </p:cViewPr>
  </p:sorter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zuying Yu" userId="81e85e6a-5dfc-4f28-a6a6-436d9922f14e" providerId="ADAL" clId="{51BD4E32-C78F-4F49-A52B-FFC8BBAF4C06}"/>
    <pc:docChg chg="undo custSel addSld delSld modSld sldOrd">
      <pc:chgData name="Tzuying Yu" userId="81e85e6a-5dfc-4f28-a6a6-436d9922f14e" providerId="ADAL" clId="{51BD4E32-C78F-4F49-A52B-FFC8BBAF4C06}" dt="2026-06-25T16:56:43.966" v="9898" actId="20577"/>
      <pc:docMkLst>
        <pc:docMk/>
      </pc:docMkLst>
      <pc:sldChg chg="modSp mod">
        <pc:chgData name="Tzuying Yu" userId="81e85e6a-5dfc-4f28-a6a6-436d9922f14e" providerId="ADAL" clId="{51BD4E32-C78F-4F49-A52B-FFC8BBAF4C06}" dt="2026-05-29T16:06:57.606" v="8618" actId="20577"/>
        <pc:sldMkLst>
          <pc:docMk/>
          <pc:sldMk cId="3069965530" sldId="256"/>
        </pc:sldMkLst>
        <pc:spChg chg="mod">
          <ac:chgData name="Tzuying Yu" userId="81e85e6a-5dfc-4f28-a6a6-436d9922f14e" providerId="ADAL" clId="{51BD4E32-C78F-4F49-A52B-FFC8BBAF4C06}" dt="2026-05-29T16:06:57.606" v="8618" actId="20577"/>
          <ac:spMkLst>
            <pc:docMk/>
            <pc:sldMk cId="3069965530" sldId="256"/>
            <ac:spMk id="4" creationId="{86D321A2-65AC-4C18-CA75-0FB5084CA306}"/>
          </ac:spMkLst>
        </pc:spChg>
      </pc:sldChg>
      <pc:sldChg chg="modSp mod">
        <pc:chgData name="Tzuying Yu" userId="81e85e6a-5dfc-4f28-a6a6-436d9922f14e" providerId="ADAL" clId="{51BD4E32-C78F-4F49-A52B-FFC8BBAF4C06}" dt="2026-05-28T18:27:43.191" v="3734" actId="20577"/>
        <pc:sldMkLst>
          <pc:docMk/>
          <pc:sldMk cId="4198690590" sldId="260"/>
        </pc:sldMkLst>
        <pc:spChg chg="mod">
          <ac:chgData name="Tzuying Yu" userId="81e85e6a-5dfc-4f28-a6a6-436d9922f14e" providerId="ADAL" clId="{51BD4E32-C78F-4F49-A52B-FFC8BBAF4C06}" dt="2026-05-28T16:02:28.796" v="2753" actId="20577"/>
          <ac:spMkLst>
            <pc:docMk/>
            <pc:sldMk cId="4198690590" sldId="260"/>
            <ac:spMk id="2" creationId="{EC22F81C-2BD8-A4FA-1C47-752CDA28131D}"/>
          </ac:spMkLst>
        </pc:spChg>
        <pc:spChg chg="mod">
          <ac:chgData name="Tzuying Yu" userId="81e85e6a-5dfc-4f28-a6a6-436d9922f14e" providerId="ADAL" clId="{51BD4E32-C78F-4F49-A52B-FFC8BBAF4C06}" dt="2026-05-28T18:27:43.191" v="3734" actId="20577"/>
          <ac:spMkLst>
            <pc:docMk/>
            <pc:sldMk cId="4198690590" sldId="260"/>
            <ac:spMk id="5" creationId="{7DDC5760-52B8-999A-59CB-4AFDF3B93E05}"/>
          </ac:spMkLst>
        </pc:spChg>
      </pc:sldChg>
      <pc:sldChg chg="modSp mod">
        <pc:chgData name="Tzuying Yu" userId="81e85e6a-5dfc-4f28-a6a6-436d9922f14e" providerId="ADAL" clId="{51BD4E32-C78F-4F49-A52B-FFC8BBAF4C06}" dt="2026-05-29T15:52:26.030" v="7894" actId="14100"/>
        <pc:sldMkLst>
          <pc:docMk/>
          <pc:sldMk cId="2999686948" sldId="267"/>
        </pc:sldMkLst>
        <pc:spChg chg="mod">
          <ac:chgData name="Tzuying Yu" userId="81e85e6a-5dfc-4f28-a6a6-436d9922f14e" providerId="ADAL" clId="{51BD4E32-C78F-4F49-A52B-FFC8BBAF4C06}" dt="2026-05-29T15:52:17.396" v="7893" actId="1076"/>
          <ac:spMkLst>
            <pc:docMk/>
            <pc:sldMk cId="2999686948" sldId="267"/>
            <ac:spMk id="2" creationId="{E4A209B1-CECE-7466-7044-9D73619E56A1}"/>
          </ac:spMkLst>
        </pc:spChg>
        <pc:spChg chg="mod">
          <ac:chgData name="Tzuying Yu" userId="81e85e6a-5dfc-4f28-a6a6-436d9922f14e" providerId="ADAL" clId="{51BD4E32-C78F-4F49-A52B-FFC8BBAF4C06}" dt="2026-05-29T15:52:26.030" v="7894" actId="14100"/>
          <ac:spMkLst>
            <pc:docMk/>
            <pc:sldMk cId="2999686948" sldId="267"/>
            <ac:spMk id="3" creationId="{0D66681B-5E1B-BD2B-6960-3B46EFE83A39}"/>
          </ac:spMkLst>
        </pc:spChg>
        <pc:picChg chg="mod">
          <ac:chgData name="Tzuying Yu" userId="81e85e6a-5dfc-4f28-a6a6-436d9922f14e" providerId="ADAL" clId="{51BD4E32-C78F-4F49-A52B-FFC8BBAF4C06}" dt="2026-05-29T15:52:13.313" v="7892" actId="14100"/>
          <ac:picMkLst>
            <pc:docMk/>
            <pc:sldMk cId="2999686948" sldId="267"/>
            <ac:picMk id="6" creationId="{7D071976-9DDA-8EF5-F9B4-1BE7497CC16D}"/>
          </ac:picMkLst>
        </pc:picChg>
      </pc:sldChg>
      <pc:sldChg chg="modSp mod">
        <pc:chgData name="Tzuying Yu" userId="81e85e6a-5dfc-4f28-a6a6-436d9922f14e" providerId="ADAL" clId="{51BD4E32-C78F-4F49-A52B-FFC8BBAF4C06}" dt="2026-05-29T16:30:12.158" v="8916" actId="1076"/>
        <pc:sldMkLst>
          <pc:docMk/>
          <pc:sldMk cId="3678891237" sldId="1524"/>
        </pc:sldMkLst>
        <pc:spChg chg="mod">
          <ac:chgData name="Tzuying Yu" userId="81e85e6a-5dfc-4f28-a6a6-436d9922f14e" providerId="ADAL" clId="{51BD4E32-C78F-4F49-A52B-FFC8BBAF4C06}" dt="2026-05-29T16:30:03.192" v="8914" actId="20577"/>
          <ac:spMkLst>
            <pc:docMk/>
            <pc:sldMk cId="3678891237" sldId="1524"/>
            <ac:spMk id="12" creationId="{A3D4F843-2FFD-4E49-9A44-94B180223123}"/>
          </ac:spMkLst>
        </pc:spChg>
        <pc:spChg chg="mod">
          <ac:chgData name="Tzuying Yu" userId="81e85e6a-5dfc-4f28-a6a6-436d9922f14e" providerId="ADAL" clId="{51BD4E32-C78F-4F49-A52B-FFC8BBAF4C06}" dt="2026-05-29T16:30:08.757" v="8915" actId="1076"/>
          <ac:spMkLst>
            <pc:docMk/>
            <pc:sldMk cId="3678891237" sldId="1524"/>
            <ac:spMk id="13" creationId="{8D216B09-4211-4BAD-AC71-82B6A2E0F3E2}"/>
          </ac:spMkLst>
        </pc:spChg>
        <pc:spChg chg="mod">
          <ac:chgData name="Tzuying Yu" userId="81e85e6a-5dfc-4f28-a6a6-436d9922f14e" providerId="ADAL" clId="{51BD4E32-C78F-4F49-A52B-FFC8BBAF4C06}" dt="2026-05-29T16:30:12.158" v="8916" actId="1076"/>
          <ac:spMkLst>
            <pc:docMk/>
            <pc:sldMk cId="3678891237" sldId="1524"/>
            <ac:spMk id="17" creationId="{53AC7F4C-A9FF-4EF3-9DF0-B49F633BE35F}"/>
          </ac:spMkLst>
        </pc:spChg>
      </pc:sldChg>
      <pc:sldChg chg="modSp mod">
        <pc:chgData name="Tzuying Yu" userId="81e85e6a-5dfc-4f28-a6a6-436d9922f14e" providerId="ADAL" clId="{51BD4E32-C78F-4F49-A52B-FFC8BBAF4C06}" dt="2026-05-28T18:41:03.860" v="3927" actId="20577"/>
        <pc:sldMkLst>
          <pc:docMk/>
          <pc:sldMk cId="2670653992" sldId="1533"/>
        </pc:sldMkLst>
        <pc:spChg chg="mod">
          <ac:chgData name="Tzuying Yu" userId="81e85e6a-5dfc-4f28-a6a6-436d9922f14e" providerId="ADAL" clId="{51BD4E32-C78F-4F49-A52B-FFC8BBAF4C06}" dt="2026-05-28T14:59:46.356" v="1369" actId="20577"/>
          <ac:spMkLst>
            <pc:docMk/>
            <pc:sldMk cId="2670653992" sldId="1533"/>
            <ac:spMk id="2" creationId="{2728C1DF-CD8C-F1F7-9632-C3718DF27A19}"/>
          </ac:spMkLst>
        </pc:spChg>
        <pc:spChg chg="mod">
          <ac:chgData name="Tzuying Yu" userId="81e85e6a-5dfc-4f28-a6a6-436d9922f14e" providerId="ADAL" clId="{51BD4E32-C78F-4F49-A52B-FFC8BBAF4C06}" dt="2026-05-28T18:40:12.728" v="3891" actId="20577"/>
          <ac:spMkLst>
            <pc:docMk/>
            <pc:sldMk cId="2670653992" sldId="1533"/>
            <ac:spMk id="3" creationId="{6F0819A4-303D-C98A-60A4-903740D9B7C0}"/>
          </ac:spMkLst>
        </pc:spChg>
        <pc:spChg chg="mod">
          <ac:chgData name="Tzuying Yu" userId="81e85e6a-5dfc-4f28-a6a6-436d9922f14e" providerId="ADAL" clId="{51BD4E32-C78F-4F49-A52B-FFC8BBAF4C06}" dt="2026-05-28T14:52:05.504" v="985" actId="1076"/>
          <ac:spMkLst>
            <pc:docMk/>
            <pc:sldMk cId="2670653992" sldId="1533"/>
            <ac:spMk id="4" creationId="{64DF0668-6E7E-484D-87DF-E516082204CA}"/>
          </ac:spMkLst>
        </pc:spChg>
        <pc:spChg chg="mod">
          <ac:chgData name="Tzuying Yu" userId="81e85e6a-5dfc-4f28-a6a6-436d9922f14e" providerId="ADAL" clId="{51BD4E32-C78F-4F49-A52B-FFC8BBAF4C06}" dt="2026-05-28T18:37:06.470" v="3858" actId="20577"/>
          <ac:spMkLst>
            <pc:docMk/>
            <pc:sldMk cId="2670653992" sldId="1533"/>
            <ac:spMk id="5" creationId="{1DC1A08D-29ED-42BD-B8FC-78DE668399C3}"/>
          </ac:spMkLst>
        </pc:spChg>
        <pc:spChg chg="mod">
          <ac:chgData name="Tzuying Yu" userId="81e85e6a-5dfc-4f28-a6a6-436d9922f14e" providerId="ADAL" clId="{51BD4E32-C78F-4F49-A52B-FFC8BBAF4C06}" dt="2026-05-28T14:52:23.797" v="988" actId="1076"/>
          <ac:spMkLst>
            <pc:docMk/>
            <pc:sldMk cId="2670653992" sldId="1533"/>
            <ac:spMk id="6" creationId="{8DA954AA-2941-476C-9505-E8031E1BABA8}"/>
          </ac:spMkLst>
        </pc:spChg>
        <pc:spChg chg="mod">
          <ac:chgData name="Tzuying Yu" userId="81e85e6a-5dfc-4f28-a6a6-436d9922f14e" providerId="ADAL" clId="{51BD4E32-C78F-4F49-A52B-FFC8BBAF4C06}" dt="2026-05-28T18:33:42.881" v="3798" actId="20577"/>
          <ac:spMkLst>
            <pc:docMk/>
            <pc:sldMk cId="2670653992" sldId="1533"/>
            <ac:spMk id="7" creationId="{55B4BFBF-BE95-4D2C-8A16-3169C0C2BC76}"/>
          </ac:spMkLst>
        </pc:spChg>
        <pc:spChg chg="mod">
          <ac:chgData name="Tzuying Yu" userId="81e85e6a-5dfc-4f28-a6a6-436d9922f14e" providerId="ADAL" clId="{51BD4E32-C78F-4F49-A52B-FFC8BBAF4C06}" dt="2026-05-28T18:39:27.034" v="3881" actId="20577"/>
          <ac:spMkLst>
            <pc:docMk/>
            <pc:sldMk cId="2670653992" sldId="1533"/>
            <ac:spMk id="9" creationId="{07265160-0B58-48E5-857D-BBA4E16E3EA3}"/>
          </ac:spMkLst>
        </pc:spChg>
        <pc:spChg chg="mod">
          <ac:chgData name="Tzuying Yu" userId="81e85e6a-5dfc-4f28-a6a6-436d9922f14e" providerId="ADAL" clId="{51BD4E32-C78F-4F49-A52B-FFC8BBAF4C06}" dt="2026-05-28T14:53:12.774" v="1007" actId="1076"/>
          <ac:spMkLst>
            <pc:docMk/>
            <pc:sldMk cId="2670653992" sldId="1533"/>
            <ac:spMk id="10" creationId="{146B8174-5093-4706-AFB6-EC1B73BCF0DD}"/>
          </ac:spMkLst>
        </pc:spChg>
        <pc:spChg chg="mod">
          <ac:chgData name="Tzuying Yu" userId="81e85e6a-5dfc-4f28-a6a6-436d9922f14e" providerId="ADAL" clId="{51BD4E32-C78F-4F49-A52B-FFC8BBAF4C06}" dt="2026-05-28T18:35:47.589" v="3843" actId="20577"/>
          <ac:spMkLst>
            <pc:docMk/>
            <pc:sldMk cId="2670653992" sldId="1533"/>
            <ac:spMk id="17" creationId="{B01FBD9F-72D9-4FB3-AF2D-E5A468CD1AA1}"/>
          </ac:spMkLst>
        </pc:spChg>
        <pc:spChg chg="mod">
          <ac:chgData name="Tzuying Yu" userId="81e85e6a-5dfc-4f28-a6a6-436d9922f14e" providerId="ADAL" clId="{51BD4E32-C78F-4F49-A52B-FFC8BBAF4C06}" dt="2026-05-28T18:41:03.860" v="3927" actId="20577"/>
          <ac:spMkLst>
            <pc:docMk/>
            <pc:sldMk cId="2670653992" sldId="1533"/>
            <ac:spMk id="18" creationId="{64D934DA-4D20-438E-80E3-0905361544AB}"/>
          </ac:spMkLst>
        </pc:spChg>
        <pc:spChg chg="mod">
          <ac:chgData name="Tzuying Yu" userId="81e85e6a-5dfc-4f28-a6a6-436d9922f14e" providerId="ADAL" clId="{51BD4E32-C78F-4F49-A52B-FFC8BBAF4C06}" dt="2026-05-28T18:40:20.461" v="3897" actId="20577"/>
          <ac:spMkLst>
            <pc:docMk/>
            <pc:sldMk cId="2670653992" sldId="1533"/>
            <ac:spMk id="21" creationId="{83B3D326-885C-1355-19F7-E57A8BFEC786}"/>
          </ac:spMkLst>
        </pc:spChg>
        <pc:spChg chg="mod">
          <ac:chgData name="Tzuying Yu" userId="81e85e6a-5dfc-4f28-a6a6-436d9922f14e" providerId="ADAL" clId="{51BD4E32-C78F-4F49-A52B-FFC8BBAF4C06}" dt="2026-05-28T18:40:42.367" v="3911" actId="20577"/>
          <ac:spMkLst>
            <pc:docMk/>
            <pc:sldMk cId="2670653992" sldId="1533"/>
            <ac:spMk id="22" creationId="{F2A0E008-E660-BD3D-9253-90348C7A3AF7}"/>
          </ac:spMkLst>
        </pc:spChg>
        <pc:spChg chg="mod">
          <ac:chgData name="Tzuying Yu" userId="81e85e6a-5dfc-4f28-a6a6-436d9922f14e" providerId="ADAL" clId="{51BD4E32-C78F-4F49-A52B-FFC8BBAF4C06}" dt="2026-05-28T18:40:46.622" v="3913" actId="20577"/>
          <ac:spMkLst>
            <pc:docMk/>
            <pc:sldMk cId="2670653992" sldId="1533"/>
            <ac:spMk id="24" creationId="{89B6EF88-3DB2-0E28-3119-4602AB200793}"/>
          </ac:spMkLst>
        </pc:spChg>
        <pc:spChg chg="mod">
          <ac:chgData name="Tzuying Yu" userId="81e85e6a-5dfc-4f28-a6a6-436d9922f14e" providerId="ADAL" clId="{51BD4E32-C78F-4F49-A52B-FFC8BBAF4C06}" dt="2026-05-28T18:40:54.965" v="3919" actId="20577"/>
          <ac:spMkLst>
            <pc:docMk/>
            <pc:sldMk cId="2670653992" sldId="1533"/>
            <ac:spMk id="26" creationId="{8AF63CE1-78A4-F68C-939F-BD823BDD722D}"/>
          </ac:spMkLst>
        </pc:spChg>
        <pc:spChg chg="mod">
          <ac:chgData name="Tzuying Yu" userId="81e85e6a-5dfc-4f28-a6a6-436d9922f14e" providerId="ADAL" clId="{51BD4E32-C78F-4F49-A52B-FFC8BBAF4C06}" dt="2026-05-28T18:40:28.738" v="3903" actId="20577"/>
          <ac:spMkLst>
            <pc:docMk/>
            <pc:sldMk cId="2670653992" sldId="1533"/>
            <ac:spMk id="28" creationId="{B657761D-EF8B-6E98-740A-5FE884F8CB22}"/>
          </ac:spMkLst>
        </pc:spChg>
        <pc:spChg chg="mod">
          <ac:chgData name="Tzuying Yu" userId="81e85e6a-5dfc-4f28-a6a6-436d9922f14e" providerId="ADAL" clId="{51BD4E32-C78F-4F49-A52B-FFC8BBAF4C06}" dt="2026-05-28T18:40:35.343" v="3907" actId="20577"/>
          <ac:spMkLst>
            <pc:docMk/>
            <pc:sldMk cId="2670653992" sldId="1533"/>
            <ac:spMk id="30" creationId="{FCA95A44-31D4-A468-D5B2-AFC1F7D9A903}"/>
          </ac:spMkLst>
        </pc:spChg>
        <pc:spChg chg="mod">
          <ac:chgData name="Tzuying Yu" userId="81e85e6a-5dfc-4f28-a6a6-436d9922f14e" providerId="ADAL" clId="{51BD4E32-C78F-4F49-A52B-FFC8BBAF4C06}" dt="2026-05-28T18:31:30.789" v="3758" actId="20577"/>
          <ac:spMkLst>
            <pc:docMk/>
            <pc:sldMk cId="2670653992" sldId="1533"/>
            <ac:spMk id="31" creationId="{436406EA-2E44-3DFD-158F-0B2BB4319DEC}"/>
          </ac:spMkLst>
        </pc:spChg>
        <pc:cxnChg chg="mod">
          <ac:chgData name="Tzuying Yu" userId="81e85e6a-5dfc-4f28-a6a6-436d9922f14e" providerId="ADAL" clId="{51BD4E32-C78F-4F49-A52B-FFC8BBAF4C06}" dt="2026-05-28T16:27:14.721" v="3238" actId="1076"/>
          <ac:cxnSpMkLst>
            <pc:docMk/>
            <pc:sldMk cId="2670653992" sldId="1533"/>
            <ac:cxnSpMk id="20" creationId="{B3A10D7E-1B28-072A-D9E1-46B42B52B4CA}"/>
          </ac:cxnSpMkLst>
        </pc:cxnChg>
      </pc:sldChg>
      <pc:sldChg chg="addSp delSp modSp mod">
        <pc:chgData name="Tzuying Yu" userId="81e85e6a-5dfc-4f28-a6a6-436d9922f14e" providerId="ADAL" clId="{51BD4E32-C78F-4F49-A52B-FFC8BBAF4C06}" dt="2026-06-25T16:44:46.394" v="9706" actId="1076"/>
        <pc:sldMkLst>
          <pc:docMk/>
          <pc:sldMk cId="3062724651" sldId="1534"/>
        </pc:sldMkLst>
        <pc:spChg chg="add mod">
          <ac:chgData name="Tzuying Yu" userId="81e85e6a-5dfc-4f28-a6a6-436d9922f14e" providerId="ADAL" clId="{51BD4E32-C78F-4F49-A52B-FFC8BBAF4C06}" dt="2026-05-28T19:57:22.354" v="4006" actId="478"/>
          <ac:spMkLst>
            <pc:docMk/>
            <pc:sldMk cId="3062724651" sldId="1534"/>
            <ac:spMk id="11" creationId="{A69E5615-750F-3A82-D8C2-10EA34EF8CB8}"/>
          </ac:spMkLst>
        </pc:spChg>
        <pc:picChg chg="add mod">
          <ac:chgData name="Tzuying Yu" userId="81e85e6a-5dfc-4f28-a6a6-436d9922f14e" providerId="ADAL" clId="{51BD4E32-C78F-4F49-A52B-FFC8BBAF4C06}" dt="2026-06-25T16:44:46.394" v="9706" actId="1076"/>
          <ac:picMkLst>
            <pc:docMk/>
            <pc:sldMk cId="3062724651" sldId="1534"/>
            <ac:picMk id="13" creationId="{9E14A61D-4C5E-2213-24C7-6E62D3557386}"/>
          </ac:picMkLst>
        </pc:picChg>
      </pc:sldChg>
      <pc:sldChg chg="addSp modSp add mod">
        <pc:chgData name="Tzuying Yu" userId="81e85e6a-5dfc-4f28-a6a6-436d9922f14e" providerId="ADAL" clId="{51BD4E32-C78F-4F49-A52B-FFC8BBAF4C06}" dt="2026-05-29T16:36:46.169" v="9108" actId="14100"/>
        <pc:sldMkLst>
          <pc:docMk/>
          <pc:sldMk cId="1515091648" sldId="1536"/>
        </pc:sldMkLst>
        <pc:spChg chg="mod">
          <ac:chgData name="Tzuying Yu" userId="81e85e6a-5dfc-4f28-a6a6-436d9922f14e" providerId="ADAL" clId="{51BD4E32-C78F-4F49-A52B-FFC8BBAF4C06}" dt="2026-05-28T16:47:17.168" v="3463" actId="1076"/>
          <ac:spMkLst>
            <pc:docMk/>
            <pc:sldMk cId="1515091648" sldId="1536"/>
            <ac:spMk id="2" creationId="{8AA144A5-0283-F980-85F3-EE51746FC4CD}"/>
          </ac:spMkLst>
        </pc:spChg>
        <pc:spChg chg="mod">
          <ac:chgData name="Tzuying Yu" userId="81e85e6a-5dfc-4f28-a6a6-436d9922f14e" providerId="ADAL" clId="{51BD4E32-C78F-4F49-A52B-FFC8BBAF4C06}" dt="2026-05-28T14:00:59.394" v="835" actId="1076"/>
          <ac:spMkLst>
            <pc:docMk/>
            <pc:sldMk cId="1515091648" sldId="1536"/>
            <ac:spMk id="3" creationId="{1A385359-5FD3-D5C8-1467-F7082543AA4C}"/>
          </ac:spMkLst>
        </pc:spChg>
        <pc:spChg chg="add mod">
          <ac:chgData name="Tzuying Yu" userId="81e85e6a-5dfc-4f28-a6a6-436d9922f14e" providerId="ADAL" clId="{51BD4E32-C78F-4F49-A52B-FFC8BBAF4C06}" dt="2026-05-28T16:48:49.288" v="3479" actId="1076"/>
          <ac:spMkLst>
            <pc:docMk/>
            <pc:sldMk cId="1515091648" sldId="1536"/>
            <ac:spMk id="4" creationId="{B519CE0B-C022-DBDC-1FFF-123683EBD294}"/>
          </ac:spMkLst>
        </pc:spChg>
        <pc:spChg chg="add mod">
          <ac:chgData name="Tzuying Yu" userId="81e85e6a-5dfc-4f28-a6a6-436d9922f14e" providerId="ADAL" clId="{51BD4E32-C78F-4F49-A52B-FFC8BBAF4C06}" dt="2026-05-28T13:58:30.746" v="826" actId="1076"/>
          <ac:spMkLst>
            <pc:docMk/>
            <pc:sldMk cId="1515091648" sldId="1536"/>
            <ac:spMk id="5" creationId="{9923BE4B-EBA6-7624-9CB5-FD216B7CFA25}"/>
          </ac:spMkLst>
        </pc:spChg>
        <pc:spChg chg="add mod">
          <ac:chgData name="Tzuying Yu" userId="81e85e6a-5dfc-4f28-a6a6-436d9922f14e" providerId="ADAL" clId="{51BD4E32-C78F-4F49-A52B-FFC8BBAF4C06}" dt="2026-05-29T16:36:46.169" v="9108" actId="14100"/>
          <ac:spMkLst>
            <pc:docMk/>
            <pc:sldMk cId="1515091648" sldId="1536"/>
            <ac:spMk id="6" creationId="{E4724FCD-18BF-1CD1-82C3-D980C6D311F3}"/>
          </ac:spMkLst>
        </pc:spChg>
        <pc:spChg chg="mod">
          <ac:chgData name="Tzuying Yu" userId="81e85e6a-5dfc-4f28-a6a6-436d9922f14e" providerId="ADAL" clId="{51BD4E32-C78F-4F49-A52B-FFC8BBAF4C06}" dt="2026-05-29T16:36:40.368" v="9106" actId="1076"/>
          <ac:spMkLst>
            <pc:docMk/>
            <pc:sldMk cId="1515091648" sldId="1536"/>
            <ac:spMk id="12" creationId="{4032B486-26BF-478F-8002-56D7BA86F3B3}"/>
          </ac:spMkLst>
        </pc:spChg>
        <pc:spChg chg="mod">
          <ac:chgData name="Tzuying Yu" userId="81e85e6a-5dfc-4f28-a6a6-436d9922f14e" providerId="ADAL" clId="{51BD4E32-C78F-4F49-A52B-FFC8BBAF4C06}" dt="2026-05-29T16:36:40.368" v="9106" actId="1076"/>
          <ac:spMkLst>
            <pc:docMk/>
            <pc:sldMk cId="1515091648" sldId="1536"/>
            <ac:spMk id="13" creationId="{64119AC4-9D6D-E65D-9E0D-1827B3EEAC54}"/>
          </ac:spMkLst>
        </pc:spChg>
        <pc:spChg chg="mod">
          <ac:chgData name="Tzuying Yu" userId="81e85e6a-5dfc-4f28-a6a6-436d9922f14e" providerId="ADAL" clId="{51BD4E32-C78F-4F49-A52B-FFC8BBAF4C06}" dt="2026-05-29T16:36:40.368" v="9106" actId="1076"/>
          <ac:spMkLst>
            <pc:docMk/>
            <pc:sldMk cId="1515091648" sldId="1536"/>
            <ac:spMk id="14" creationId="{1B0F0119-8324-691F-0BA1-E0021B25A799}"/>
          </ac:spMkLst>
        </pc:spChg>
        <pc:spChg chg="mod">
          <ac:chgData name="Tzuying Yu" userId="81e85e6a-5dfc-4f28-a6a6-436d9922f14e" providerId="ADAL" clId="{51BD4E32-C78F-4F49-A52B-FFC8BBAF4C06}" dt="2026-05-29T16:36:40.368" v="9106" actId="1076"/>
          <ac:spMkLst>
            <pc:docMk/>
            <pc:sldMk cId="1515091648" sldId="1536"/>
            <ac:spMk id="15" creationId="{C411DE63-9A1F-91EE-5619-B7E6FD64145A}"/>
          </ac:spMkLst>
        </pc:spChg>
        <pc:spChg chg="mod">
          <ac:chgData name="Tzuying Yu" userId="81e85e6a-5dfc-4f28-a6a6-436d9922f14e" providerId="ADAL" clId="{51BD4E32-C78F-4F49-A52B-FFC8BBAF4C06}" dt="2026-05-29T16:36:40.368" v="9106" actId="1076"/>
          <ac:spMkLst>
            <pc:docMk/>
            <pc:sldMk cId="1515091648" sldId="1536"/>
            <ac:spMk id="16" creationId="{B82D65EE-9B3C-D06A-A612-44B5FD09D914}"/>
          </ac:spMkLst>
        </pc:spChg>
        <pc:spChg chg="mod">
          <ac:chgData name="Tzuying Yu" userId="81e85e6a-5dfc-4f28-a6a6-436d9922f14e" providerId="ADAL" clId="{51BD4E32-C78F-4F49-A52B-FFC8BBAF4C06}" dt="2026-05-29T16:36:40.368" v="9106" actId="1076"/>
          <ac:spMkLst>
            <pc:docMk/>
            <pc:sldMk cId="1515091648" sldId="1536"/>
            <ac:spMk id="18" creationId="{68B1DB26-721B-234D-2608-6DE8CA4C271F}"/>
          </ac:spMkLst>
        </pc:spChg>
        <pc:cxnChg chg="add mod">
          <ac:chgData name="Tzuying Yu" userId="81e85e6a-5dfc-4f28-a6a6-436d9922f14e" providerId="ADAL" clId="{51BD4E32-C78F-4F49-A52B-FFC8BBAF4C06}" dt="2026-05-28T16:49:04.371" v="3481" actId="13822"/>
          <ac:cxnSpMkLst>
            <pc:docMk/>
            <pc:sldMk cId="1515091648" sldId="1536"/>
            <ac:cxnSpMk id="20" creationId="{DD3A1CC6-6FF3-6BBE-A3C2-37DC681B412D}"/>
          </ac:cxnSpMkLst>
        </pc:cxnChg>
        <pc:cxnChg chg="mod">
          <ac:chgData name="Tzuying Yu" userId="81e85e6a-5dfc-4f28-a6a6-436d9922f14e" providerId="ADAL" clId="{51BD4E32-C78F-4F49-A52B-FFC8BBAF4C06}" dt="2026-05-29T16:36:40.368" v="9106" actId="1076"/>
          <ac:cxnSpMkLst>
            <pc:docMk/>
            <pc:sldMk cId="1515091648" sldId="1536"/>
            <ac:cxnSpMk id="21" creationId="{7847DAD8-C949-1D12-2BE2-C279DB1D7C6D}"/>
          </ac:cxnSpMkLst>
        </pc:cxnChg>
        <pc:cxnChg chg="mod">
          <ac:chgData name="Tzuying Yu" userId="81e85e6a-5dfc-4f28-a6a6-436d9922f14e" providerId="ADAL" clId="{51BD4E32-C78F-4F49-A52B-FFC8BBAF4C06}" dt="2026-05-29T16:36:40.368" v="9106" actId="1076"/>
          <ac:cxnSpMkLst>
            <pc:docMk/>
            <pc:sldMk cId="1515091648" sldId="1536"/>
            <ac:cxnSpMk id="23" creationId="{61D813BD-A5F3-1230-98BC-9807D957CC03}"/>
          </ac:cxnSpMkLst>
        </pc:cxnChg>
      </pc:sldChg>
      <pc:sldChg chg="addSp delSp modSp add mod">
        <pc:chgData name="Tzuying Yu" userId="81e85e6a-5dfc-4f28-a6a6-436d9922f14e" providerId="ADAL" clId="{51BD4E32-C78F-4F49-A52B-FFC8BBAF4C06}" dt="2026-05-29T16:36:20.991" v="9104" actId="1076"/>
        <pc:sldMkLst>
          <pc:docMk/>
          <pc:sldMk cId="2001507759" sldId="1538"/>
        </pc:sldMkLst>
        <pc:spChg chg="mod">
          <ac:chgData name="Tzuying Yu" userId="81e85e6a-5dfc-4f28-a6a6-436d9922f14e" providerId="ADAL" clId="{51BD4E32-C78F-4F49-A52B-FFC8BBAF4C06}" dt="2026-05-28T20:03:15.627" v="4155" actId="20577"/>
          <ac:spMkLst>
            <pc:docMk/>
            <pc:sldMk cId="2001507759" sldId="1538"/>
            <ac:spMk id="3" creationId="{100E3B8B-D706-8E4E-B5EF-5BD60CE04708}"/>
          </ac:spMkLst>
        </pc:spChg>
        <pc:spChg chg="add mod">
          <ac:chgData name="Tzuying Yu" userId="81e85e6a-5dfc-4f28-a6a6-436d9922f14e" providerId="ADAL" clId="{51BD4E32-C78F-4F49-A52B-FFC8BBAF4C06}" dt="2026-05-29T16:36:01.725" v="9100" actId="1076"/>
          <ac:spMkLst>
            <pc:docMk/>
            <pc:sldMk cId="2001507759" sldId="1538"/>
            <ac:spMk id="12" creationId="{93E93D4E-24FE-59E1-943C-4CD883B4CD50}"/>
          </ac:spMkLst>
        </pc:spChg>
        <pc:spChg chg="add mod">
          <ac:chgData name="Tzuying Yu" userId="81e85e6a-5dfc-4f28-a6a6-436d9922f14e" providerId="ADAL" clId="{51BD4E32-C78F-4F49-A52B-FFC8BBAF4C06}" dt="2026-05-29T16:36:20.991" v="9104" actId="1076"/>
          <ac:spMkLst>
            <pc:docMk/>
            <pc:sldMk cId="2001507759" sldId="1538"/>
            <ac:spMk id="14" creationId="{973AFD99-94CA-D081-6236-92D31C826071}"/>
          </ac:spMkLst>
        </pc:spChg>
        <pc:spChg chg="add mod">
          <ac:chgData name="Tzuying Yu" userId="81e85e6a-5dfc-4f28-a6a6-436d9922f14e" providerId="ADAL" clId="{51BD4E32-C78F-4F49-A52B-FFC8BBAF4C06}" dt="2026-05-29T16:36:13.065" v="9102" actId="1076"/>
          <ac:spMkLst>
            <pc:docMk/>
            <pc:sldMk cId="2001507759" sldId="1538"/>
            <ac:spMk id="15" creationId="{BBA6D0A5-3CD4-C288-4DE9-65D145CEA0F1}"/>
          </ac:spMkLst>
        </pc:spChg>
        <pc:spChg chg="add mod">
          <ac:chgData name="Tzuying Yu" userId="81e85e6a-5dfc-4f28-a6a6-436d9922f14e" providerId="ADAL" clId="{51BD4E32-C78F-4F49-A52B-FFC8BBAF4C06}" dt="2026-05-29T16:35:17.603" v="9089" actId="1076"/>
          <ac:spMkLst>
            <pc:docMk/>
            <pc:sldMk cId="2001507759" sldId="1538"/>
            <ac:spMk id="16" creationId="{62066F1E-E538-E0F2-0EB0-A063520F0BD6}"/>
          </ac:spMkLst>
        </pc:spChg>
        <pc:spChg chg="add mod">
          <ac:chgData name="Tzuying Yu" userId="81e85e6a-5dfc-4f28-a6a6-436d9922f14e" providerId="ADAL" clId="{51BD4E32-C78F-4F49-A52B-FFC8BBAF4C06}" dt="2026-05-29T16:35:44.489" v="9097" actId="1076"/>
          <ac:spMkLst>
            <pc:docMk/>
            <pc:sldMk cId="2001507759" sldId="1538"/>
            <ac:spMk id="19" creationId="{F36237BB-AF60-FAC9-3F08-3EB87E6A009A}"/>
          </ac:spMkLst>
        </pc:spChg>
        <pc:spChg chg="add mod">
          <ac:chgData name="Tzuying Yu" userId="81e85e6a-5dfc-4f28-a6a6-436d9922f14e" providerId="ADAL" clId="{51BD4E32-C78F-4F49-A52B-FFC8BBAF4C06}" dt="2026-05-29T16:35:31.273" v="9093" actId="1076"/>
          <ac:spMkLst>
            <pc:docMk/>
            <pc:sldMk cId="2001507759" sldId="1538"/>
            <ac:spMk id="20" creationId="{6876899F-81F9-4766-15F6-53BC36A3AB8E}"/>
          </ac:spMkLst>
        </pc:spChg>
        <pc:spChg chg="add mod">
          <ac:chgData name="Tzuying Yu" userId="81e85e6a-5dfc-4f28-a6a6-436d9922f14e" providerId="ADAL" clId="{51BD4E32-C78F-4F49-A52B-FFC8BBAF4C06}" dt="2026-05-29T16:35:28.703" v="9092" actId="14100"/>
          <ac:spMkLst>
            <pc:docMk/>
            <pc:sldMk cId="2001507759" sldId="1538"/>
            <ac:spMk id="21" creationId="{6978D206-2596-09E7-0CD0-0CC35E6FE182}"/>
          </ac:spMkLst>
        </pc:spChg>
        <pc:spChg chg="add mod">
          <ac:chgData name="Tzuying Yu" userId="81e85e6a-5dfc-4f28-a6a6-436d9922f14e" providerId="ADAL" clId="{51BD4E32-C78F-4F49-A52B-FFC8BBAF4C06}" dt="2026-05-29T16:35:39.292" v="9095" actId="1076"/>
          <ac:spMkLst>
            <pc:docMk/>
            <pc:sldMk cId="2001507759" sldId="1538"/>
            <ac:spMk id="22" creationId="{8081D065-A2C7-C91D-6113-139FB573F07A}"/>
          </ac:spMkLst>
        </pc:spChg>
        <pc:cxnChg chg="add mod">
          <ac:chgData name="Tzuying Yu" userId="81e85e6a-5dfc-4f28-a6a6-436d9922f14e" providerId="ADAL" clId="{51BD4E32-C78F-4F49-A52B-FFC8BBAF4C06}" dt="2026-05-28T16:26:40.603" v="3230" actId="208"/>
          <ac:cxnSpMkLst>
            <pc:docMk/>
            <pc:sldMk cId="2001507759" sldId="1538"/>
            <ac:cxnSpMk id="18" creationId="{2D8ED957-4625-DBEA-EF43-7904F3AD7804}"/>
          </ac:cxnSpMkLst>
        </pc:cxnChg>
      </pc:sldChg>
      <pc:sldChg chg="addSp delSp modSp add mod">
        <pc:chgData name="Tzuying Yu" userId="81e85e6a-5dfc-4f28-a6a6-436d9922f14e" providerId="ADAL" clId="{51BD4E32-C78F-4F49-A52B-FFC8BBAF4C06}" dt="2026-06-25T16:47:04.469" v="9726" actId="1076"/>
        <pc:sldMkLst>
          <pc:docMk/>
          <pc:sldMk cId="575985649" sldId="1542"/>
        </pc:sldMkLst>
        <pc:spChg chg="del mod">
          <ac:chgData name="Tzuying Yu" userId="81e85e6a-5dfc-4f28-a6a6-436d9922f14e" providerId="ADAL" clId="{51BD4E32-C78F-4F49-A52B-FFC8BBAF4C06}" dt="2026-06-25T16:46:32.026" v="9711" actId="478"/>
          <ac:spMkLst>
            <pc:docMk/>
            <pc:sldMk cId="575985649" sldId="1542"/>
            <ac:spMk id="3" creationId="{0E179615-2217-DA45-FC17-BD49746DCA86}"/>
          </ac:spMkLst>
        </pc:spChg>
        <pc:spChg chg="del">
          <ac:chgData name="Tzuying Yu" userId="81e85e6a-5dfc-4f28-a6a6-436d9922f14e" providerId="ADAL" clId="{51BD4E32-C78F-4F49-A52B-FFC8BBAF4C06}" dt="2026-06-25T16:46:33.654" v="9712" actId="478"/>
          <ac:spMkLst>
            <pc:docMk/>
            <pc:sldMk cId="575985649" sldId="1542"/>
            <ac:spMk id="5" creationId="{99BA15A9-8741-8D1B-2630-6BFCB3F78262}"/>
          </ac:spMkLst>
        </pc:spChg>
        <pc:spChg chg="mod">
          <ac:chgData name="Tzuying Yu" userId="81e85e6a-5dfc-4f28-a6a6-436d9922f14e" providerId="ADAL" clId="{51BD4E32-C78F-4F49-A52B-FFC8BBAF4C06}" dt="2026-06-25T16:46:39.116" v="9719" actId="20577"/>
          <ac:spMkLst>
            <pc:docMk/>
            <pc:sldMk cId="575985649" sldId="1542"/>
            <ac:spMk id="7" creationId="{76C14BFD-4A95-0269-B5E0-9ACBB4FBC9C4}"/>
          </ac:spMkLst>
        </pc:spChg>
        <pc:spChg chg="del">
          <ac:chgData name="Tzuying Yu" userId="81e85e6a-5dfc-4f28-a6a6-436d9922f14e" providerId="ADAL" clId="{51BD4E32-C78F-4F49-A52B-FFC8BBAF4C06}" dt="2026-06-25T16:46:52.712" v="9724" actId="478"/>
          <ac:spMkLst>
            <pc:docMk/>
            <pc:sldMk cId="575985649" sldId="1542"/>
            <ac:spMk id="8" creationId="{11815FD1-E323-3185-FA28-7EE51B800D8A}"/>
          </ac:spMkLst>
        </pc:spChg>
        <pc:spChg chg="mod">
          <ac:chgData name="Tzuying Yu" userId="81e85e6a-5dfc-4f28-a6a6-436d9922f14e" providerId="ADAL" clId="{51BD4E32-C78F-4F49-A52B-FFC8BBAF4C06}" dt="2026-05-29T15:28:23.466" v="6463" actId="1076"/>
          <ac:spMkLst>
            <pc:docMk/>
            <pc:sldMk cId="575985649" sldId="1542"/>
            <ac:spMk id="15" creationId="{265E6213-67E4-4959-9913-641288182C08}"/>
          </ac:spMkLst>
        </pc:spChg>
        <pc:spChg chg="mod">
          <ac:chgData name="Tzuying Yu" userId="81e85e6a-5dfc-4f28-a6a6-436d9922f14e" providerId="ADAL" clId="{51BD4E32-C78F-4F49-A52B-FFC8BBAF4C06}" dt="2026-05-29T15:28:19.843" v="6462" actId="1076"/>
          <ac:spMkLst>
            <pc:docMk/>
            <pc:sldMk cId="575985649" sldId="1542"/>
            <ac:spMk id="16" creationId="{542DCB73-29ED-49DA-BD14-089754F50F6E}"/>
          </ac:spMkLst>
        </pc:spChg>
        <pc:spChg chg="mod">
          <ac:chgData name="Tzuying Yu" userId="81e85e6a-5dfc-4f28-a6a6-436d9922f14e" providerId="ADAL" clId="{51BD4E32-C78F-4F49-A52B-FFC8BBAF4C06}" dt="2026-05-29T15:28:26.695" v="6464" actId="1076"/>
          <ac:spMkLst>
            <pc:docMk/>
            <pc:sldMk cId="575985649" sldId="1542"/>
            <ac:spMk id="17" creationId="{70073E88-84EA-4C78-812D-627896F35DC4}"/>
          </ac:spMkLst>
        </pc:spChg>
        <pc:spChg chg="mod">
          <ac:chgData name="Tzuying Yu" userId="81e85e6a-5dfc-4f28-a6a6-436d9922f14e" providerId="ADAL" clId="{51BD4E32-C78F-4F49-A52B-FFC8BBAF4C06}" dt="2026-05-29T15:28:34.271" v="6466" actId="1076"/>
          <ac:spMkLst>
            <pc:docMk/>
            <pc:sldMk cId="575985649" sldId="1542"/>
            <ac:spMk id="18" creationId="{4D0BFC88-268E-4AD2-9672-BE4867375487}"/>
          </ac:spMkLst>
        </pc:spChg>
        <pc:spChg chg="mod">
          <ac:chgData name="Tzuying Yu" userId="81e85e6a-5dfc-4f28-a6a6-436d9922f14e" providerId="ADAL" clId="{51BD4E32-C78F-4F49-A52B-FFC8BBAF4C06}" dt="2026-05-29T15:28:30.027" v="6465" actId="1076"/>
          <ac:spMkLst>
            <pc:docMk/>
            <pc:sldMk cId="575985649" sldId="1542"/>
            <ac:spMk id="19" creationId="{1D78E9AB-F9CE-4584-A362-54B3BC2E0520}"/>
          </ac:spMkLst>
        </pc:spChg>
        <pc:spChg chg="mod">
          <ac:chgData name="Tzuying Yu" userId="81e85e6a-5dfc-4f28-a6a6-436d9922f14e" providerId="ADAL" clId="{51BD4E32-C78F-4F49-A52B-FFC8BBAF4C06}" dt="2026-05-29T15:28:38.230" v="6467" actId="1076"/>
          <ac:spMkLst>
            <pc:docMk/>
            <pc:sldMk cId="575985649" sldId="1542"/>
            <ac:spMk id="20" creationId="{01DD43CF-D075-4108-8E55-82182089A17C}"/>
          </ac:spMkLst>
        </pc:spChg>
        <pc:spChg chg="mod">
          <ac:chgData name="Tzuying Yu" userId="81e85e6a-5dfc-4f28-a6a6-436d9922f14e" providerId="ADAL" clId="{51BD4E32-C78F-4F49-A52B-FFC8BBAF4C06}" dt="2026-05-29T15:28:43.511" v="6469" actId="1076"/>
          <ac:spMkLst>
            <pc:docMk/>
            <pc:sldMk cId="575985649" sldId="1542"/>
            <ac:spMk id="21" creationId="{60B7B763-D802-48AA-82BA-50C624172EC4}"/>
          </ac:spMkLst>
        </pc:spChg>
        <pc:spChg chg="mod">
          <ac:chgData name="Tzuying Yu" userId="81e85e6a-5dfc-4f28-a6a6-436d9922f14e" providerId="ADAL" clId="{51BD4E32-C78F-4F49-A52B-FFC8BBAF4C06}" dt="2026-05-29T15:28:40.979" v="6468" actId="1076"/>
          <ac:spMkLst>
            <pc:docMk/>
            <pc:sldMk cId="575985649" sldId="1542"/>
            <ac:spMk id="22" creationId="{E7963B5F-F01E-485D-A03C-21F5E60DB591}"/>
          </ac:spMkLst>
        </pc:spChg>
        <pc:spChg chg="mod">
          <ac:chgData name="Tzuying Yu" userId="81e85e6a-5dfc-4f28-a6a6-436d9922f14e" providerId="ADAL" clId="{51BD4E32-C78F-4F49-A52B-FFC8BBAF4C06}" dt="2026-05-29T15:28:46.319" v="6470" actId="1076"/>
          <ac:spMkLst>
            <pc:docMk/>
            <pc:sldMk cId="575985649" sldId="1542"/>
            <ac:spMk id="23" creationId="{00190097-EE0F-45AC-9937-0B194C356538}"/>
          </ac:spMkLst>
        </pc:spChg>
        <pc:spChg chg="mod">
          <ac:chgData name="Tzuying Yu" userId="81e85e6a-5dfc-4f28-a6a6-436d9922f14e" providerId="ADAL" clId="{51BD4E32-C78F-4F49-A52B-FFC8BBAF4C06}" dt="2026-05-29T15:28:52.680" v="6472" actId="1076"/>
          <ac:spMkLst>
            <pc:docMk/>
            <pc:sldMk cId="575985649" sldId="1542"/>
            <ac:spMk id="24" creationId="{251CF161-FAE5-49DE-A658-E65E9B0F4F61}"/>
          </ac:spMkLst>
        </pc:spChg>
        <pc:spChg chg="mod">
          <ac:chgData name="Tzuying Yu" userId="81e85e6a-5dfc-4f28-a6a6-436d9922f14e" providerId="ADAL" clId="{51BD4E32-C78F-4F49-A52B-FFC8BBAF4C06}" dt="2026-05-29T15:28:49.288" v="6471" actId="1076"/>
          <ac:spMkLst>
            <pc:docMk/>
            <pc:sldMk cId="575985649" sldId="1542"/>
            <ac:spMk id="25" creationId="{816A8AAB-8C66-4932-903E-25EE1D258250}"/>
          </ac:spMkLst>
        </pc:spChg>
        <pc:spChg chg="mod">
          <ac:chgData name="Tzuying Yu" userId="81e85e6a-5dfc-4f28-a6a6-436d9922f14e" providerId="ADAL" clId="{51BD4E32-C78F-4F49-A52B-FFC8BBAF4C06}" dt="2026-05-29T15:28:58.577" v="6473" actId="1076"/>
          <ac:spMkLst>
            <pc:docMk/>
            <pc:sldMk cId="575985649" sldId="1542"/>
            <ac:spMk id="26" creationId="{7684C01C-0E8A-4B3B-879C-A664008D1BEB}"/>
          </ac:spMkLst>
        </pc:spChg>
        <pc:spChg chg="mod">
          <ac:chgData name="Tzuying Yu" userId="81e85e6a-5dfc-4f28-a6a6-436d9922f14e" providerId="ADAL" clId="{51BD4E32-C78F-4F49-A52B-FFC8BBAF4C06}" dt="2026-05-29T15:29:04.953" v="6475" actId="1076"/>
          <ac:spMkLst>
            <pc:docMk/>
            <pc:sldMk cId="575985649" sldId="1542"/>
            <ac:spMk id="27" creationId="{654B7BAF-3C36-4825-B1AC-32EA760D500D}"/>
          </ac:spMkLst>
        </pc:spChg>
        <pc:spChg chg="mod">
          <ac:chgData name="Tzuying Yu" userId="81e85e6a-5dfc-4f28-a6a6-436d9922f14e" providerId="ADAL" clId="{51BD4E32-C78F-4F49-A52B-FFC8BBAF4C06}" dt="2026-05-29T15:29:02.025" v="6474" actId="1076"/>
          <ac:spMkLst>
            <pc:docMk/>
            <pc:sldMk cId="575985649" sldId="1542"/>
            <ac:spMk id="28" creationId="{6CB716AB-78F7-4329-9A2A-3B1BD32F1141}"/>
          </ac:spMkLst>
        </pc:spChg>
        <pc:spChg chg="mod">
          <ac:chgData name="Tzuying Yu" userId="81e85e6a-5dfc-4f28-a6a6-436d9922f14e" providerId="ADAL" clId="{51BD4E32-C78F-4F49-A52B-FFC8BBAF4C06}" dt="2026-05-29T15:29:09.571" v="6476" actId="1076"/>
          <ac:spMkLst>
            <pc:docMk/>
            <pc:sldMk cId="575985649" sldId="1542"/>
            <ac:spMk id="29" creationId="{D4341319-168D-401F-9EB7-AEFBB6422997}"/>
          </ac:spMkLst>
        </pc:spChg>
        <pc:picChg chg="add mod">
          <ac:chgData name="Tzuying Yu" userId="81e85e6a-5dfc-4f28-a6a6-436d9922f14e" providerId="ADAL" clId="{51BD4E32-C78F-4F49-A52B-FFC8BBAF4C06}" dt="2026-06-25T16:47:04.469" v="9726" actId="1076"/>
          <ac:picMkLst>
            <pc:docMk/>
            <pc:sldMk cId="575985649" sldId="1542"/>
            <ac:picMk id="6" creationId="{BB1549F9-7116-DE6F-7D3E-FC5918F94ED6}"/>
          </ac:picMkLst>
        </pc:picChg>
        <pc:picChg chg="del">
          <ac:chgData name="Tzuying Yu" userId="81e85e6a-5dfc-4f28-a6a6-436d9922f14e" providerId="ADAL" clId="{51BD4E32-C78F-4F49-A52B-FFC8BBAF4C06}" dt="2026-06-25T16:46:22.505" v="9707" actId="478"/>
          <ac:picMkLst>
            <pc:docMk/>
            <pc:sldMk cId="575985649" sldId="1542"/>
            <ac:picMk id="34" creationId="{597237A2-D606-802F-967E-1B728CC61F73}"/>
          </ac:picMkLst>
        </pc:picChg>
      </pc:sldChg>
      <pc:sldChg chg="modSp add mod">
        <pc:chgData name="Tzuying Yu" userId="81e85e6a-5dfc-4f28-a6a6-436d9922f14e" providerId="ADAL" clId="{51BD4E32-C78F-4F49-A52B-FFC8BBAF4C06}" dt="2026-06-25T16:56:15.792" v="9872" actId="27636"/>
        <pc:sldMkLst>
          <pc:docMk/>
          <pc:sldMk cId="1124045157" sldId="1546"/>
        </pc:sldMkLst>
        <pc:spChg chg="mod">
          <ac:chgData name="Tzuying Yu" userId="81e85e6a-5dfc-4f28-a6a6-436d9922f14e" providerId="ADAL" clId="{51BD4E32-C78F-4F49-A52B-FFC8BBAF4C06}" dt="2026-05-29T16:37:29.194" v="9111" actId="1076"/>
          <ac:spMkLst>
            <pc:docMk/>
            <pc:sldMk cId="1124045157" sldId="1546"/>
            <ac:spMk id="2" creationId="{81BB50A7-8097-B5C9-4E58-9ED8D14ADA20}"/>
          </ac:spMkLst>
        </pc:spChg>
        <pc:spChg chg="mod">
          <ac:chgData name="Tzuying Yu" userId="81e85e6a-5dfc-4f28-a6a6-436d9922f14e" providerId="ADAL" clId="{51BD4E32-C78F-4F49-A52B-FFC8BBAF4C06}" dt="2026-06-25T16:56:15.792" v="9872" actId="27636"/>
          <ac:spMkLst>
            <pc:docMk/>
            <pc:sldMk cId="1124045157" sldId="1546"/>
            <ac:spMk id="4" creationId="{32736EAF-69CA-1BE0-F864-B502A89E5D2C}"/>
          </ac:spMkLst>
        </pc:spChg>
      </pc:sldChg>
      <pc:sldChg chg="modSp add mod ord">
        <pc:chgData name="Tzuying Yu" userId="81e85e6a-5dfc-4f28-a6a6-436d9922f14e" providerId="ADAL" clId="{51BD4E32-C78F-4F49-A52B-FFC8BBAF4C06}" dt="2026-06-25T16:56:34.853" v="9896" actId="20577"/>
        <pc:sldMkLst>
          <pc:docMk/>
          <pc:sldMk cId="2620936002" sldId="1547"/>
        </pc:sldMkLst>
        <pc:spChg chg="mod">
          <ac:chgData name="Tzuying Yu" userId="81e85e6a-5dfc-4f28-a6a6-436d9922f14e" providerId="ADAL" clId="{51BD4E32-C78F-4F49-A52B-FFC8BBAF4C06}" dt="2026-06-25T16:56:34.853" v="9896" actId="20577"/>
          <ac:spMkLst>
            <pc:docMk/>
            <pc:sldMk cId="2620936002" sldId="1547"/>
            <ac:spMk id="4" creationId="{32736EAF-69CA-1BE0-F864-B502A89E5D2C}"/>
          </ac:spMkLst>
        </pc:spChg>
      </pc:sldChg>
      <pc:sldChg chg="modSp add mod">
        <pc:chgData name="Tzuying Yu" userId="81e85e6a-5dfc-4f28-a6a6-436d9922f14e" providerId="ADAL" clId="{51BD4E32-C78F-4F49-A52B-FFC8BBAF4C06}" dt="2026-06-25T16:56:43.966" v="9898" actId="20577"/>
        <pc:sldMkLst>
          <pc:docMk/>
          <pc:sldMk cId="3665187976" sldId="1548"/>
        </pc:sldMkLst>
        <pc:spChg chg="mod">
          <ac:chgData name="Tzuying Yu" userId="81e85e6a-5dfc-4f28-a6a6-436d9922f14e" providerId="ADAL" clId="{51BD4E32-C78F-4F49-A52B-FFC8BBAF4C06}" dt="2026-06-25T16:56:43.966" v="9898" actId="20577"/>
          <ac:spMkLst>
            <pc:docMk/>
            <pc:sldMk cId="3665187976" sldId="1548"/>
            <ac:spMk id="4" creationId="{32736EAF-69CA-1BE0-F864-B502A89E5D2C}"/>
          </ac:spMkLst>
        </pc:spChg>
      </pc:sldChg>
      <pc:sldChg chg="modSp add mod">
        <pc:chgData name="Tzuying Yu" userId="81e85e6a-5dfc-4f28-a6a6-436d9922f14e" providerId="ADAL" clId="{51BD4E32-C78F-4F49-A52B-FFC8BBAF4C06}" dt="2026-06-19T14:21:40.812" v="9681" actId="20577"/>
        <pc:sldMkLst>
          <pc:docMk/>
          <pc:sldMk cId="3818323118" sldId="1549"/>
        </pc:sldMkLst>
        <pc:spChg chg="mod">
          <ac:chgData name="Tzuying Yu" userId="81e85e6a-5dfc-4f28-a6a6-436d9922f14e" providerId="ADAL" clId="{51BD4E32-C78F-4F49-A52B-FFC8BBAF4C06}" dt="2026-06-19T14:21:40.812" v="9681" actId="20577"/>
          <ac:spMkLst>
            <pc:docMk/>
            <pc:sldMk cId="3818323118" sldId="1549"/>
            <ac:spMk id="4" creationId="{32736EAF-69CA-1BE0-F864-B502A89E5D2C}"/>
          </ac:spMkLst>
        </pc:spChg>
      </pc:sldChg>
      <pc:sldChg chg="addSp modSp add mod">
        <pc:chgData name="Tzuying Yu" userId="81e85e6a-5dfc-4f28-a6a6-436d9922f14e" providerId="ADAL" clId="{51BD4E32-C78F-4F49-A52B-FFC8BBAF4C06}" dt="2026-05-29T16:04:26.062" v="8546"/>
        <pc:sldMkLst>
          <pc:docMk/>
          <pc:sldMk cId="1247031794" sldId="1552"/>
        </pc:sldMkLst>
        <pc:spChg chg="mod">
          <ac:chgData name="Tzuying Yu" userId="81e85e6a-5dfc-4f28-a6a6-436d9922f14e" providerId="ADAL" clId="{51BD4E32-C78F-4F49-A52B-FFC8BBAF4C06}" dt="2026-05-29T15:52:38.833" v="7903" actId="20577"/>
          <ac:spMkLst>
            <pc:docMk/>
            <pc:sldMk cId="1247031794" sldId="1552"/>
            <ac:spMk id="2" creationId="{0CB26F7E-03C3-7C25-44BA-0B11D7B5F88A}"/>
          </ac:spMkLst>
        </pc:spChg>
        <pc:spChg chg="add mod">
          <ac:chgData name="Tzuying Yu" userId="81e85e6a-5dfc-4f28-a6a6-436d9922f14e" providerId="ADAL" clId="{51BD4E32-C78F-4F49-A52B-FFC8BBAF4C06}" dt="2026-05-29T15:58:28.177" v="8122" actId="14100"/>
          <ac:spMkLst>
            <pc:docMk/>
            <pc:sldMk cId="1247031794" sldId="1552"/>
            <ac:spMk id="3" creationId="{0C3AA45E-27DD-E500-1DD7-FC8AFDDFC155}"/>
          </ac:spMkLst>
        </pc:spChg>
        <pc:spChg chg="add mod">
          <ac:chgData name="Tzuying Yu" userId="81e85e6a-5dfc-4f28-a6a6-436d9922f14e" providerId="ADAL" clId="{51BD4E32-C78F-4F49-A52B-FFC8BBAF4C06}" dt="2026-05-29T16:04:26.062" v="8546"/>
          <ac:spMkLst>
            <pc:docMk/>
            <pc:sldMk cId="1247031794" sldId="1552"/>
            <ac:spMk id="4" creationId="{7ADFC444-6C32-4F6C-9B82-0F615071BCDC}"/>
          </ac:spMkLst>
        </pc:spChg>
        <pc:graphicFrameChg chg="mod">
          <ac:chgData name="Tzuying Yu" userId="81e85e6a-5dfc-4f28-a6a6-436d9922f14e" providerId="ADAL" clId="{51BD4E32-C78F-4F49-A52B-FFC8BBAF4C06}" dt="2026-05-29T15:58:42.979" v="8127" actId="14100"/>
          <ac:graphicFrameMkLst>
            <pc:docMk/>
            <pc:sldMk cId="1247031794" sldId="1552"/>
            <ac:graphicFrameMk id="201" creationId="{00000000-0000-0000-0000-000000000000}"/>
          </ac:graphicFrameMkLst>
        </pc:graphicFrameChg>
      </pc:sldChg>
      <pc:sldChg chg="modSp add mod">
        <pc:chgData name="Tzuying Yu" userId="81e85e6a-5dfc-4f28-a6a6-436d9922f14e" providerId="ADAL" clId="{51BD4E32-C78F-4F49-A52B-FFC8BBAF4C06}" dt="2026-05-29T20:34:22.925" v="9186" actId="1076"/>
        <pc:sldMkLst>
          <pc:docMk/>
          <pc:sldMk cId="1592645027" sldId="1553"/>
        </pc:sldMkLst>
        <pc:spChg chg="mod">
          <ac:chgData name="Tzuying Yu" userId="81e85e6a-5dfc-4f28-a6a6-436d9922f14e" providerId="ADAL" clId="{51BD4E32-C78F-4F49-A52B-FFC8BBAF4C06}" dt="2026-05-29T16:20:00.930" v="8718" actId="20577"/>
          <ac:spMkLst>
            <pc:docMk/>
            <pc:sldMk cId="1592645027" sldId="1553"/>
            <ac:spMk id="2" creationId="{90979F20-7FE0-9464-CC8C-AAB74EE175D5}"/>
          </ac:spMkLst>
        </pc:spChg>
        <pc:spChg chg="mod">
          <ac:chgData name="Tzuying Yu" userId="81e85e6a-5dfc-4f28-a6a6-436d9922f14e" providerId="ADAL" clId="{51BD4E32-C78F-4F49-A52B-FFC8BBAF4C06}" dt="2026-05-29T20:34:22.925" v="9186" actId="1076"/>
          <ac:spMkLst>
            <pc:docMk/>
            <pc:sldMk cId="1592645027" sldId="1553"/>
            <ac:spMk id="4" creationId="{A8072345-EDED-4266-CFF8-650FF0BB1E47}"/>
          </ac:spMkLst>
        </pc:spChg>
      </pc:sldChg>
      <pc:sldChg chg="addSp modSp add mod">
        <pc:chgData name="Tzuying Yu" userId="81e85e6a-5dfc-4f28-a6a6-436d9922f14e" providerId="ADAL" clId="{51BD4E32-C78F-4F49-A52B-FFC8BBAF4C06}" dt="2026-05-29T16:29:18.675" v="8881" actId="1076"/>
        <pc:sldMkLst>
          <pc:docMk/>
          <pc:sldMk cId="2132875622" sldId="1555"/>
        </pc:sldMkLst>
        <pc:spChg chg="mod">
          <ac:chgData name="Tzuying Yu" userId="81e85e6a-5dfc-4f28-a6a6-436d9922f14e" providerId="ADAL" clId="{51BD4E32-C78F-4F49-A52B-FFC8BBAF4C06}" dt="2026-05-29T16:29:18.675" v="8881" actId="1076"/>
          <ac:spMkLst>
            <pc:docMk/>
            <pc:sldMk cId="2132875622" sldId="1555"/>
            <ac:spMk id="2" creationId="{6DB4FF4E-EE4C-B4A2-9D54-5C43E6B3844E}"/>
          </ac:spMkLst>
        </pc:spChg>
        <pc:spChg chg="mod">
          <ac:chgData name="Tzuying Yu" userId="81e85e6a-5dfc-4f28-a6a6-436d9922f14e" providerId="ADAL" clId="{51BD4E32-C78F-4F49-A52B-FFC8BBAF4C06}" dt="2026-05-29T16:28:02.238" v="8868" actId="14100"/>
          <ac:spMkLst>
            <pc:docMk/>
            <pc:sldMk cId="2132875622" sldId="1555"/>
            <ac:spMk id="3" creationId="{B3EB48FE-81C3-ABCE-B84F-B551AB1B2699}"/>
          </ac:spMkLst>
        </pc:spChg>
        <pc:spChg chg="add mod">
          <ac:chgData name="Tzuying Yu" userId="81e85e6a-5dfc-4f28-a6a6-436d9922f14e" providerId="ADAL" clId="{51BD4E32-C78F-4F49-A52B-FFC8BBAF4C06}" dt="2026-05-29T16:28:58.847" v="8879" actId="1076"/>
          <ac:spMkLst>
            <pc:docMk/>
            <pc:sldMk cId="2132875622" sldId="1555"/>
            <ac:spMk id="4" creationId="{5F8E7B35-C558-C460-7C80-1C8A6AC6A6A4}"/>
          </ac:spMkLst>
        </pc:spChg>
        <pc:cxnChg chg="add mod">
          <ac:chgData name="Tzuying Yu" userId="81e85e6a-5dfc-4f28-a6a6-436d9922f14e" providerId="ADAL" clId="{51BD4E32-C78F-4F49-A52B-FFC8BBAF4C06}" dt="2026-05-29T16:28:53.960" v="8878" actId="1076"/>
          <ac:cxnSpMkLst>
            <pc:docMk/>
            <pc:sldMk cId="2132875622" sldId="1555"/>
            <ac:cxnSpMk id="6" creationId="{453E19E5-ECF9-9CAC-1F16-692D0AE7FCFF}"/>
          </ac:cxnSpMkLst>
        </pc:cxnChg>
      </pc:sldChg>
      <pc:sldChg chg="modSp add mod">
        <pc:chgData name="Tzuying Yu" userId="81e85e6a-5dfc-4f28-a6a6-436d9922f14e" providerId="ADAL" clId="{51BD4E32-C78F-4F49-A52B-FFC8BBAF4C06}" dt="2026-05-29T20:33:12.636" v="9114" actId="20577"/>
        <pc:sldMkLst>
          <pc:docMk/>
          <pc:sldMk cId="2872422573" sldId="1556"/>
        </pc:sldMkLst>
        <pc:spChg chg="mod">
          <ac:chgData name="Tzuying Yu" userId="81e85e6a-5dfc-4f28-a6a6-436d9922f14e" providerId="ADAL" clId="{51BD4E32-C78F-4F49-A52B-FFC8BBAF4C06}" dt="2026-05-29T20:33:12.636" v="9114" actId="20577"/>
          <ac:spMkLst>
            <pc:docMk/>
            <pc:sldMk cId="2872422573" sldId="1556"/>
            <ac:spMk id="2" creationId="{93B255C6-1E2E-E4BD-2E9F-B3321C22A292}"/>
          </ac:spMkLst>
        </pc:spChg>
        <pc:spChg chg="mod">
          <ac:chgData name="Tzuying Yu" userId="81e85e6a-5dfc-4f28-a6a6-436d9922f14e" providerId="ADAL" clId="{51BD4E32-C78F-4F49-A52B-FFC8BBAF4C06}" dt="2026-05-29T16:26:26.506" v="8845" actId="1076"/>
          <ac:spMkLst>
            <pc:docMk/>
            <pc:sldMk cId="2872422573" sldId="1556"/>
            <ac:spMk id="3" creationId="{B7D1CD65-C259-4B8E-A8F9-90808E3C6E20}"/>
          </ac:spMkLst>
        </pc:spChg>
        <pc:spChg chg="mod">
          <ac:chgData name="Tzuying Yu" userId="81e85e6a-5dfc-4f28-a6a6-436d9922f14e" providerId="ADAL" clId="{51BD4E32-C78F-4F49-A52B-FFC8BBAF4C06}" dt="2026-05-29T16:29:28.279" v="8882" actId="20577"/>
          <ac:spMkLst>
            <pc:docMk/>
            <pc:sldMk cId="2872422573" sldId="1556"/>
            <ac:spMk id="4" creationId="{0FB40BE7-0E07-484E-8F4C-68782F81A656}"/>
          </ac:spMkLst>
        </pc:spChg>
      </pc:sldChg>
    </pc:docChg>
  </pc:docChgLst>
</pc:chgInfo>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rot="0" spcFirstLastPara="1" vertOverflow="ellipsis" wrap="square" anchor="ctr" anchorCtr="1"/>
          <a:lstStyle/>
          <a:p>
            <a:pPr>
              <a:defRPr sz="1600" b="1"/>
            </a:pPr>
            <a:r>
              <a:rPr lang="en-US" sz="1600" b="1"/>
              <a:t>Count of Products by Top-Performer Overlap</a:t>
            </a:r>
          </a:p>
        </c:rich>
      </c:tx>
      <c:overlay val="0"/>
    </c:title>
    <c:autoTitleDeleted val="0"/>
    <c:plotArea>
      <c:layout/>
      <c:barChart>
        <c:barDir val="bar"/>
        <c:grouping val="clustered"/>
        <c:varyColors val="0"/>
        <c:ser>
          <c:idx val="0"/>
          <c:order val="0"/>
          <c:tx>
            <c:v>Count</c:v>
          </c:tx>
          <c:invertIfNegative val="1"/>
          <c:dLbls>
            <c:spPr>
              <a:noFill/>
              <a:ln>
                <a:noFill/>
              </a:ln>
              <a:effectLst/>
            </c:spPr>
            <c:txPr>
              <a:bodyPr/>
              <a:lstStyle/>
              <a:p>
                <a:pPr>
                  <a:defRPr sz="1400"/>
                </a:pPr>
                <a:endParaRPr lang="en-US"/>
              </a:p>
            </c:txPr>
            <c:showLegendKey val="0"/>
            <c:showVal val="1"/>
            <c:showCatName val="0"/>
            <c:showSerName val="0"/>
            <c:showPercent val="0"/>
            <c:showBubbleSize val="1"/>
            <c:showLeaderLines val="0"/>
            <c:extLst>
              <c:ext xmlns:c15="http://schemas.microsoft.com/office/drawing/2012/chart" uri="{CE6537A1-D6FC-4f65-9D91-7224C49458BB}">
                <c15:showLeaderLines val="0"/>
              </c:ext>
            </c:extLst>
          </c:dLbls>
          <c:cat>
            <c:strLit>
              <c:ptCount val="6"/>
              <c:pt idx="0">
                <c:v>Top Revenue &amp; Top Margin only</c:v>
              </c:pt>
              <c:pt idx="1">
                <c:v>Top Revenue &amp; Top Quantity only</c:v>
              </c:pt>
              <c:pt idx="2">
                <c:v>Top Revenue only</c:v>
              </c:pt>
              <c:pt idx="3">
                <c:v>Top Quantity only</c:v>
              </c:pt>
              <c:pt idx="4">
                <c:v>Top Margin only</c:v>
              </c:pt>
              <c:pt idx="5">
                <c:v>Top Revenue &amp; Top Margin &amp; Top Quantity</c:v>
              </c:pt>
            </c:strLit>
          </c:cat>
          <c:val>
            <c:numLit>
              <c:formatCode>General</c:formatCode>
              <c:ptCount val="6"/>
              <c:pt idx="0">
                <c:v>39</c:v>
              </c:pt>
              <c:pt idx="1">
                <c:v>32</c:v>
              </c:pt>
              <c:pt idx="2">
                <c:v>30</c:v>
              </c:pt>
              <c:pt idx="3">
                <c:v>29</c:v>
              </c:pt>
              <c:pt idx="4">
                <c:v>10</c:v>
              </c:pt>
              <c:pt idx="5">
                <c:v>7</c:v>
              </c:pt>
            </c:numLit>
          </c:val>
          <c:extLst>
            <c:ext xmlns:c16="http://schemas.microsoft.com/office/drawing/2014/chart" uri="{C3380CC4-5D6E-409C-BE32-E72D297353CC}">
              <c16:uniqueId val="{00000000-ACDB-4D29-B450-D6933D4066B8}"/>
            </c:ext>
          </c:extLst>
        </c:ser>
        <c:dLbls>
          <c:showLegendKey val="0"/>
          <c:showVal val="0"/>
          <c:showCatName val="0"/>
          <c:showSerName val="0"/>
          <c:showPercent val="0"/>
          <c:showBubbleSize val="0"/>
        </c:dLbls>
        <c:gapWidth val="150"/>
        <c:axId val="1"/>
        <c:axId val="2"/>
      </c:barChart>
      <c:catAx>
        <c:axId val="1"/>
        <c:scaling>
          <c:orientation val="maxMin"/>
        </c:scaling>
        <c:delete val="0"/>
        <c:axPos val="l"/>
        <c:numFmt formatCode="General" sourceLinked="0"/>
        <c:majorTickMark val="none"/>
        <c:minorTickMark val="none"/>
        <c:tickLblPos val="nextTo"/>
        <c:txPr>
          <a:bodyPr/>
          <a:lstStyle/>
          <a:p>
            <a:pPr>
              <a:defRPr sz="1400"/>
            </a:pPr>
            <a:endParaRPr lang="en-US"/>
          </a:p>
        </c:txPr>
        <c:crossAx val="2"/>
        <c:crosses val="autoZero"/>
        <c:auto val="1"/>
        <c:lblAlgn val="ctr"/>
        <c:lblOffset val="100"/>
        <c:noMultiLvlLbl val="1"/>
      </c:catAx>
      <c:valAx>
        <c:axId val="2"/>
        <c:scaling>
          <c:orientation val="minMax"/>
        </c:scaling>
        <c:delete val="0"/>
        <c:axPos val="t"/>
        <c:numFmt formatCode="General" sourceLinked="1"/>
        <c:majorTickMark val="out"/>
        <c:minorTickMark val="none"/>
        <c:tickLblPos val="nextTo"/>
        <c:txPr>
          <a:bodyPr/>
          <a:lstStyle/>
          <a:p>
            <a:pPr>
              <a:defRPr sz="1400"/>
            </a:pPr>
            <a:endParaRPr lang="en-US"/>
          </a:p>
        </c:txPr>
        <c:crossAx val="1"/>
        <c:crosses val="autoZero"/>
        <c:crossBetween val="between"/>
      </c:valAx>
    </c:plotArea>
    <c:plotVisOnly val="1"/>
    <c:dispBlanksAs val="zero"/>
    <c:showDLblsOverMax val="1"/>
  </c:chart>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198972-73C8-9327-0850-18A642513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955A2EB-01C3-20E0-FF45-07CCC86724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5D1EC30-5B0B-48D0-A1A8-66A96720DF24}" type="datetimeFigureOut">
              <a:rPr lang="en-US" smtClean="0"/>
              <a:t>6/25/2026</a:t>
            </a:fld>
            <a:endParaRPr lang="en-US" dirty="0"/>
          </a:p>
        </p:txBody>
      </p:sp>
      <p:sp>
        <p:nvSpPr>
          <p:cNvPr id="4" name="Footer Placeholder 3">
            <a:extLst>
              <a:ext uri="{FF2B5EF4-FFF2-40B4-BE49-F238E27FC236}">
                <a16:creationId xmlns:a16="http://schemas.microsoft.com/office/drawing/2014/main" id="{91C50A84-CDF8-9D1C-7599-D1B543581C0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1BAAFBD2-1F7B-DB18-5994-6D22C6743F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8FBFCE-2205-4B9C-81E5-532E0690D8C1}" type="slidenum">
              <a:rPr lang="en-US" smtClean="0"/>
              <a:t>‹#›</a:t>
            </a:fld>
            <a:endParaRPr lang="en-US" dirty="0"/>
          </a:p>
        </p:txBody>
      </p:sp>
    </p:spTree>
    <p:extLst>
      <p:ext uri="{BB962C8B-B14F-4D97-AF65-F5344CB8AC3E}">
        <p14:creationId xmlns:p14="http://schemas.microsoft.com/office/powerpoint/2010/main" val="11787311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F68A4D-42A7-45F7-9930-00E8DCB48D7E}" type="datetimeFigureOut">
              <a:rPr lang="en-US" smtClean="0"/>
              <a:t>6/25/2026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DD6F49-EBB7-4CCF-97A8-E526BB28BB69}" type="slidenum">
              <a:rPr lang="en-US" smtClean="0"/>
              <a:t>‹#›</a:t>
            </a:fld>
            <a:endParaRPr lang="en-US" dirty="0"/>
          </a:p>
        </p:txBody>
      </p:sp>
    </p:spTree>
    <p:extLst>
      <p:ext uri="{BB962C8B-B14F-4D97-AF65-F5344CB8AC3E}">
        <p14:creationId xmlns:p14="http://schemas.microsoft.com/office/powerpoint/2010/main" val="2787193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DD6F49-EBB7-4CCF-97A8-E526BB28BB69}" type="slidenum">
              <a:rPr lang="en-US" smtClean="0"/>
              <a:t>5</a:t>
            </a:fld>
            <a:endParaRPr lang="en-US" dirty="0"/>
          </a:p>
        </p:txBody>
      </p:sp>
    </p:spTree>
    <p:extLst>
      <p:ext uri="{BB962C8B-B14F-4D97-AF65-F5344CB8AC3E}">
        <p14:creationId xmlns:p14="http://schemas.microsoft.com/office/powerpoint/2010/main" val="3773266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21208" y="548642"/>
            <a:ext cx="7478991" cy="3635797"/>
          </a:xfrm>
        </p:spPr>
        <p:txBody>
          <a:bodyPr anchor="t">
            <a:normAutofit/>
          </a:bodyPr>
          <a:lstStyle>
            <a:lvl1pPr algn="l">
              <a:defRPr sz="7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21208" y="4473553"/>
            <a:ext cx="6655522" cy="1545336"/>
          </a:xfrm>
        </p:spPr>
        <p:txBody>
          <a:bodyPr anchor="b">
            <a:normAutofit/>
          </a:bodyPr>
          <a:lstStyle>
            <a:lvl1pPr marL="0" indent="0" algn="l">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8027B902-09B5-4324-8310-59625360F035}" type="datetime1">
              <a:rPr lang="en-US" smtClean="0"/>
              <a:t>6/25/2026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31129645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8008" y="854239"/>
            <a:ext cx="7876287" cy="3592629"/>
          </a:xfrm>
        </p:spPr>
        <p:txBody>
          <a:bodyPr anchor="b">
            <a:normAutofit/>
          </a:bodyPr>
          <a:lstStyle>
            <a:lvl1pPr algn="l">
              <a:defRPr sz="72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58368" y="4617138"/>
            <a:ext cx="7375466" cy="1014984"/>
          </a:xfrm>
        </p:spPr>
        <p:txBody>
          <a:bodyPr anchor="t">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9CB91A11-88E2-4BD0-90A5-503C684B9CC0}" type="datetime1">
              <a:rPr lang="en-US" smtClean="0"/>
              <a:t>6/25/2026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57795432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981200" y="1318302"/>
            <a:ext cx="8229600" cy="2621154"/>
          </a:xfrm>
        </p:spPr>
        <p:txBody>
          <a:bodyPr anchor="b">
            <a:normAutofit/>
          </a:bodyPr>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4039647"/>
            <a:ext cx="7588155" cy="1414091"/>
          </a:xfrm>
        </p:spPr>
        <p:txBody>
          <a:bodyPr>
            <a:normAutofit/>
          </a:bodyPr>
          <a:lstStyle>
            <a:lvl1pPr marL="0" indent="0" algn="ctr">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E6B19A73-9EF0-435E-951F-A4ACE59FBD85}" type="datetime1">
              <a:rPr lang="en-US" smtClean="0"/>
              <a:t>6/25/2026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37049592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Photo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65760" y="5218032"/>
            <a:ext cx="11460480" cy="786384"/>
          </a:xfrm>
        </p:spPr>
        <p:txBody>
          <a:bodyPr anchor="b">
            <a:normAutofit/>
          </a:bodyPr>
          <a:lstStyle>
            <a:lvl1pPr algn="l">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65760" y="5972629"/>
            <a:ext cx="11460480" cy="480373"/>
          </a:xfrm>
        </p:spPr>
        <p:txBody>
          <a:bodyPr anchor="t">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0" y="0"/>
            <a:ext cx="12191999" cy="4986425"/>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p:txBody>
          <a:bodyPr/>
          <a:lstStyle/>
          <a:p>
            <a:fld id="{C72BE8CE-6011-4887-8688-8D57691F11AD}" type="datetime1">
              <a:rPr lang="en-US" smtClean="0"/>
              <a:t>6/25/2026</a:t>
            </a:fld>
            <a:endParaRPr lang="en-US" dirty="0"/>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p:txBody>
          <a:bodyPr/>
          <a:lstStyle/>
          <a:p>
            <a:r>
              <a:rPr lang="en-US" dirty="0"/>
              <a:t>Sample Footer Text</a:t>
            </a:r>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0176852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Photo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168896" y="1129554"/>
            <a:ext cx="4361688" cy="3475236"/>
          </a:xfrm>
        </p:spPr>
        <p:txBody>
          <a:bodyPr anchor="b">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168897" y="4731335"/>
            <a:ext cx="4206240" cy="1184585"/>
          </a:xfrm>
        </p:spPr>
        <p:txBody>
          <a:bodyPr anchor="t">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0" y="0"/>
            <a:ext cx="6584950" cy="685800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168895" y="6453002"/>
            <a:ext cx="1707625" cy="365125"/>
          </a:xfrm>
        </p:spPr>
        <p:txBody>
          <a:bodyPr/>
          <a:lstStyle>
            <a:lvl1pPr>
              <a:defRPr>
                <a:solidFill>
                  <a:schemeClr val="tx1"/>
                </a:solidFill>
                <a:effectLst/>
              </a:defRPr>
            </a:lvl1pPr>
          </a:lstStyle>
          <a:p>
            <a:fld id="{886426EA-0386-4881-8D6D-3F08C95C4A7F}" type="datetime1">
              <a:rPr lang="en-US" smtClean="0"/>
              <a:t>6/25/2026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28875110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Photo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65760" y="411480"/>
            <a:ext cx="4654296" cy="3739896"/>
          </a:xfrm>
        </p:spPr>
        <p:txBody>
          <a:bodyPr anchor="t">
            <a:normAutofit/>
          </a:bodyPr>
          <a:lstStyle>
            <a:lvl1pPr algn="l">
              <a:defRPr sz="52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65760" y="4873752"/>
            <a:ext cx="4206240" cy="1380744"/>
          </a:xfrm>
        </p:spPr>
        <p:txBody>
          <a:bodyPr anchor="b">
            <a:normAutofit/>
          </a:bodyPr>
          <a:lstStyle>
            <a:lvl1pPr marL="0" indent="0" algn="l">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5596128" y="0"/>
            <a:ext cx="6595872" cy="685800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137160" y="6453002"/>
            <a:ext cx="1951777" cy="365125"/>
          </a:xfrm>
        </p:spPr>
        <p:txBody>
          <a:bodyPr/>
          <a:lstStyle/>
          <a:p>
            <a:fld id="{1FE1A989-42EF-40B2-87AB-6941C231CD4A}" type="datetime1">
              <a:rPr lang="en-US" smtClean="0"/>
              <a:t>6/25/2026</a:t>
            </a:fld>
            <a:endParaRPr lang="en-US" dirty="0"/>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2088937" y="6453002"/>
            <a:ext cx="2805405" cy="365125"/>
          </a:xfrm>
        </p:spPr>
        <p:txBody>
          <a:bodyPr/>
          <a:lstStyle/>
          <a:p>
            <a:r>
              <a:rPr lang="en-US" dirty="0"/>
              <a:t>Sample Footer Text</a:t>
            </a:r>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4844578" y="6453002"/>
            <a:ext cx="429207"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51206727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Header">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74320" y="1801368"/>
            <a:ext cx="7772400" cy="4572000"/>
          </a:xfrm>
        </p:spPr>
        <p:txBody>
          <a:bodyPr anchor="b">
            <a:normAutofit/>
          </a:bodyPr>
          <a:lstStyle>
            <a:lvl1pPr algn="l">
              <a:defRPr sz="7400"/>
            </a:lvl1pPr>
          </a:lstStyle>
          <a:p>
            <a:r>
              <a:rPr lang="en-US"/>
              <a:t>Click to edit Master 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EEE2A7A0-B9EE-41A8-8016-28E5803F20B2}" type="datetime1">
              <a:rPr lang="en-US" smtClean="0"/>
              <a:t>6/25/2026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52880959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Header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74320" y="1801368"/>
            <a:ext cx="7772400" cy="4572000"/>
          </a:xfrm>
        </p:spPr>
        <p:txBody>
          <a:bodyPr anchor="b">
            <a:normAutofit/>
          </a:bodyPr>
          <a:lstStyle>
            <a:lvl1pPr algn="l">
              <a:defRPr sz="74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65176" y="484632"/>
            <a:ext cx="7772400" cy="594360"/>
          </a:xfrm>
        </p:spPr>
        <p:txBody>
          <a:bodyPr anchor="t">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EEE2A7A0-B9EE-41A8-8016-28E5803F20B2}" type="datetime1">
              <a:rPr lang="en-US" smtClean="0"/>
              <a:t>6/25/2026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95227937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12647" y="664108"/>
            <a:ext cx="8467558" cy="1554480"/>
          </a:xfrm>
        </p:spPr>
        <p:txBody>
          <a:bodyPr anchor="b">
            <a:normAutofit/>
          </a:bodyPr>
          <a:lstStyle>
            <a:lvl1pPr>
              <a:defRPr sz="4400"/>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647" y="2333860"/>
            <a:ext cx="8467558" cy="3689909"/>
          </a:xfrm>
        </p:spPr>
        <p:txBody>
          <a:bodyPr>
            <a:normAutofit/>
          </a:bodyPr>
          <a:lstStyle>
            <a:lvl1pPr marL="457200" indent="-457200">
              <a:buFont typeface="+mj-lt"/>
              <a:buAutoNum type="arabicPeriod"/>
              <a:defRPr sz="2400"/>
            </a:lvl1pPr>
            <a:lvl2pPr marL="685800" indent="-457200">
              <a:buFont typeface="+mj-lt"/>
              <a:buAutoNum type="arabicPeriod"/>
              <a:defRPr sz="2000"/>
            </a:lvl2pPr>
            <a:lvl3pPr marL="800100" indent="-342900">
              <a:buFont typeface="+mj-lt"/>
              <a:buAutoNum type="arabicPeriod"/>
              <a:defRPr sz="1800"/>
            </a:lvl3pPr>
            <a:lvl4pPr marL="1028700" indent="-342900">
              <a:buFont typeface="+mj-lt"/>
              <a:buAutoNum type="arabicPeriod"/>
              <a:defRPr sz="1600"/>
            </a:lvl4pPr>
            <a:lvl5pPr marL="12573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8A60B404-9532-4DA8-8A40-EC339A5BE635}" type="datetime1">
              <a:rPr lang="en-US" smtClean="0"/>
              <a:t>6/25/2026</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4672081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Phot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858000" y="1161288"/>
            <a:ext cx="4663440" cy="1554480"/>
          </a:xfrm>
        </p:spPr>
        <p:txBody>
          <a:bodyPr anchor="b">
            <a:normAutofit/>
          </a:bodyPr>
          <a:lstStyle>
            <a:lvl1pPr>
              <a:defRPr sz="4000"/>
            </a:lvl1pPr>
          </a:lstStyle>
          <a:p>
            <a:r>
              <a:rPr lang="en-US"/>
              <a:t>Click to edit Master title style</a:t>
            </a:r>
            <a:endParaRPr lang="en-US" dirty="0"/>
          </a:p>
        </p:txBody>
      </p:sp>
      <p:sp>
        <p:nvSpPr>
          <p:cNvPr id="8" name="Picture Placeholder 7">
            <a:extLst>
              <a:ext uri="{FF2B5EF4-FFF2-40B4-BE49-F238E27FC236}">
                <a16:creationId xmlns:a16="http://schemas.microsoft.com/office/drawing/2014/main" id="{9AC20259-235D-F9C3-3788-C1457976F5AC}"/>
              </a:ext>
            </a:extLst>
          </p:cNvPr>
          <p:cNvSpPr>
            <a:spLocks noGrp="1"/>
          </p:cNvSpPr>
          <p:nvPr>
            <p:ph type="pic" sz="quarter" idx="14"/>
          </p:nvPr>
        </p:nvSpPr>
        <p:spPr>
          <a:xfrm>
            <a:off x="0" y="0"/>
            <a:ext cx="6099048" cy="685800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858000" y="2825496"/>
            <a:ext cx="4663440" cy="3337560"/>
          </a:xfrm>
        </p:spPr>
        <p:txBody>
          <a:bodyPr>
            <a:normAutofit/>
          </a:bodyPr>
          <a:lstStyle>
            <a:lvl1pPr marL="457200" indent="-457200">
              <a:buFont typeface="+mj-lt"/>
              <a:buAutoNum type="arabicPeriod"/>
              <a:defRPr sz="2000"/>
            </a:lvl1pPr>
            <a:lvl2pPr marL="571500" indent="-342900">
              <a:buFont typeface="+mj-lt"/>
              <a:buAutoNum type="arabicPeriod"/>
              <a:defRPr sz="1800"/>
            </a:lvl2pPr>
            <a:lvl3pPr marL="800100" indent="-342900">
              <a:buFont typeface="+mj-lt"/>
              <a:buAutoNum type="arabicPeriod"/>
              <a:defRPr sz="1600"/>
            </a:lvl3pPr>
            <a:lvl4pPr marL="1028700" indent="-342900">
              <a:buFont typeface="+mj-lt"/>
              <a:buAutoNum type="arabicPeriod"/>
              <a:defRPr sz="1400"/>
            </a:lvl4pPr>
            <a:lvl5pPr>
              <a:buFont typeface="+mj-lt"/>
              <a:buAutoNum type="arabicPeriod"/>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6857999" y="6453002"/>
            <a:ext cx="1996689" cy="365125"/>
          </a:xfrm>
        </p:spPr>
        <p:txBody>
          <a:bodyPr/>
          <a:lstStyle/>
          <a:p>
            <a:fld id="{8A60B404-9532-4DA8-8A40-EC339A5BE635}" type="datetime1">
              <a:rPr lang="en-US" smtClean="0"/>
              <a:t>6/25/2026</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2275268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Content 1 (Max)">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37159" y="151598"/>
            <a:ext cx="11924209" cy="528186"/>
          </a:xfrm>
        </p:spPr>
        <p:txBody>
          <a:bodyPr anchor="ctr">
            <a:normAutofit/>
          </a:bodyPr>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37159" y="776036"/>
            <a:ext cx="11924209" cy="56769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EEE6A364-A39C-470E-B89A-9BD899585684}" type="datetime1">
              <a:rPr lang="en-US" smtClean="0"/>
              <a:t>6/25/2026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1051269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Content Only (Max)">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1248" y="-1325880"/>
            <a:ext cx="10515600" cy="1325880"/>
          </a:xfrm>
        </p:spPr>
        <p:txBody>
          <a:bodyPr anchor="ctr">
            <a:normAutofit/>
          </a:bodyPr>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37159" y="367091"/>
            <a:ext cx="11924209" cy="612381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11C69CE-4771-4BFA-AD70-0E51ABA58D6D}" type="datetime1">
              <a:rPr lang="en-US" smtClean="0"/>
              <a:t>6/25/2026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8886518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990E4242-8CA0-457D-B3B1-7D78B4164321}" type="datetime1">
              <a:rPr lang="en-US" smtClean="0"/>
              <a:t>6/25/2026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13120301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28347" y="2385975"/>
            <a:ext cx="4325112" cy="2454796"/>
          </a:xfrm>
        </p:spPr>
        <p:txBody>
          <a:bodyPr>
            <a:normAutofit/>
          </a:bodyPr>
          <a:lstStyle>
            <a:lvl1pPr>
              <a:defRPr sz="4400"/>
            </a:lvl1pPr>
          </a:lstStyle>
          <a:p>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2386584"/>
            <a:ext cx="4325112" cy="2459736"/>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53D6F41-6645-4089-A6BB-7B692A44A4CC}" type="datetime1">
              <a:rPr lang="en-US" smtClean="0"/>
              <a:t>6/25/2026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30874180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28347" y="2258568"/>
            <a:ext cx="3813048" cy="3557016"/>
          </a:xfrm>
        </p:spPr>
        <p:txBody>
          <a:bodyPr>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2254250"/>
            <a:ext cx="4956175" cy="355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258B73AF-3955-4569-8B4F-B329360A9CBD}" type="datetime1">
              <a:rPr lang="en-US" smtClean="0"/>
              <a:t>6/25/2026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8075640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8" y="1537853"/>
            <a:ext cx="4145582" cy="4638825"/>
          </a:xfrm>
        </p:spPr>
        <p:txBody>
          <a:bodyPr>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519738" y="1538288"/>
            <a:ext cx="5681662" cy="4818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695276D-BBED-48BC-B459-1E9A16CF46CD}" type="datetime1">
              <a:rPr lang="en-US" smtClean="0"/>
              <a:t>6/25/2026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35458674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7" y="877456"/>
            <a:ext cx="4142232" cy="4940661"/>
          </a:xfrm>
        </p:spPr>
        <p:txBody>
          <a:bodyPr>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522913" y="877456"/>
            <a:ext cx="6159500" cy="53908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D138C57-8E3B-4697-92F8-0ED9B71F7E17}" type="datetime1">
              <a:rPr lang="en-US" smtClean="0"/>
              <a:t>6/25/2026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33471166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72533" y="548639"/>
            <a:ext cx="3494314" cy="5719639"/>
          </a:xfrm>
        </p:spPr>
        <p:txBody>
          <a:bodyPr>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504268" y="549274"/>
            <a:ext cx="7315200" cy="58064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0ADC593-EA98-4C39-A75F-3F3A9C691019}" type="datetime1">
              <a:rPr lang="en-US" smtClean="0"/>
              <a:t>6/25/2026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4466122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538937" y="548640"/>
            <a:ext cx="6093225" cy="1143000"/>
          </a:xfr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1"/>
            <a:ext cx="4793885" cy="685800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538937" y="1828800"/>
            <a:ext cx="6071616" cy="44897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5538937" y="6453002"/>
            <a:ext cx="3337584" cy="365125"/>
          </a:xfrm>
        </p:spPr>
        <p:txBody>
          <a:bodyPr/>
          <a:lstStyle/>
          <a:p>
            <a:fld id="{8FACD271-2BB0-4C13-9E3A-50B90F57CA5B}" type="datetime1">
              <a:rPr lang="en-US" smtClean="0"/>
              <a:t>6/25/2026</a:t>
            </a:fld>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p:txBody>
          <a:bodyPr/>
          <a:lstStyle/>
          <a:p>
            <a:r>
              <a:rPr lang="en-US" dirty="0"/>
              <a:t>Sample Footer Text</a:t>
            </a:r>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4174929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6135624" cy="1143000"/>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774" y="1828800"/>
            <a:ext cx="6135624" cy="44897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7400544" y="0"/>
            <a:ext cx="4791456" cy="685800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p:txBody>
          <a:bodyPr/>
          <a:lstStyle/>
          <a:p>
            <a:fld id="{9C4109C0-CC82-467C-B6E8-62D4D3634E2A}" type="datetime1">
              <a:rPr lang="en-US" smtClean="0"/>
              <a:t>6/25/2026</a:t>
            </a:fld>
            <a:endParaRPr lang="en-US" dirty="0"/>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3950591" y="6453002"/>
            <a:ext cx="2805405" cy="365125"/>
          </a:xfrm>
        </p:spPr>
        <p:txBody>
          <a:bodyPr/>
          <a:lstStyle/>
          <a:p>
            <a:r>
              <a:rPr lang="en-US" dirty="0"/>
              <a:t>Sample Footer Text</a:t>
            </a:r>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706232" y="6453002"/>
            <a:ext cx="429207"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72140470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Photo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45736" y="320040"/>
            <a:ext cx="6858000" cy="932688"/>
          </a:xfr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1"/>
            <a:ext cx="4023360" cy="685800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745736" y="1380744"/>
            <a:ext cx="6858000"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4745736" y="6453002"/>
            <a:ext cx="3494314" cy="365125"/>
          </a:xfrm>
        </p:spPr>
        <p:txBody>
          <a:bodyPr/>
          <a:lstStyle/>
          <a:p>
            <a:fld id="{1A5F77D0-C28E-4573-88F0-0A30FF98888E}" type="datetime1">
              <a:rPr lang="en-US" smtClean="0"/>
              <a:t>6/25/2026</a:t>
            </a:fld>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p:txBody>
          <a:bodyPr/>
          <a:lstStyle/>
          <a:p>
            <a:r>
              <a:rPr lang="en-US" dirty="0"/>
              <a:t>Sample Footer Text</a:t>
            </a:r>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16321719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Photo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320040"/>
            <a:ext cx="6858000" cy="93268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380744"/>
            <a:ext cx="6858000"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8091732" y="0"/>
            <a:ext cx="4100267" cy="685800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p:txBody>
          <a:bodyPr/>
          <a:lstStyle/>
          <a:p>
            <a:fld id="{D1F1191D-5EC4-40DF-9DB6-A6385AB88B55}" type="datetime1">
              <a:rPr lang="en-US" smtClean="0"/>
              <a:t>6/25/2026</a:t>
            </a:fld>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4285799" y="6453002"/>
            <a:ext cx="2805405" cy="365125"/>
          </a:xfrm>
        </p:spPr>
        <p:txBody>
          <a:bodyPr/>
          <a:lstStyle/>
          <a:p>
            <a:r>
              <a:rPr lang="en-US" dirty="0"/>
              <a:t>Sample Footer Text</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453002"/>
            <a:ext cx="429207"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1871976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Photo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253808" y="584339"/>
            <a:ext cx="4361688" cy="1527048"/>
          </a:xfr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0"/>
            <a:ext cx="6611509" cy="685800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253745" y="2212975"/>
            <a:ext cx="4362450" cy="4095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253745" y="6453002"/>
            <a:ext cx="1622776" cy="365125"/>
          </a:xfrm>
        </p:spPr>
        <p:txBody>
          <a:bodyPr/>
          <a:lstStyle>
            <a:lvl1pPr>
              <a:defRPr>
                <a:solidFill>
                  <a:schemeClr val="tx1"/>
                </a:solidFill>
                <a:effectLst/>
              </a:defRPr>
            </a:lvl1pPr>
          </a:lstStyle>
          <a:p>
            <a:fld id="{EE468DAA-49F6-4492-82E6-75555EB31418}" type="datetime1">
              <a:rPr lang="en-US" smtClean="0"/>
              <a:t>6/25/2026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96734474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Photo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83413"/>
            <a:ext cx="4361688" cy="152704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2212975"/>
            <a:ext cx="4360863" cy="4095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6453002"/>
            <a:ext cx="2031073" cy="365125"/>
          </a:xfrm>
        </p:spPr>
        <p:txBody>
          <a:bodyPr/>
          <a:lstStyle/>
          <a:p>
            <a:fld id="{41D22668-A3AE-429F-A351-A1583BA90793}" type="datetime1">
              <a:rPr lang="en-US" smtClean="0"/>
              <a:t>6/25/2026</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5745480" y="0"/>
            <a:ext cx="6446520" cy="685800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168233" y="6453002"/>
            <a:ext cx="2805405" cy="365125"/>
          </a:xfrm>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923874" y="6453002"/>
            <a:ext cx="429207" cy="365125"/>
          </a:xfrm>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6918008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Photo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94553" y="320040"/>
            <a:ext cx="4522936" cy="932688"/>
          </a:xfrm>
        </p:spPr>
        <p:txBody>
          <a:bodyPr anchor="b"/>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6492240" cy="685800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04888" y="1380744"/>
            <a:ext cx="4512601"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104491" y="6453002"/>
            <a:ext cx="1772029" cy="365125"/>
          </a:xfrm>
        </p:spPr>
        <p:txBody>
          <a:bodyPr/>
          <a:lstStyle>
            <a:lvl1pPr>
              <a:defRPr>
                <a:solidFill>
                  <a:schemeClr val="tx1"/>
                </a:solidFill>
                <a:effectLst/>
              </a:defRPr>
            </a:lvl1pPr>
          </a:lstStyle>
          <a:p>
            <a:fld id="{CB3A2E2B-8F4D-437C-9F55-5E913AFC716A}" type="datetime1">
              <a:rPr lang="en-US" smtClean="0"/>
              <a:t>6/25/2026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17121593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Photo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320040"/>
            <a:ext cx="4572000" cy="932688"/>
          </a:xfrm>
        </p:spPr>
        <p:txBody>
          <a:bodyPr anchor="b"/>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4" y="1380744"/>
            <a:ext cx="4572000" cy="4983480"/>
          </a:xfrm>
        </p:spPr>
        <p:txBody>
          <a:bodyPr/>
          <a:lstStyle>
            <a:lvl1pPr marL="0" indent="0">
              <a:buNone/>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6453002"/>
            <a:ext cx="2031073" cy="365125"/>
          </a:xfrm>
        </p:spPr>
        <p:txBody>
          <a:bodyPr/>
          <a:lstStyle/>
          <a:p>
            <a:fld id="{46C70014-48FC-4647-9615-BBD39F98887D}" type="datetime1">
              <a:rPr lang="en-US" smtClean="0"/>
              <a:t>6/25/2026</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5917720" y="0"/>
            <a:ext cx="6274279" cy="685800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168233" y="6453002"/>
            <a:ext cx="2805405" cy="365125"/>
          </a:xfrm>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923874" y="6453002"/>
            <a:ext cx="429207" cy="365125"/>
          </a:xfrm>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1018207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Photo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212663" y="583413"/>
            <a:ext cx="3401568" cy="1527048"/>
          </a:xfrm>
        </p:spPr>
        <p:txBody>
          <a:bodyPr anchor="b">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0"/>
            <a:ext cx="7584144" cy="685800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212790" y="2212975"/>
            <a:ext cx="3401568" cy="4095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8212663" y="6453002"/>
            <a:ext cx="922372" cy="365125"/>
          </a:xfrm>
        </p:spPr>
        <p:txBody>
          <a:bodyPr/>
          <a:lstStyle/>
          <a:p>
            <a:fld id="{C089F4EF-3CDF-46D7-ADF4-3A52C84FD8BE}" type="datetime1">
              <a:rPr lang="en-US" smtClean="0"/>
              <a:t>6/25/2026</a:t>
            </a:fld>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9135035" y="6453002"/>
            <a:ext cx="2546891" cy="365125"/>
          </a:xfrm>
        </p:spPr>
        <p:txBody>
          <a:bodyPr/>
          <a:lstStyle/>
          <a:p>
            <a:r>
              <a:rPr lang="en-US" dirty="0"/>
              <a:t>Sample Footer Text</a:t>
            </a:r>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37078269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Photo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83413"/>
            <a:ext cx="3401568" cy="1527048"/>
          </a:xfrm>
        </p:spPr>
        <p:txBody>
          <a:bodyPr anchor="b">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2212975"/>
            <a:ext cx="3401568" cy="4095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6453002"/>
            <a:ext cx="1067625" cy="365125"/>
          </a:xfrm>
        </p:spPr>
        <p:txBody>
          <a:bodyPr/>
          <a:lstStyle/>
          <a:p>
            <a:fld id="{E635C43F-DBB1-4D83-B442-E1529AA900C2}" type="datetime1">
              <a:rPr lang="en-US" smtClean="0"/>
              <a:t>6/25/2026</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4761780" y="0"/>
            <a:ext cx="7430219" cy="685800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204785" y="6453002"/>
            <a:ext cx="2805405" cy="365125"/>
          </a:xfrm>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960426" y="6453002"/>
            <a:ext cx="429207" cy="365125"/>
          </a:xfrm>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407153323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Photo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43102" y="1078992"/>
            <a:ext cx="3273552" cy="1942773"/>
          </a:xfr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0"/>
            <a:ext cx="7781365" cy="685800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44096" y="3099816"/>
            <a:ext cx="3273552" cy="2953512"/>
          </a:xfrm>
        </p:spPr>
        <p:txBody>
          <a:bodyPr>
            <a:normAutofit/>
          </a:bodyPr>
          <a:lstStyle>
            <a:lvl1pPr marL="0" indent="0">
              <a:buNone/>
              <a:defRPr sz="1600"/>
            </a:lvl1pPr>
            <a:lvl2pPr marL="228600" indent="0">
              <a:buNone/>
              <a:defRPr sz="1400"/>
            </a:lvl2pPr>
            <a:lvl3pPr marL="457200" indent="0">
              <a:buNone/>
              <a:defRPr sz="1200"/>
            </a:lvl3pPr>
            <a:lvl4pPr marL="685800" indent="0">
              <a:buNone/>
              <a:defRPr sz="1100"/>
            </a:lvl4pPr>
            <a:lvl5pPr marL="9144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343102" y="6453002"/>
            <a:ext cx="1003659" cy="365125"/>
          </a:xfrm>
        </p:spPr>
        <p:txBody>
          <a:bodyPr/>
          <a:lstStyle>
            <a:lvl1pPr>
              <a:defRPr>
                <a:solidFill>
                  <a:schemeClr val="tx1"/>
                </a:solidFill>
                <a:effectLst/>
              </a:defRPr>
            </a:lvl1pPr>
          </a:lstStyle>
          <a:p>
            <a:fld id="{2D13F81E-C5BD-4314-B9B9-AAE2702F29D2}" type="datetime1">
              <a:rPr lang="en-US" smtClean="0"/>
              <a:t>6/25/2026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9346761" y="6453002"/>
            <a:ext cx="2335165" cy="365125"/>
          </a:xfr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24673470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Photo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012268"/>
            <a:ext cx="3739896" cy="1390330"/>
          </a:xfrm>
        </p:spPr>
        <p:txBody>
          <a:bodyPr anchor="t">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12192000" cy="4635132"/>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ADC8C146-0A20-4029-98D5-9A42EEDF8B24}" type="datetime1">
              <a:rPr lang="en-US" smtClean="0"/>
              <a:t>6/25/2026</a:t>
            </a:fld>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49240" y="5012267"/>
            <a:ext cx="6400800" cy="1390330"/>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10288879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Photo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4162318"/>
            <a:ext cx="2953618" cy="1892808"/>
          </a:xfrm>
        </p:spPr>
        <p:txBody>
          <a:bodyPr anchor="t">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12192000" cy="377827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7C12A2F-57DF-45DA-A7E9-678FD33267B9}" type="datetime1">
              <a:rPr lang="en-US" smtClean="0"/>
              <a:t>6/25/2026</a:t>
            </a:fld>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4162318"/>
            <a:ext cx="7772400" cy="2240280"/>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62591928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Photo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61425"/>
            <a:ext cx="2953618" cy="1892808"/>
          </a:xfrm>
        </p:spPr>
        <p:txBody>
          <a:bodyPr anchor="t">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3079730"/>
            <a:ext cx="12192000" cy="3778270"/>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59778"/>
            <a:ext cx="3494314" cy="365125"/>
          </a:xfrm>
        </p:spPr>
        <p:txBody>
          <a:bodyPr/>
          <a:lstStyle/>
          <a:p>
            <a:fld id="{9128053F-E531-4885-B604-CF1A6DEEE405}" type="datetime1">
              <a:rPr lang="en-US" smtClean="0"/>
              <a:t>6/25/2026</a:t>
            </a:fld>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561425"/>
            <a:ext cx="7772400" cy="2240280"/>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76521" y="59778"/>
            <a:ext cx="2805405" cy="365125"/>
          </a:xfr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632162" y="59778"/>
            <a:ext cx="429207"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46768102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Photo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603504"/>
            <a:ext cx="10972802" cy="970463"/>
          </a:xfrm>
        </p:spPr>
        <p:txBody>
          <a:bodyPr anchor="ct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612645" y="1828800"/>
            <a:ext cx="6172200" cy="4425696"/>
          </a:xfrm>
          <a:blipFill dpi="0" rotWithShape="1">
            <a:blip r:embed="rId2" cstate="print">
              <a:alphaModFix amt="60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327395" y="1828800"/>
            <a:ext cx="4251960" cy="44288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4766791B-F730-470C-BD5E-FFF8D449589F}" type="datetime1">
              <a:rPr lang="en-US" smtClean="0"/>
              <a:t>6/25/2026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77976790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Photo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39"/>
            <a:ext cx="4672584" cy="1453896"/>
          </a:xfrm>
        </p:spPr>
        <p:txBody>
          <a:bodyPr>
            <a:normAutofit/>
          </a:bodyPr>
          <a:lstStyle>
            <a:lvl1pPr>
              <a:defRPr sz="36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612648" y="2290890"/>
            <a:ext cx="4672584" cy="4041648"/>
          </a:xfrm>
          <a:blipFill dpi="0" rotWithShape="1">
            <a:blip r:embed="rId2" cstate="print">
              <a:alphaModFix amt="60000"/>
              <a:extLst>
                <a:ext uri="{28A0092B-C50C-407E-A947-70E740481C1C}">
                  <a14:useLocalDpi xmlns:a14="http://schemas.microsoft.com/office/drawing/2010/main"/>
                </a:ext>
              </a:extLst>
            </a:blip>
            <a:srcRect/>
            <a:stretch>
              <a:fillRect/>
            </a:stretch>
          </a:blipFill>
        </p:spPr>
        <p:txBody>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549275"/>
            <a:ext cx="5585925" cy="57832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4E73FE0C-303A-49D2-B22C-9FE8AE7D9EF1}" type="datetime1">
              <a:rPr lang="en-US" smtClean="0"/>
              <a:t>6/25/2026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1146012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Photo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4678" y="550217"/>
            <a:ext cx="3657603" cy="1453896"/>
          </a:xfrm>
        </p:spPr>
        <p:txBody>
          <a:bodyPr anchor="t">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731521" y="2295144"/>
            <a:ext cx="3490176" cy="4041648"/>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016500" y="549275"/>
            <a:ext cx="6561138" cy="5759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73859A7-84EB-4384-87AF-59CC16704CF8}" type="datetime1">
              <a:rPr lang="en-US" smtClean="0"/>
              <a:t>6/25/2026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87380775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Big Number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539496" y="566928"/>
            <a:ext cx="10826496" cy="4334256"/>
          </a:xfrm>
        </p:spPr>
        <p:txBody>
          <a:bodyPr anchor="b">
            <a:normAutofit/>
          </a:bodyPr>
          <a:lstStyle>
            <a:lvl1pPr algn="l">
              <a:defRPr sz="23200">
                <a:solidFill>
                  <a:schemeClr val="accent1">
                    <a:lumMod val="75000"/>
                  </a:schemeClr>
                </a:solidFill>
              </a:defRPr>
            </a:lvl1pPr>
          </a:lstStyle>
          <a:p>
            <a:r>
              <a:rPr lang="en-US" dirty="0"/>
              <a:t>##%</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94944" y="4718304"/>
            <a:ext cx="5897880" cy="1353312"/>
          </a:xfrm>
        </p:spPr>
        <p:txBody>
          <a:bodyPr anchor="t">
            <a:normAutofit/>
          </a:bodyPr>
          <a:lstStyle>
            <a:lvl1pPr marL="0" indent="0" algn="l">
              <a:buNone/>
              <a:defRPr sz="2800" cap="none" baseline="0">
                <a:solidFill>
                  <a:schemeClr val="accent1">
                    <a:lumMod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E5AD3D17-73C9-402C-91E7-BA73E6829C50}" type="datetime1">
              <a:rPr lang="en-US" smtClean="0"/>
              <a:t>6/25/2026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55446852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reserve="1">
  <p:cSld name="Big Number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822960" y="603504"/>
            <a:ext cx="10543032" cy="4206240"/>
          </a:xfrm>
        </p:spPr>
        <p:txBody>
          <a:bodyPr anchor="b">
            <a:normAutofit/>
          </a:bodyPr>
          <a:lstStyle>
            <a:lvl1pPr algn="ctr">
              <a:defRPr sz="23200">
                <a:solidFill>
                  <a:schemeClr val="accent1">
                    <a:lumMod val="75000"/>
                  </a:schemeClr>
                </a:solidFill>
              </a:defRPr>
            </a:lvl1pPr>
          </a:lstStyle>
          <a:p>
            <a:r>
              <a:rPr lang="en-US" dirty="0"/>
              <a:t>##%</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77440" y="4809744"/>
            <a:ext cx="7525512" cy="1545336"/>
          </a:xfrm>
        </p:spPr>
        <p:txBody>
          <a:bodyPr anchor="t">
            <a:normAutofit/>
          </a:bodyPr>
          <a:lstStyle>
            <a:lvl1pPr marL="0" indent="0" algn="ctr">
              <a:buNone/>
              <a:defRPr sz="2800" cap="none" baseline="0">
                <a:solidFill>
                  <a:schemeClr val="accent1">
                    <a:lumMod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77A7CDD-9512-40CC-9351-FC0DE186CFBD}" type="datetime1">
              <a:rPr lang="en-US" smtClean="0"/>
              <a:t>6/25/2026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11176016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type="title" preserve="1">
  <p:cSld name="Big Number 3">
    <p:bg>
      <p:bgRef idx="1001">
        <a:schemeClr val="bg2"/>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93814EA-F598-EBFD-83D1-6782D7CBB598}"/>
              </a:ext>
            </a:extLst>
          </p:cNvPr>
          <p:cNvSpPr/>
          <p:nvPr userDrawn="1"/>
        </p:nvSpPr>
        <p:spPr>
          <a:xfrm>
            <a:off x="0" y="0"/>
            <a:ext cx="12192000" cy="68580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822960" y="603504"/>
            <a:ext cx="10543032" cy="4206240"/>
          </a:xfrm>
        </p:spPr>
        <p:txBody>
          <a:bodyPr anchor="b">
            <a:normAutofit/>
          </a:bodyPr>
          <a:lstStyle>
            <a:lvl1pPr algn="ctr">
              <a:defRPr sz="23200">
                <a:solidFill>
                  <a:schemeClr val="tx1"/>
                </a:solidFill>
              </a:defRPr>
            </a:lvl1pPr>
          </a:lstStyle>
          <a:p>
            <a:r>
              <a:rPr lang="en-US" dirty="0"/>
              <a:t>##%</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77440" y="4809744"/>
            <a:ext cx="7525512" cy="1545336"/>
          </a:xfrm>
        </p:spPr>
        <p:txBody>
          <a:bodyPr anchor="t">
            <a:normAutofit/>
          </a:bodyPr>
          <a:lstStyle>
            <a:lvl1pPr marL="0" indent="0" algn="ctr">
              <a:buNone/>
              <a:defRPr sz="2800" cap="none"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483EFCC7-B7E8-4ABE-BBCB-C75FD27800CD}" type="datetime1">
              <a:rPr lang="en-US" smtClean="0"/>
              <a:t>6/25/2026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35209648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507735E4-737B-43D4-B991-92C3D63DE68F}" type="datetime1">
              <a:rPr lang="en-US" smtClean="0"/>
              <a:t>6/25/2026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548640"/>
            <a:ext cx="8266176" cy="5605272"/>
          </a:xfrm>
        </p:spPr>
        <p:txBody>
          <a:bodyPr anchor="t">
            <a:noAutofit/>
          </a:bodyPr>
          <a:lstStyle>
            <a:lvl1pPr marL="0" indent="0">
              <a:lnSpc>
                <a:spcPct val="100000"/>
              </a:lnSpc>
              <a:buNone/>
              <a:defRPr sz="5000" b="1"/>
            </a:lvl1pPr>
            <a:lvl2pPr marL="228600" indent="0">
              <a:lnSpc>
                <a:spcPct val="100000"/>
              </a:lnSpc>
              <a:buNone/>
              <a:defRPr sz="4400" b="1"/>
            </a:lvl2pPr>
            <a:lvl3pPr marL="457200" indent="0">
              <a:lnSpc>
                <a:spcPct val="100000"/>
              </a:lnSpc>
              <a:buNone/>
              <a:defRPr sz="4000" b="1"/>
            </a:lvl3pPr>
            <a:lvl4pPr marL="685800" indent="0">
              <a:lnSpc>
                <a:spcPct val="100000"/>
              </a:lnSpc>
              <a:buNone/>
              <a:defRPr sz="3600" b="1"/>
            </a:lvl4pPr>
            <a:lvl5pPr marL="914400" indent="0">
              <a:lnSpc>
                <a:spcPct val="100000"/>
              </a:lnSpc>
              <a:buNone/>
              <a:defRPr sz="32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7831385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 preserve="1">
  <p:cSld name="Quote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499616" y="1188720"/>
            <a:ext cx="9198864" cy="3657600"/>
          </a:xfrm>
        </p:spPr>
        <p:txBody>
          <a:bodyPr anchor="ctr">
            <a:normAutofit/>
          </a:bodyPr>
          <a:lstStyle>
            <a:lvl1pPr marL="137160" indent="-137160" algn="l">
              <a:lnSpc>
                <a:spcPct val="100000"/>
              </a:lnSpc>
              <a:defRPr sz="4000" b="0"/>
            </a:lvl1pPr>
          </a:lstStyle>
          <a:p>
            <a:r>
              <a:rPr lang="en-US" dirty="0"/>
              <a:t>Click to edit Quote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hasCustomPrompt="1"/>
          </p:nvPr>
        </p:nvSpPr>
        <p:spPr>
          <a:xfrm>
            <a:off x="1654972" y="5428752"/>
            <a:ext cx="9043508" cy="466344"/>
          </a:xfrm>
        </p:spPr>
        <p:txBody>
          <a:bodyPr anchor="ctr">
            <a:normAutofit/>
          </a:bodyPr>
          <a:lstStyle>
            <a:lvl1pPr marL="0" indent="0" algn="l">
              <a:buNone/>
              <a:defRPr sz="2200" b="1">
                <a:solidFill>
                  <a:schemeClr val="accent1">
                    <a:lumMod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Quote Author</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4D63035D-22A0-4334-A9AE-2457016C8B47}" type="datetime1">
              <a:rPr lang="en-US" smtClean="0"/>
              <a:t>6/25/2026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9795651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type="title" preserve="1">
  <p:cSld name="Quote 2">
    <p:bg>
      <p:bgRef idx="1001">
        <a:schemeClr val="bg2"/>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CE66BBE-3119-84C9-214F-FCCB3DF5A6F1}"/>
              </a:ext>
            </a:extLst>
          </p:cNvPr>
          <p:cNvSpPr/>
          <p:nvPr userDrawn="1"/>
        </p:nvSpPr>
        <p:spPr>
          <a:xfrm>
            <a:off x="0" y="1"/>
            <a:ext cx="12192000" cy="68580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499616" y="1344168"/>
            <a:ext cx="9198864" cy="3291840"/>
          </a:xfrm>
        </p:spPr>
        <p:txBody>
          <a:bodyPr anchor="ctr">
            <a:normAutofit/>
          </a:bodyPr>
          <a:lstStyle>
            <a:lvl1pPr marL="137160" indent="-137160" algn="l">
              <a:lnSpc>
                <a:spcPct val="100000"/>
              </a:lnSpc>
              <a:defRPr sz="4000" b="0"/>
            </a:lvl1pPr>
          </a:lstStyle>
          <a:p>
            <a:r>
              <a:rPr lang="en-US" dirty="0"/>
              <a:t>Click to edit Quote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hasCustomPrompt="1"/>
          </p:nvPr>
        </p:nvSpPr>
        <p:spPr>
          <a:xfrm>
            <a:off x="1655064" y="5349240"/>
            <a:ext cx="9043416" cy="466344"/>
          </a:xfrm>
        </p:spPr>
        <p:txBody>
          <a:bodyPr anchor="ctr">
            <a:normAutofit/>
          </a:bodyPr>
          <a:lstStyle>
            <a:lvl1pPr marL="0" indent="0" algn="l">
              <a:buNone/>
              <a:defRPr sz="2200" b="1">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Quote Author</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29247CA6-BC1D-429A-A289-4E939E49554A}" type="datetime1">
              <a:rPr lang="en-US" smtClean="0"/>
              <a:t>6/25/2026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86932447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type="title" preserve="1">
  <p:cSld name="Quot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12648" y="1234440"/>
            <a:ext cx="8961120" cy="3169920"/>
          </a:xfrm>
        </p:spPr>
        <p:txBody>
          <a:bodyPr anchor="ctr">
            <a:normAutofit/>
          </a:bodyPr>
          <a:lstStyle>
            <a:lvl1pPr marL="137160" indent="-137160" algn="l">
              <a:lnSpc>
                <a:spcPct val="100000"/>
              </a:lnSpc>
              <a:defRPr sz="4400" b="0"/>
            </a:lvl1pPr>
          </a:lstStyle>
          <a:p>
            <a:r>
              <a:rPr lang="en-US" dirty="0"/>
              <a:t>Click to edit Quote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hasCustomPrompt="1"/>
          </p:nvPr>
        </p:nvSpPr>
        <p:spPr>
          <a:xfrm>
            <a:off x="766651" y="5669280"/>
            <a:ext cx="8807117" cy="466344"/>
          </a:xfrm>
        </p:spPr>
        <p:txBody>
          <a:bodyPr anchor="ctr">
            <a:normAutofit/>
          </a:bodyPr>
          <a:lstStyle>
            <a:lvl1pPr marL="0" indent="0" algn="l">
              <a:buNone/>
              <a:defRPr sz="2200" b="1">
                <a:solidFill>
                  <a:schemeClr val="accent1">
                    <a:lumMod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Quote Author</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DF8418BD-2BA9-41CB-AB89-625779A7563D}" type="datetime1">
              <a:rPr lang="en-US" smtClean="0"/>
              <a:t>6/25/2026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67860291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p>
        </p:txBody>
      </p:sp>
      <p:sp>
        <p:nvSpPr>
          <p:cNvPr id="9" name="Text Placeholder 8">
            <a:extLst>
              <a:ext uri="{FF2B5EF4-FFF2-40B4-BE49-F238E27FC236}">
                <a16:creationId xmlns:a16="http://schemas.microsoft.com/office/drawing/2014/main" id="{84DC103C-4E45-07FA-2734-5BAE2624DC48}"/>
              </a:ext>
            </a:extLst>
          </p:cNvPr>
          <p:cNvSpPr>
            <a:spLocks noGrp="1"/>
          </p:cNvSpPr>
          <p:nvPr>
            <p:ph type="body" sz="quarter" idx="13"/>
          </p:nvPr>
        </p:nvSpPr>
        <p:spPr>
          <a:xfrm>
            <a:off x="612775"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0">
            <a:extLst>
              <a:ext uri="{FF2B5EF4-FFF2-40B4-BE49-F238E27FC236}">
                <a16:creationId xmlns:a16="http://schemas.microsoft.com/office/drawing/2014/main" id="{288F1ED9-CE64-0191-F909-FDC002A7456F}"/>
              </a:ext>
            </a:extLst>
          </p:cNvPr>
          <p:cNvSpPr>
            <a:spLocks noGrp="1"/>
          </p:cNvSpPr>
          <p:nvPr>
            <p:ph type="body" sz="quarter" idx="14"/>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9E765B10-D26A-480A-9509-A9831C5E60D8}" type="datetime1">
              <a:rPr lang="en-US" smtClean="0"/>
              <a:t>6/25/2026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57708349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0">
            <a:extLst>
              <a:ext uri="{FF2B5EF4-FFF2-40B4-BE49-F238E27FC236}">
                <a16:creationId xmlns:a16="http://schemas.microsoft.com/office/drawing/2014/main" id="{F86E5640-DE07-46FE-2EFB-FCD8C5238DC9}"/>
              </a:ext>
            </a:extLst>
          </p:cNvPr>
          <p:cNvSpPr>
            <a:spLocks noGrp="1"/>
          </p:cNvSpPr>
          <p:nvPr>
            <p:ph type="body" sz="quarter" idx="13"/>
          </p:nvPr>
        </p:nvSpPr>
        <p:spPr>
          <a:xfrm>
            <a:off x="609600" y="2387600"/>
            <a:ext cx="5157788" cy="376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Text Placeholder 12">
            <a:extLst>
              <a:ext uri="{FF2B5EF4-FFF2-40B4-BE49-F238E27FC236}">
                <a16:creationId xmlns:a16="http://schemas.microsoft.com/office/drawing/2014/main" id="{20D5795C-6228-AA6F-1CF7-AD7010686BC6}"/>
              </a:ext>
            </a:extLst>
          </p:cNvPr>
          <p:cNvSpPr>
            <a:spLocks noGrp="1"/>
          </p:cNvSpPr>
          <p:nvPr>
            <p:ph type="body" sz="quarter" idx="14"/>
          </p:nvPr>
        </p:nvSpPr>
        <p:spPr>
          <a:xfrm>
            <a:off x="6172200" y="2387600"/>
            <a:ext cx="5183188" cy="376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5BCCB42A-67CE-499B-A4FA-7D4E4469B142}" type="datetime1">
              <a:rPr lang="en-US" smtClean="0"/>
              <a:t>6/25/2026</a:t>
            </a:fld>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dirty="0"/>
              <a:t>Sample Footer Text</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43825818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EF9E5040-F7E0-40EC-B8E9-CED28200FAA3}" type="datetime1">
              <a:rPr lang="en-US" smtClean="0"/>
              <a:t>6/25/2026</a:t>
            </a:fld>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56496913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87CFF128-BAC7-4E0D-8F77-28A571D93B6F}" type="datetime1">
              <a:rPr lang="en-US" smtClean="0"/>
              <a:t>6/25/2026</a:t>
            </a:fld>
            <a:endParaRPr lang="en-US" dirty="0"/>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dirty="0"/>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02917458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12648" y="553616"/>
            <a:ext cx="3595634" cy="1757505"/>
          </a:xfrm>
        </p:spPr>
        <p:txBody>
          <a:bodyPr anchor="t">
            <a:normAutofit/>
          </a:bodyPr>
          <a:lstStyle>
            <a:lvl1pPr>
              <a:defRPr sz="28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12648" y="2311121"/>
            <a:ext cx="3595634" cy="3993263"/>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5"/>
            <a:ext cx="6440258" cy="5755109"/>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12DB3EA1-DD0C-4B8D-8364-52024B4530F1}" type="datetime1">
              <a:rPr lang="en-US" smtClean="0"/>
              <a:t>6/25/2026</a:t>
            </a:fld>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49659907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8" y="557784"/>
            <a:ext cx="3595634" cy="2212313"/>
          </a:xfrm>
        </p:spPr>
        <p:txBody>
          <a:bodyPr anchor="t">
            <a:normAutofit/>
          </a:bodyPr>
          <a:lstStyle>
            <a:lvl1pPr>
              <a:defRPr sz="28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557784"/>
            <a:ext cx="6519080" cy="5779007"/>
          </a:xfrm>
          <a:blipFill dpi="0" rotWithShape="1">
            <a:blip r:embed="rId2">
              <a:alphaModFix amt="60000"/>
              <a:extLst>
                <a:ext uri="{28A0092B-C50C-407E-A947-70E740481C1C}">
                  <a14:useLocalDpi xmlns:a14="http://schemas.microsoft.com/office/drawing/2010/main"/>
                </a:ext>
              </a:extLst>
            </a:blip>
            <a:srcRect/>
            <a:stretch>
              <a:fillRect/>
            </a:stretch>
          </a:blip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3D157344-9CC7-412D-8C20-072BE86D5A11}" type="datetime1">
              <a:rPr lang="en-US" smtClean="0"/>
              <a:t>6/25/2026</a:t>
            </a:fld>
            <a:endParaRPr lang="en-US" dirty="0"/>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76902161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6" y="1847088"/>
            <a:ext cx="7342307" cy="1133856"/>
          </a:xfrm>
        </p:spPr>
        <p:txBody>
          <a:bodyPr anchor="b">
            <a:noAutofit/>
          </a:bodyPr>
          <a:lstStyle>
            <a:lvl1pPr>
              <a:defRPr sz="6000"/>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594099"/>
            <a:ext cx="10890374" cy="2743200"/>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157987AA-E4E6-4FC1-BAD8-09A952212C58}" type="datetime1">
              <a:rPr lang="en-US" smtClean="0"/>
              <a:t>6/25/2026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75662841"/>
      </p:ext>
    </p:extLst>
  </p:cSld>
  <p:clrMapOvr>
    <a:overrideClrMapping bg1="dk1" tx1="lt1" bg2="dk2" tx2="lt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627318"/>
            <a:ext cx="8430767" cy="1842020"/>
          </a:xfrm>
        </p:spPr>
        <p:txBody>
          <a:bodyPr anchor="b">
            <a:noAutofit/>
          </a:bodyPr>
          <a:lstStyle>
            <a:lvl1pPr>
              <a:defRPr sz="6000"/>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12775" y="3622674"/>
            <a:ext cx="8430639" cy="1279615"/>
          </a:xfrm>
        </p:spPr>
        <p:txBody>
          <a:bodyPr>
            <a:noAutofit/>
          </a:bodyPr>
          <a:lstStyle>
            <a:lvl1pPr marL="0" indent="0">
              <a:buNone/>
              <a:defRPr sz="2400"/>
            </a:lvl1pPr>
            <a:lvl2pPr marL="228600" indent="0">
              <a:buNone/>
              <a:defRPr sz="2000"/>
            </a:lvl2pPr>
            <a:lvl3pPr marL="457200" indent="0">
              <a:buNone/>
              <a:defRPr sz="1800"/>
            </a:lvl3pPr>
            <a:lvl4pPr marL="685800" indent="0">
              <a:buNone/>
              <a:defRPr sz="16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043CF65F-0E21-48DE-8D75-4BF66A547E8E}" type="datetime1">
              <a:rPr lang="en-US" smtClean="0"/>
              <a:t>6/25/2026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86853183"/>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theme" Target="../theme/theme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D291CE83-67BA-4B15-B48A-7DC5C0636664}" type="datetime1">
              <a:rPr lang="en-US" smtClean="0"/>
              <a:t>6/25/2026</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dirty="0"/>
          </a:p>
        </p:txBody>
      </p:sp>
    </p:spTree>
    <p:extLst>
      <p:ext uri="{BB962C8B-B14F-4D97-AF65-F5344CB8AC3E}">
        <p14:creationId xmlns:p14="http://schemas.microsoft.com/office/powerpoint/2010/main" val="2740288441"/>
      </p:ext>
    </p:extLst>
  </p:cSld>
  <p:clrMap bg1="lt1" tx1="dk1" bg2="lt2" tx2="dk2" accent1="accent1" accent2="accent2" accent3="accent3" accent4="accent4" accent5="accent5" accent6="accent6" hlink="hlink" folHlink="folHlink"/>
  <p:sldLayoutIdLst>
    <p:sldLayoutId id="2147483677" r:id="rId1"/>
    <p:sldLayoutId id="2147483675" r:id="rId2"/>
    <p:sldLayoutId id="2147483661" r:id="rId3"/>
    <p:sldLayoutId id="2147483712" r:id="rId4"/>
    <p:sldLayoutId id="2147483698" r:id="rId5"/>
    <p:sldLayoutId id="2147483728" r:id="rId6"/>
    <p:sldLayoutId id="2147483735" r:id="rId7"/>
    <p:sldLayoutId id="2147483758" r:id="rId8"/>
    <p:sldLayoutId id="2147483710" r:id="rId9"/>
    <p:sldLayoutId id="2147483755" r:id="rId10"/>
    <p:sldLayoutId id="2147483713" r:id="rId11"/>
    <p:sldLayoutId id="2147483729" r:id="rId12"/>
    <p:sldLayoutId id="2147483662" r:id="rId13"/>
    <p:sldLayoutId id="2147483679" r:id="rId14"/>
    <p:sldLayoutId id="2147483680" r:id="rId15"/>
    <p:sldLayoutId id="2147483681" r:id="rId16"/>
    <p:sldLayoutId id="2147483682" r:id="rId17"/>
    <p:sldLayoutId id="2147483706" r:id="rId18"/>
    <p:sldLayoutId id="2147483689" r:id="rId19"/>
    <p:sldLayoutId id="2147483690" r:id="rId20"/>
    <p:sldLayoutId id="2147483707" r:id="rId21"/>
    <p:sldLayoutId id="2147483708" r:id="rId22"/>
    <p:sldLayoutId id="2147483692" r:id="rId23"/>
    <p:sldLayoutId id="2147483691" r:id="rId24"/>
    <p:sldLayoutId id="2147483732" r:id="rId25"/>
    <p:sldLayoutId id="2147483733" r:id="rId26"/>
    <p:sldLayoutId id="2147483731" r:id="rId27"/>
    <p:sldLayoutId id="2147483730" r:id="rId28"/>
    <p:sldLayoutId id="2147483694" r:id="rId29"/>
    <p:sldLayoutId id="2147483726" r:id="rId30"/>
    <p:sldLayoutId id="2147483693" r:id="rId31"/>
    <p:sldLayoutId id="2147483711" r:id="rId32"/>
    <p:sldLayoutId id="2147483672" r:id="rId33"/>
    <p:sldLayoutId id="2147483673" r:id="rId34"/>
    <p:sldLayoutId id="2147483696" r:id="rId35"/>
    <p:sldLayoutId id="2147483752" r:id="rId36"/>
    <p:sldLayoutId id="2147483754" r:id="rId37"/>
    <p:sldLayoutId id="2147483753" r:id="rId38"/>
    <p:sldLayoutId id="2147483750" r:id="rId39"/>
    <p:sldLayoutId id="2147483742" r:id="rId40"/>
    <p:sldLayoutId id="2147483743" r:id="rId41"/>
    <p:sldLayoutId id="2147483740" r:id="rId42"/>
    <p:sldLayoutId id="2147483664" r:id="rId43"/>
    <p:sldLayoutId id="2147483665" r:id="rId44"/>
    <p:sldLayoutId id="2147483666" r:id="rId45"/>
    <p:sldLayoutId id="2147483667" r:id="rId46"/>
    <p:sldLayoutId id="2147483668" r:id="rId47"/>
    <p:sldLayoutId id="2147483669" r:id="rId48"/>
    <p:sldLayoutId id="2147483685" r:id="rId49"/>
    <p:sldLayoutId id="2147483687" r:id="rId50"/>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6.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8.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6D321A2-65AC-4C18-CA75-0FB5084CA306}"/>
              </a:ext>
            </a:extLst>
          </p:cNvPr>
          <p:cNvSpPr>
            <a:spLocks noGrp="1"/>
          </p:cNvSpPr>
          <p:nvPr>
            <p:ph type="ctrTitle"/>
          </p:nvPr>
        </p:nvSpPr>
        <p:spPr>
          <a:xfrm>
            <a:off x="365760" y="411480"/>
            <a:ext cx="4654296" cy="3739896"/>
          </a:xfrm>
        </p:spPr>
        <p:txBody>
          <a:bodyPr/>
          <a:lstStyle/>
          <a:p>
            <a:r>
              <a:rPr lang="en-US" dirty="0"/>
              <a:t>Optimizing Inventory Setting</a:t>
            </a:r>
          </a:p>
        </p:txBody>
      </p:sp>
      <p:sp>
        <p:nvSpPr>
          <p:cNvPr id="5" name="Subtitle 4">
            <a:extLst>
              <a:ext uri="{FF2B5EF4-FFF2-40B4-BE49-F238E27FC236}">
                <a16:creationId xmlns:a16="http://schemas.microsoft.com/office/drawing/2014/main" id="{02FA3257-663D-61CE-A5D5-22B53DB71488}"/>
              </a:ext>
            </a:extLst>
          </p:cNvPr>
          <p:cNvSpPr>
            <a:spLocks noGrp="1"/>
          </p:cNvSpPr>
          <p:nvPr>
            <p:ph type="subTitle" idx="1"/>
          </p:nvPr>
        </p:nvSpPr>
        <p:spPr>
          <a:xfrm>
            <a:off x="365760" y="4873752"/>
            <a:ext cx="4206240" cy="1380744"/>
          </a:xfrm>
        </p:spPr>
        <p:txBody>
          <a:bodyPr/>
          <a:lstStyle/>
          <a:p>
            <a:r>
              <a:rPr lang="en-US" dirty="0"/>
              <a:t>Presented by Tzuying Yu​</a:t>
            </a:r>
          </a:p>
        </p:txBody>
      </p:sp>
      <p:pic>
        <p:nvPicPr>
          <p:cNvPr id="7" name="Picture Placeholder 6" descr="A group of houses with red roofs">
            <a:extLst>
              <a:ext uri="{FF2B5EF4-FFF2-40B4-BE49-F238E27FC236}">
                <a16:creationId xmlns:a16="http://schemas.microsoft.com/office/drawing/2014/main" id="{AA6BCCFE-82B9-38D9-8EAD-75148B80BD8F}"/>
              </a:ext>
            </a:extLst>
          </p:cNvPr>
          <p:cNvPicPr>
            <a:picLocks noGrp="1" noChangeAspect="1"/>
          </p:cNvPicPr>
          <p:nvPr>
            <p:ph type="pic" sz="quarter" idx="13"/>
          </p:nvPr>
        </p:nvPicPr>
        <p:blipFill>
          <a:blip r:embed="rId2" cstate="print">
            <a:extLst>
              <a:ext uri="{28A0092B-C50C-407E-A947-70E740481C1C}">
                <a14:useLocalDpi xmlns:a14="http://schemas.microsoft.com/office/drawing/2010/main"/>
              </a:ext>
            </a:extLst>
          </a:blip>
          <a:srcRect/>
          <a:stretch/>
        </p:blipFill>
        <p:spPr>
          <a:xfrm>
            <a:off x="5596128" y="0"/>
            <a:ext cx="6595872" cy="6858000"/>
          </a:xfrm>
        </p:spPr>
      </p:pic>
    </p:spTree>
    <p:extLst>
      <p:ext uri="{BB962C8B-B14F-4D97-AF65-F5344CB8AC3E}">
        <p14:creationId xmlns:p14="http://schemas.microsoft.com/office/powerpoint/2010/main" val="30699655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4FF4E-EE4C-B4A2-9D54-5C43E6B3844E}"/>
              </a:ext>
            </a:extLst>
          </p:cNvPr>
          <p:cNvSpPr>
            <a:spLocks noGrp="1"/>
          </p:cNvSpPr>
          <p:nvPr>
            <p:ph type="title"/>
          </p:nvPr>
        </p:nvSpPr>
        <p:spPr>
          <a:xfrm>
            <a:off x="695325" y="94722"/>
            <a:ext cx="5664328" cy="1193267"/>
          </a:xfrm>
        </p:spPr>
        <p:txBody>
          <a:bodyPr/>
          <a:lstStyle/>
          <a:p>
            <a:r>
              <a:rPr lang="en-US" dirty="0"/>
              <a:t>Agenda &amp; Objective</a:t>
            </a:r>
          </a:p>
        </p:txBody>
      </p:sp>
      <p:sp>
        <p:nvSpPr>
          <p:cNvPr id="3" name="Content Placeholder 2">
            <a:extLst>
              <a:ext uri="{FF2B5EF4-FFF2-40B4-BE49-F238E27FC236}">
                <a16:creationId xmlns:a16="http://schemas.microsoft.com/office/drawing/2014/main" id="{B3EB48FE-81C3-ABCE-B84F-B551AB1B2699}"/>
              </a:ext>
            </a:extLst>
          </p:cNvPr>
          <p:cNvSpPr>
            <a:spLocks noGrp="1"/>
          </p:cNvSpPr>
          <p:nvPr>
            <p:ph sz="quarter" idx="13"/>
          </p:nvPr>
        </p:nvSpPr>
        <p:spPr>
          <a:xfrm>
            <a:off x="612647" y="3105150"/>
            <a:ext cx="10807828" cy="2918619"/>
          </a:xfrm>
        </p:spPr>
        <p:txBody>
          <a:bodyPr>
            <a:normAutofit fontScale="92500" lnSpcReduction="20000"/>
          </a:bodyPr>
          <a:lstStyle/>
          <a:p>
            <a:pPr marL="0" indent="0">
              <a:buNone/>
            </a:pPr>
            <a:r>
              <a:rPr lang="en-US" sz="2600" b="1" dirty="0">
                <a:solidFill>
                  <a:schemeClr val="accent1"/>
                </a:solidFill>
              </a:rPr>
              <a:t>Agenda</a:t>
            </a:r>
          </a:p>
          <a:p>
            <a:pPr marL="285750" indent="-285750">
              <a:buFont typeface="+mj-lt"/>
              <a:buAutoNum type="arabicPeriod"/>
            </a:pPr>
            <a:r>
              <a:rPr lang="en-US" sz="1900" dirty="0"/>
              <a:t>Context — back-order trends and key components of demand planning</a:t>
            </a:r>
          </a:p>
          <a:p>
            <a:pPr marL="285750" indent="-285750">
              <a:buFont typeface="+mj-lt"/>
              <a:buAutoNum type="arabicPeriod"/>
            </a:pPr>
            <a:r>
              <a:rPr lang="en-US" sz="1900" dirty="0"/>
              <a:t>Inventory settings: reorder point, lead time, safety buffer, preferred stock level</a:t>
            </a:r>
          </a:p>
          <a:p>
            <a:pPr marL="285750" indent="-285750">
              <a:buFont typeface="+mj-lt"/>
              <a:buAutoNum type="arabicPeriod"/>
            </a:pPr>
            <a:r>
              <a:rPr lang="en-US" sz="1900" dirty="0"/>
              <a:t>Target products and issues raised by Product Management</a:t>
            </a:r>
          </a:p>
          <a:p>
            <a:pPr marL="285750" indent="-285750">
              <a:buFont typeface="+mj-lt"/>
              <a:buAutoNum type="arabicPeriod"/>
            </a:pPr>
            <a:r>
              <a:rPr lang="en-US" sz="1900" dirty="0"/>
              <a:t>Demand-pattern segmentation (Syntetos &amp; Boylan): Smooth, Intermittent, Erratic, Lumpy, Sparse</a:t>
            </a:r>
          </a:p>
          <a:p>
            <a:pPr marL="285750" indent="-285750">
              <a:buFont typeface="+mj-lt"/>
              <a:buAutoNum type="arabicPeriod"/>
            </a:pPr>
            <a:r>
              <a:rPr lang="en-US" sz="1900" dirty="0"/>
              <a:t>Action plan by department — Demand Planner, Sales &amp; Marketing, BI</a:t>
            </a:r>
          </a:p>
          <a:p>
            <a:pPr marL="285750" indent="-285750">
              <a:buFont typeface="+mj-lt"/>
              <a:buAutoNum type="arabicPeriod"/>
            </a:pPr>
            <a:r>
              <a:rPr lang="en-US" sz="1900" dirty="0"/>
              <a:t>Q&amp;A</a:t>
            </a:r>
          </a:p>
        </p:txBody>
      </p:sp>
      <p:sp>
        <p:nvSpPr>
          <p:cNvPr id="4" name="TextBox 3">
            <a:extLst>
              <a:ext uri="{FF2B5EF4-FFF2-40B4-BE49-F238E27FC236}">
                <a16:creationId xmlns:a16="http://schemas.microsoft.com/office/drawing/2014/main" id="{5F8E7B35-C558-C460-7C80-1C8A6AC6A6A4}"/>
              </a:ext>
            </a:extLst>
          </p:cNvPr>
          <p:cNvSpPr txBox="1"/>
          <p:nvPr/>
        </p:nvSpPr>
        <p:spPr>
          <a:xfrm>
            <a:off x="695325" y="1619250"/>
            <a:ext cx="7353300" cy="1569660"/>
          </a:xfrm>
          <a:prstGeom prst="rect">
            <a:avLst/>
          </a:prstGeom>
          <a:noFill/>
        </p:spPr>
        <p:txBody>
          <a:bodyPr wrap="square" rtlCol="0">
            <a:spAutoFit/>
          </a:bodyPr>
          <a:lstStyle/>
          <a:p>
            <a:r>
              <a:rPr lang="en-US" sz="2400" b="1" dirty="0">
                <a:solidFill>
                  <a:schemeClr val="accent2">
                    <a:lumMod val="75000"/>
                  </a:schemeClr>
                </a:solidFill>
              </a:rPr>
              <a:t>Objective</a:t>
            </a:r>
          </a:p>
          <a:p>
            <a:r>
              <a:rPr lang="en-US" dirty="0"/>
              <a:t>Reduce back orders and optimize inventory settings by aligning reorder points, safety stock, and lead times with each product’s demand pattern.</a:t>
            </a:r>
          </a:p>
          <a:p>
            <a:endParaRPr lang="en-CA" dirty="0"/>
          </a:p>
        </p:txBody>
      </p:sp>
      <p:cxnSp>
        <p:nvCxnSpPr>
          <p:cNvPr id="6" name="Straight Connector 5">
            <a:extLst>
              <a:ext uri="{FF2B5EF4-FFF2-40B4-BE49-F238E27FC236}">
                <a16:creationId xmlns:a16="http://schemas.microsoft.com/office/drawing/2014/main" id="{453E19E5-ECF9-9CAC-1F16-692D0AE7FCFF}"/>
              </a:ext>
            </a:extLst>
          </p:cNvPr>
          <p:cNvCxnSpPr>
            <a:cxnSpLocks/>
          </p:cNvCxnSpPr>
          <p:nvPr/>
        </p:nvCxnSpPr>
        <p:spPr>
          <a:xfrm>
            <a:off x="771525" y="3038475"/>
            <a:ext cx="10648950" cy="0"/>
          </a:xfrm>
          <a:prstGeom prst="line">
            <a:avLst/>
          </a:prstGeom>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1328756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B255C6-1E2E-E4BD-2E9F-B3321C22A292}"/>
              </a:ext>
            </a:extLst>
          </p:cNvPr>
          <p:cNvSpPr>
            <a:spLocks noGrp="1"/>
          </p:cNvSpPr>
          <p:nvPr>
            <p:ph type="title"/>
          </p:nvPr>
        </p:nvSpPr>
        <p:spPr>
          <a:xfrm>
            <a:off x="612774" y="329565"/>
            <a:ext cx="5321301" cy="727710"/>
          </a:xfrm>
        </p:spPr>
        <p:txBody>
          <a:bodyPr anchor="b">
            <a:normAutofit fontScale="90000"/>
          </a:bodyPr>
          <a:lstStyle/>
          <a:p>
            <a:r>
              <a:rPr lang="en-US" dirty="0"/>
              <a:t>Back Order </a:t>
            </a:r>
            <a:br>
              <a:rPr lang="en-US" dirty="0"/>
            </a:br>
            <a:r>
              <a:rPr lang="en-US" sz="1800" dirty="0"/>
              <a:t>2025-11-10 to 2026-05-25</a:t>
            </a:r>
            <a:endParaRPr lang="en-US" dirty="0"/>
          </a:p>
        </p:txBody>
      </p:sp>
      <p:sp>
        <p:nvSpPr>
          <p:cNvPr id="10" name="Text Placeholder 2">
            <a:extLst>
              <a:ext uri="{FF2B5EF4-FFF2-40B4-BE49-F238E27FC236}">
                <a16:creationId xmlns:a16="http://schemas.microsoft.com/office/drawing/2014/main" id="{39DA3C40-57AB-A23B-88A7-39E82D2025D4}"/>
              </a:ext>
            </a:extLst>
          </p:cNvPr>
          <p:cNvSpPr>
            <a:spLocks noGrp="1"/>
          </p:cNvSpPr>
          <p:nvPr>
            <p:ph sz="quarter" idx="14"/>
          </p:nvPr>
        </p:nvSpPr>
        <p:spPr>
          <a:xfrm>
            <a:off x="612774" y="1257299"/>
            <a:ext cx="3768726" cy="5095875"/>
          </a:xfrm>
        </p:spPr>
        <p:txBody>
          <a:bodyPr>
            <a:normAutofit lnSpcReduction="10000"/>
          </a:bodyPr>
          <a:lstStyle/>
          <a:p>
            <a:pPr marL="285750" indent="-285750">
              <a:buFontTx/>
              <a:buChar char="-"/>
            </a:pPr>
            <a:r>
              <a:rPr lang="en-US" i="1" dirty="0"/>
              <a:t>ONLY</a:t>
            </a:r>
            <a:r>
              <a:rPr lang="en-US" dirty="0"/>
              <a:t> Main Warehouse</a:t>
            </a:r>
          </a:p>
          <a:p>
            <a:pPr marL="285750" indent="-285750">
              <a:buFontTx/>
              <a:buChar char="-"/>
            </a:pPr>
            <a:r>
              <a:rPr lang="en-US" i="1" dirty="0"/>
              <a:t>Exclude</a:t>
            </a:r>
            <a:r>
              <a:rPr lang="en-US" dirty="0"/>
              <a:t> Wholesale SO</a:t>
            </a:r>
          </a:p>
          <a:p>
            <a:pPr marL="0" indent="0">
              <a:buNone/>
            </a:pPr>
            <a:endParaRPr lang="en-US" dirty="0"/>
          </a:p>
          <a:p>
            <a:pPr marL="0" indent="0">
              <a:buNone/>
            </a:pPr>
            <a:r>
              <a:rPr lang="en-US" sz="1400" b="1" dirty="0"/>
              <a:t>What the chart shows</a:t>
            </a:r>
          </a:p>
          <a:p>
            <a:pPr marL="285750" indent="-285750">
              <a:buFontTx/>
              <a:buChar char="-"/>
            </a:pPr>
            <a:r>
              <a:rPr lang="en-US" sz="1400" dirty="0"/>
              <a:t>Average daily Units back-ordered held near the 3,055 pre-May from Nov 2025 through April 2026</a:t>
            </a:r>
          </a:p>
          <a:p>
            <a:pPr marL="285750" indent="-285750">
              <a:buFontTx/>
              <a:buChar char="-"/>
            </a:pPr>
            <a:r>
              <a:rPr lang="en-US" sz="1400" dirty="0"/>
              <a:t>Volume ramped sharply from beginning of May 2026 and peaked at ~13,500–14,000 units in late May — roughly 3× the prior baseline, pulling the overall mean to 4,337.</a:t>
            </a:r>
          </a:p>
          <a:p>
            <a:pPr marL="285750" indent="-285750">
              <a:buFontTx/>
              <a:buChar char="-"/>
            </a:pPr>
            <a:r>
              <a:rPr lang="en-US" sz="1400" dirty="0"/>
              <a:t>Back-order value (CAD$) tracks the same pattern: pre-May mean ~$186K, climbing to a ~$590K peak by late May (overall mean $227K).</a:t>
            </a:r>
          </a:p>
        </p:txBody>
      </p:sp>
      <p:pic>
        <p:nvPicPr>
          <p:cNvPr id="18" name="Picture 17">
            <a:extLst>
              <a:ext uri="{FF2B5EF4-FFF2-40B4-BE49-F238E27FC236}">
                <a16:creationId xmlns:a16="http://schemas.microsoft.com/office/drawing/2014/main" id="{039DC3E5-4E9A-3C3A-4821-53ED29D19310}"/>
              </a:ext>
            </a:extLst>
          </p:cNvPr>
          <p:cNvPicPr>
            <a:picLocks noChangeAspect="1"/>
          </p:cNvPicPr>
          <p:nvPr/>
        </p:nvPicPr>
        <p:blipFill>
          <a:blip r:embed="rId2"/>
          <a:stretch>
            <a:fillRect/>
          </a:stretch>
        </p:blipFill>
        <p:spPr>
          <a:xfrm>
            <a:off x="4572000" y="1206500"/>
            <a:ext cx="7315200" cy="4876800"/>
          </a:xfrm>
          <a:prstGeom prst="rect">
            <a:avLst/>
          </a:prstGeom>
        </p:spPr>
      </p:pic>
      <p:sp>
        <p:nvSpPr>
          <p:cNvPr id="3" name="Rectangle: Rounded Corners 2">
            <a:extLst>
              <a:ext uri="{FF2B5EF4-FFF2-40B4-BE49-F238E27FC236}">
                <a16:creationId xmlns:a16="http://schemas.microsoft.com/office/drawing/2014/main" id="{B7D1CD65-C259-4B8E-A8F9-90808E3C6E20}"/>
              </a:ext>
            </a:extLst>
          </p:cNvPr>
          <p:cNvSpPr/>
          <p:nvPr/>
        </p:nvSpPr>
        <p:spPr>
          <a:xfrm>
            <a:off x="5000627" y="171450"/>
            <a:ext cx="2514600" cy="825500"/>
          </a:xfrm>
          <a:prstGeom prst="roundRect">
            <a:avLst/>
          </a:prstGeom>
          <a:solidFill>
            <a:srgbClr val="169C9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buNone/>
            </a:pPr>
            <a:r>
              <a:rPr lang="en-US" sz="2000" b="1" dirty="0">
                <a:solidFill>
                  <a:srgbClr val="FFFFFF"/>
                </a:solidFill>
              </a:rPr>
              <a:t>4,337</a:t>
            </a:r>
          </a:p>
          <a:p>
            <a:pPr algn="ctr">
              <a:buNone/>
            </a:pPr>
            <a:r>
              <a:rPr lang="en-US" sz="1200" dirty="0">
                <a:solidFill>
                  <a:srgbClr val="FFFFFF"/>
                </a:solidFill>
              </a:rPr>
              <a:t>Avg. Units in Back Order</a:t>
            </a:r>
          </a:p>
        </p:txBody>
      </p:sp>
      <p:sp>
        <p:nvSpPr>
          <p:cNvPr id="4" name="Rectangle: Rounded Corners 3">
            <a:extLst>
              <a:ext uri="{FF2B5EF4-FFF2-40B4-BE49-F238E27FC236}">
                <a16:creationId xmlns:a16="http://schemas.microsoft.com/office/drawing/2014/main" id="{0FB40BE7-0E07-484E-8F4C-68782F81A656}"/>
              </a:ext>
            </a:extLst>
          </p:cNvPr>
          <p:cNvSpPr/>
          <p:nvPr/>
        </p:nvSpPr>
        <p:spPr>
          <a:xfrm>
            <a:off x="7753350" y="171450"/>
            <a:ext cx="2409825" cy="822325"/>
          </a:xfrm>
          <a:prstGeom prst="roundRect">
            <a:avLst/>
          </a:prstGeom>
          <a:solidFill>
            <a:srgbClr val="E15C3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buNone/>
            </a:pPr>
            <a:r>
              <a:rPr lang="en-US" sz="2000" b="1" dirty="0">
                <a:solidFill>
                  <a:srgbClr val="FFFFFF"/>
                </a:solidFill>
              </a:rPr>
              <a:t>$226,505</a:t>
            </a:r>
          </a:p>
          <a:p>
            <a:pPr algn="ctr">
              <a:buNone/>
            </a:pPr>
            <a:r>
              <a:rPr lang="en-US" sz="1200" dirty="0">
                <a:solidFill>
                  <a:srgbClr val="FFFFFF"/>
                </a:solidFill>
              </a:rPr>
              <a:t>Avg. Value in Back Order</a:t>
            </a:r>
          </a:p>
        </p:txBody>
      </p:sp>
    </p:spTree>
    <p:extLst>
      <p:ext uri="{BB962C8B-B14F-4D97-AF65-F5344CB8AC3E}">
        <p14:creationId xmlns:p14="http://schemas.microsoft.com/office/powerpoint/2010/main" val="28724225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25659-C646-79E5-894E-909203AA43EE}"/>
              </a:ext>
            </a:extLst>
          </p:cNvPr>
          <p:cNvSpPr>
            <a:spLocks noGrp="1"/>
          </p:cNvSpPr>
          <p:nvPr>
            <p:ph type="title"/>
          </p:nvPr>
        </p:nvSpPr>
        <p:spPr>
          <a:xfrm>
            <a:off x="612648" y="548640"/>
            <a:ext cx="10653578" cy="574490"/>
          </a:xfrm>
        </p:spPr>
        <p:txBody>
          <a:bodyPr>
            <a:normAutofit fontScale="90000"/>
          </a:bodyPr>
          <a:lstStyle/>
          <a:p>
            <a:r>
              <a:rPr lang="en-CA" dirty="0"/>
              <a:t>Key Components of Demand Planning</a:t>
            </a:r>
            <a:br>
              <a:rPr lang="en-CA" dirty="0"/>
            </a:br>
            <a:endParaRPr lang="en-CA" dirty="0"/>
          </a:p>
        </p:txBody>
      </p:sp>
      <p:sp>
        <p:nvSpPr>
          <p:cNvPr id="12" name="Step0Card">
            <a:extLst>
              <a:ext uri="{FF2B5EF4-FFF2-40B4-BE49-F238E27FC236}">
                <a16:creationId xmlns:a16="http://schemas.microsoft.com/office/drawing/2014/main" id="{A3D4F843-2FFD-4E49-9A44-94B180223123}"/>
              </a:ext>
            </a:extLst>
          </p:cNvPr>
          <p:cNvSpPr/>
          <p:nvPr/>
        </p:nvSpPr>
        <p:spPr>
          <a:xfrm>
            <a:off x="5207000" y="1682750"/>
            <a:ext cx="1778000" cy="1079500"/>
          </a:xfrm>
          <a:prstGeom prst="roundRect">
            <a:avLst/>
          </a:prstGeom>
          <a:solidFill>
            <a:srgbClr val="E96B5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lnSpc>
                <a:spcPct val="100000"/>
              </a:lnSpc>
              <a:spcBef>
                <a:spcPts val="0"/>
              </a:spcBef>
              <a:buNone/>
            </a:pPr>
            <a:r>
              <a:rPr lang="en-CA" sz="1300" b="1" dirty="0">
                <a:solidFill>
                  <a:srgbClr val="FFFFFF"/>
                </a:solidFill>
              </a:rPr>
              <a:t>Step 01</a:t>
            </a:r>
          </a:p>
          <a:p>
            <a:pPr algn="ctr">
              <a:lnSpc>
                <a:spcPct val="100000"/>
              </a:lnSpc>
              <a:spcBef>
                <a:spcPts val="150"/>
              </a:spcBef>
              <a:buNone/>
            </a:pPr>
            <a:r>
              <a:rPr lang="en-CA" sz="1200" b="1" dirty="0">
                <a:solidFill>
                  <a:srgbClr val="FFFFFF"/>
                </a:solidFill>
              </a:rPr>
              <a:t>Product Management</a:t>
            </a:r>
          </a:p>
          <a:p>
            <a:pPr algn="ctr">
              <a:lnSpc>
                <a:spcPct val="110000"/>
              </a:lnSpc>
              <a:spcBef>
                <a:spcPts val="150"/>
              </a:spcBef>
              <a:buNone/>
            </a:pPr>
            <a:r>
              <a:rPr lang="en-CA" sz="1000" dirty="0">
                <a:solidFill>
                  <a:srgbClr val="FFFFFF"/>
                </a:solidFill>
              </a:rPr>
              <a:t>Up-to-date product info</a:t>
            </a:r>
          </a:p>
        </p:txBody>
      </p:sp>
      <p:sp>
        <p:nvSpPr>
          <p:cNvPr id="13" name="Step1Card">
            <a:extLst>
              <a:ext uri="{FF2B5EF4-FFF2-40B4-BE49-F238E27FC236}">
                <a16:creationId xmlns:a16="http://schemas.microsoft.com/office/drawing/2014/main" id="{8D216B09-4211-4BAD-AC71-82B6A2E0F3E2}"/>
              </a:ext>
            </a:extLst>
          </p:cNvPr>
          <p:cNvSpPr/>
          <p:nvPr/>
        </p:nvSpPr>
        <p:spPr>
          <a:xfrm>
            <a:off x="7156011" y="3048000"/>
            <a:ext cx="1778000" cy="1079500"/>
          </a:xfrm>
          <a:prstGeom prst="roundRect">
            <a:avLst/>
          </a:prstGeom>
          <a:solidFill>
            <a:srgbClr val="169C9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lnSpc>
                <a:spcPct val="100000"/>
              </a:lnSpc>
              <a:spcBef>
                <a:spcPts val="0"/>
              </a:spcBef>
              <a:buNone/>
            </a:pPr>
            <a:r>
              <a:rPr lang="en-CA" sz="1300" b="1" dirty="0">
                <a:solidFill>
                  <a:srgbClr val="FFFFFF"/>
                </a:solidFill>
              </a:rPr>
              <a:t>Step 02</a:t>
            </a:r>
          </a:p>
          <a:p>
            <a:pPr algn="ctr">
              <a:lnSpc>
                <a:spcPct val="100000"/>
              </a:lnSpc>
              <a:spcBef>
                <a:spcPts val="150"/>
              </a:spcBef>
              <a:buNone/>
            </a:pPr>
            <a:r>
              <a:rPr lang="en-CA" sz="1200" b="1" dirty="0">
                <a:solidFill>
                  <a:srgbClr val="FFFFFF"/>
                </a:solidFill>
              </a:rPr>
              <a:t>Statistical Forecast</a:t>
            </a:r>
          </a:p>
          <a:p>
            <a:pPr algn="ctr">
              <a:lnSpc>
                <a:spcPct val="110000"/>
              </a:lnSpc>
              <a:spcBef>
                <a:spcPts val="150"/>
              </a:spcBef>
              <a:buNone/>
            </a:pPr>
            <a:r>
              <a:rPr lang="en-CA" sz="1000" dirty="0">
                <a:solidFill>
                  <a:srgbClr val="FFFFFF"/>
                </a:solidFill>
              </a:rPr>
              <a:t>History sets the baseline</a:t>
            </a:r>
          </a:p>
        </p:txBody>
      </p:sp>
      <p:sp>
        <p:nvSpPr>
          <p:cNvPr id="14" name="Step2Card">
            <a:extLst>
              <a:ext uri="{FF2B5EF4-FFF2-40B4-BE49-F238E27FC236}">
                <a16:creationId xmlns:a16="http://schemas.microsoft.com/office/drawing/2014/main" id="{E6478A57-D8C4-4EAB-94F4-4490153C6B25}"/>
              </a:ext>
            </a:extLst>
          </p:cNvPr>
          <p:cNvSpPr/>
          <p:nvPr/>
        </p:nvSpPr>
        <p:spPr>
          <a:xfrm>
            <a:off x="6583905" y="5128927"/>
            <a:ext cx="1778000" cy="1079500"/>
          </a:xfrm>
          <a:prstGeom prst="roundRect">
            <a:avLst/>
          </a:prstGeom>
          <a:solidFill>
            <a:srgbClr val="E8945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lnSpc>
                <a:spcPct val="100000"/>
              </a:lnSpc>
              <a:spcBef>
                <a:spcPts val="0"/>
              </a:spcBef>
              <a:buNone/>
            </a:pPr>
            <a:r>
              <a:rPr lang="en-CA" sz="1300" b="1" dirty="0">
                <a:solidFill>
                  <a:srgbClr val="FFFFFF"/>
                </a:solidFill>
              </a:rPr>
              <a:t>Step 03</a:t>
            </a:r>
          </a:p>
          <a:p>
            <a:pPr algn="ctr">
              <a:lnSpc>
                <a:spcPct val="100000"/>
              </a:lnSpc>
              <a:spcBef>
                <a:spcPts val="150"/>
              </a:spcBef>
              <a:buNone/>
            </a:pPr>
            <a:r>
              <a:rPr lang="en-CA" sz="1200" b="1" dirty="0">
                <a:solidFill>
                  <a:srgbClr val="FFFFFF"/>
                </a:solidFill>
              </a:rPr>
              <a:t>Sales Overrides</a:t>
            </a:r>
          </a:p>
          <a:p>
            <a:pPr algn="ctr">
              <a:lnSpc>
                <a:spcPct val="110000"/>
              </a:lnSpc>
              <a:spcBef>
                <a:spcPts val="150"/>
              </a:spcBef>
              <a:buNone/>
            </a:pPr>
            <a:r>
              <a:rPr lang="en-CA" sz="1000" dirty="0">
                <a:solidFill>
                  <a:srgbClr val="FFFFFF"/>
                </a:solidFill>
              </a:rPr>
              <a:t>Capture market input</a:t>
            </a:r>
          </a:p>
        </p:txBody>
      </p:sp>
      <p:sp>
        <p:nvSpPr>
          <p:cNvPr id="15" name="Step3Card">
            <a:extLst>
              <a:ext uri="{FF2B5EF4-FFF2-40B4-BE49-F238E27FC236}">
                <a16:creationId xmlns:a16="http://schemas.microsoft.com/office/drawing/2014/main" id="{A098048F-AFE4-4F19-8AA2-A2F73524C740}"/>
              </a:ext>
            </a:extLst>
          </p:cNvPr>
          <p:cNvSpPr/>
          <p:nvPr/>
        </p:nvSpPr>
        <p:spPr>
          <a:xfrm>
            <a:off x="4087269" y="5128927"/>
            <a:ext cx="1778000" cy="1079500"/>
          </a:xfrm>
          <a:prstGeom prst="roundRect">
            <a:avLst/>
          </a:prstGeom>
          <a:solidFill>
            <a:srgbClr val="5E3B3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lnSpc>
                <a:spcPct val="100000"/>
              </a:lnSpc>
              <a:spcBef>
                <a:spcPts val="0"/>
              </a:spcBef>
              <a:buNone/>
            </a:pPr>
            <a:r>
              <a:rPr lang="en-CA" sz="1300" b="1" dirty="0">
                <a:solidFill>
                  <a:srgbClr val="FFFFFF"/>
                </a:solidFill>
              </a:rPr>
              <a:t>Step 04</a:t>
            </a:r>
          </a:p>
          <a:p>
            <a:pPr algn="ctr">
              <a:lnSpc>
                <a:spcPct val="100000"/>
              </a:lnSpc>
              <a:spcBef>
                <a:spcPts val="150"/>
              </a:spcBef>
              <a:buNone/>
            </a:pPr>
            <a:r>
              <a:rPr lang="en-CA" sz="1200" b="1" dirty="0">
                <a:solidFill>
                  <a:srgbClr val="FFFFFF"/>
                </a:solidFill>
              </a:rPr>
              <a:t>Promotions</a:t>
            </a:r>
          </a:p>
          <a:p>
            <a:pPr algn="ctr">
              <a:lnSpc>
                <a:spcPct val="110000"/>
              </a:lnSpc>
              <a:spcBef>
                <a:spcPts val="150"/>
              </a:spcBef>
              <a:buNone/>
            </a:pPr>
            <a:r>
              <a:rPr lang="en-CA" sz="1000" dirty="0">
                <a:solidFill>
                  <a:srgbClr val="FFFFFF"/>
                </a:solidFill>
              </a:rPr>
              <a:t>Plan for demand spikes</a:t>
            </a:r>
          </a:p>
        </p:txBody>
      </p:sp>
      <p:sp>
        <p:nvSpPr>
          <p:cNvPr id="16" name="Step4Card">
            <a:extLst>
              <a:ext uri="{FF2B5EF4-FFF2-40B4-BE49-F238E27FC236}">
                <a16:creationId xmlns:a16="http://schemas.microsoft.com/office/drawing/2014/main" id="{E548B72A-32E5-4087-A959-0494F5EEF5AE}"/>
              </a:ext>
            </a:extLst>
          </p:cNvPr>
          <p:cNvSpPr/>
          <p:nvPr/>
        </p:nvSpPr>
        <p:spPr>
          <a:xfrm>
            <a:off x="3395237" y="2999072"/>
            <a:ext cx="1778000" cy="1079500"/>
          </a:xfrm>
          <a:prstGeom prst="roundRect">
            <a:avLst/>
          </a:prstGeom>
          <a:solidFill>
            <a:srgbClr val="2C393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lnSpc>
                <a:spcPct val="100000"/>
              </a:lnSpc>
              <a:spcBef>
                <a:spcPts val="0"/>
              </a:spcBef>
              <a:buNone/>
            </a:pPr>
            <a:r>
              <a:rPr lang="en-CA" sz="1300" b="1" dirty="0">
                <a:solidFill>
                  <a:srgbClr val="FFFFFF"/>
                </a:solidFill>
              </a:rPr>
              <a:t>Step 05</a:t>
            </a:r>
          </a:p>
          <a:p>
            <a:pPr algn="ctr">
              <a:lnSpc>
                <a:spcPct val="100000"/>
              </a:lnSpc>
              <a:spcBef>
                <a:spcPts val="150"/>
              </a:spcBef>
              <a:buNone/>
            </a:pPr>
            <a:r>
              <a:rPr lang="en-CA" sz="1200" b="1" dirty="0">
                <a:solidFill>
                  <a:srgbClr val="FFFFFF"/>
                </a:solidFill>
              </a:rPr>
              <a:t>Monitor &amp; Improve</a:t>
            </a:r>
          </a:p>
          <a:p>
            <a:pPr algn="ctr">
              <a:lnSpc>
                <a:spcPct val="110000"/>
              </a:lnSpc>
              <a:spcBef>
                <a:spcPts val="150"/>
              </a:spcBef>
              <a:buNone/>
            </a:pPr>
            <a:r>
              <a:rPr lang="en-CA" sz="1000" dirty="0">
                <a:solidFill>
                  <a:srgbClr val="FFFFFF"/>
                </a:solidFill>
              </a:rPr>
              <a:t>Learn, refine, repeat</a:t>
            </a:r>
          </a:p>
        </p:txBody>
      </p:sp>
      <p:sp>
        <p:nvSpPr>
          <p:cNvPr id="18" name="FlowArrow0">
            <a:extLst>
              <a:ext uri="{FF2B5EF4-FFF2-40B4-BE49-F238E27FC236}">
                <a16:creationId xmlns:a16="http://schemas.microsoft.com/office/drawing/2014/main" id="{61156C08-A694-4004-A853-DC7AEF25DE7A}"/>
              </a:ext>
            </a:extLst>
          </p:cNvPr>
          <p:cNvSpPr/>
          <p:nvPr/>
        </p:nvSpPr>
        <p:spPr>
          <a:xfrm rot="2160000">
            <a:off x="7029011" y="2585968"/>
            <a:ext cx="254000" cy="165100"/>
          </a:xfrm>
          <a:prstGeom prst="rightArrow">
            <a:avLst/>
          </a:prstGeom>
          <a:solidFill>
            <a:srgbClr val="169C9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CA"/>
          </a:p>
        </p:txBody>
      </p:sp>
      <p:sp>
        <p:nvSpPr>
          <p:cNvPr id="19" name="FlowArrow1">
            <a:extLst>
              <a:ext uri="{FF2B5EF4-FFF2-40B4-BE49-F238E27FC236}">
                <a16:creationId xmlns:a16="http://schemas.microsoft.com/office/drawing/2014/main" id="{AC8B939E-9114-4722-9995-0A48AE4B6143}"/>
              </a:ext>
            </a:extLst>
          </p:cNvPr>
          <p:cNvSpPr/>
          <p:nvPr/>
        </p:nvSpPr>
        <p:spPr>
          <a:xfrm rot="6480000">
            <a:off x="7684135" y="4602231"/>
            <a:ext cx="254000" cy="165100"/>
          </a:xfrm>
          <a:prstGeom prst="rightArrow">
            <a:avLst/>
          </a:prstGeom>
          <a:solidFill>
            <a:srgbClr val="169C9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CA"/>
          </a:p>
        </p:txBody>
      </p:sp>
      <p:sp>
        <p:nvSpPr>
          <p:cNvPr id="20" name="FlowArrow2">
            <a:extLst>
              <a:ext uri="{FF2B5EF4-FFF2-40B4-BE49-F238E27FC236}">
                <a16:creationId xmlns:a16="http://schemas.microsoft.com/office/drawing/2014/main" id="{69D5DF91-7C76-4658-8446-4905EC576574}"/>
              </a:ext>
            </a:extLst>
          </p:cNvPr>
          <p:cNvSpPr/>
          <p:nvPr/>
        </p:nvSpPr>
        <p:spPr>
          <a:xfrm rot="10800000">
            <a:off x="5969000" y="5848350"/>
            <a:ext cx="254000" cy="165100"/>
          </a:xfrm>
          <a:prstGeom prst="rightArrow">
            <a:avLst/>
          </a:prstGeom>
          <a:solidFill>
            <a:srgbClr val="169C9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CA"/>
          </a:p>
        </p:txBody>
      </p:sp>
      <p:sp>
        <p:nvSpPr>
          <p:cNvPr id="21" name="FlowArrow3">
            <a:extLst>
              <a:ext uri="{FF2B5EF4-FFF2-40B4-BE49-F238E27FC236}">
                <a16:creationId xmlns:a16="http://schemas.microsoft.com/office/drawing/2014/main" id="{74644995-6B04-4560-ADAD-EC0EDAA6CF5A}"/>
              </a:ext>
            </a:extLst>
          </p:cNvPr>
          <p:cNvSpPr/>
          <p:nvPr/>
        </p:nvSpPr>
        <p:spPr>
          <a:xfrm rot="15120000">
            <a:off x="4253864" y="4602231"/>
            <a:ext cx="254000" cy="165100"/>
          </a:xfrm>
          <a:prstGeom prst="rightArrow">
            <a:avLst/>
          </a:prstGeom>
          <a:solidFill>
            <a:srgbClr val="169C9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CA"/>
          </a:p>
        </p:txBody>
      </p:sp>
      <p:sp>
        <p:nvSpPr>
          <p:cNvPr id="22" name="FlowArrow4">
            <a:extLst>
              <a:ext uri="{FF2B5EF4-FFF2-40B4-BE49-F238E27FC236}">
                <a16:creationId xmlns:a16="http://schemas.microsoft.com/office/drawing/2014/main" id="{90E09010-1B7A-4043-A9E3-F0BD76BA5246}"/>
              </a:ext>
            </a:extLst>
          </p:cNvPr>
          <p:cNvSpPr/>
          <p:nvPr/>
        </p:nvSpPr>
        <p:spPr>
          <a:xfrm rot="19440000">
            <a:off x="4908988" y="2585968"/>
            <a:ext cx="254000" cy="165100"/>
          </a:xfrm>
          <a:prstGeom prst="rightArrow">
            <a:avLst/>
          </a:prstGeom>
          <a:solidFill>
            <a:srgbClr val="169C9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CA"/>
          </a:p>
        </p:txBody>
      </p:sp>
      <p:sp>
        <p:nvSpPr>
          <p:cNvPr id="17" name="CycleCenterLabel">
            <a:extLst>
              <a:ext uri="{FF2B5EF4-FFF2-40B4-BE49-F238E27FC236}">
                <a16:creationId xmlns:a16="http://schemas.microsoft.com/office/drawing/2014/main" id="{53AC7F4C-A9FF-4EF3-9DF0-B49F633BE35F}"/>
              </a:ext>
            </a:extLst>
          </p:cNvPr>
          <p:cNvSpPr txBox="1"/>
          <p:nvPr/>
        </p:nvSpPr>
        <p:spPr>
          <a:xfrm>
            <a:off x="5534640" y="3663352"/>
            <a:ext cx="1778000" cy="762000"/>
          </a:xfrm>
          <a:prstGeom prst="rect">
            <a:avLst/>
          </a:prstGeom>
          <a:noFill/>
        </p:spPr>
        <p:txBody>
          <a:bodyPr vertOverflow="overflow" vert="horz" wrap="square" rtlCol="0" anchor="ctr" anchorCtr="0">
            <a:noAutofit/>
          </a:bodyPr>
          <a:lstStyle/>
          <a:p>
            <a:pPr algn="l"/>
            <a:r>
              <a:rPr lang="en-CA" sz="1400" b="1" dirty="0">
                <a:solidFill>
                  <a:srgbClr val="2C3932"/>
                </a:solidFill>
              </a:rPr>
              <a:t>CYCLE
OF DEMAND
PLANNING</a:t>
            </a:r>
          </a:p>
        </p:txBody>
      </p:sp>
    </p:spTree>
    <p:extLst>
      <p:ext uri="{BB962C8B-B14F-4D97-AF65-F5344CB8AC3E}">
        <p14:creationId xmlns:p14="http://schemas.microsoft.com/office/powerpoint/2010/main" val="36788912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B750E1-014E-2F32-5FE0-025C27322ADF}"/>
              </a:ext>
            </a:extLst>
          </p:cNvPr>
          <p:cNvSpPr>
            <a:spLocks noGrp="1"/>
          </p:cNvSpPr>
          <p:nvPr>
            <p:ph type="title"/>
          </p:nvPr>
        </p:nvSpPr>
        <p:spPr>
          <a:xfrm>
            <a:off x="614677" y="877456"/>
            <a:ext cx="4547873" cy="3142094"/>
          </a:xfrm>
        </p:spPr>
        <p:txBody>
          <a:bodyPr>
            <a:normAutofit fontScale="90000"/>
          </a:bodyPr>
          <a:lstStyle/>
          <a:p>
            <a:r>
              <a:rPr lang="en-US" dirty="0"/>
              <a:t>Introducing to  Inventory Setting:</a:t>
            </a:r>
            <a:br>
              <a:rPr lang="en-US" dirty="0"/>
            </a:br>
            <a:r>
              <a:rPr lang="en-US" dirty="0"/>
              <a:t>------------------------</a:t>
            </a:r>
            <a:br>
              <a:rPr lang="en-US" dirty="0"/>
            </a:br>
            <a:r>
              <a:rPr lang="en-US" dirty="0"/>
              <a:t>Reorder Point</a:t>
            </a:r>
            <a:br>
              <a:rPr lang="en-US" dirty="0"/>
            </a:br>
            <a:r>
              <a:rPr lang="en-US" dirty="0"/>
              <a:t>Lead Time </a:t>
            </a:r>
            <a:br>
              <a:rPr lang="en-US" dirty="0"/>
            </a:br>
            <a:r>
              <a:rPr lang="en-US" dirty="0"/>
              <a:t>Safety Buffer</a:t>
            </a:r>
            <a:br>
              <a:rPr lang="en-US" dirty="0"/>
            </a:br>
            <a:r>
              <a:rPr lang="en-US" dirty="0"/>
              <a:t>Preferred Stock Level</a:t>
            </a:r>
          </a:p>
        </p:txBody>
      </p:sp>
      <p:sp>
        <p:nvSpPr>
          <p:cNvPr id="3" name="Content Placeholder 2">
            <a:extLst>
              <a:ext uri="{FF2B5EF4-FFF2-40B4-BE49-F238E27FC236}">
                <a16:creationId xmlns:a16="http://schemas.microsoft.com/office/drawing/2014/main" id="{A36B70B6-B9DD-8293-E045-C9E0BE21FEB2}"/>
              </a:ext>
            </a:extLst>
          </p:cNvPr>
          <p:cNvSpPr>
            <a:spLocks noGrp="1"/>
          </p:cNvSpPr>
          <p:nvPr>
            <p:ph sz="quarter" idx="13"/>
          </p:nvPr>
        </p:nvSpPr>
        <p:spPr>
          <a:xfrm>
            <a:off x="5522913" y="877456"/>
            <a:ext cx="6054410" cy="3637394"/>
          </a:xfrm>
        </p:spPr>
        <p:txBody>
          <a:bodyPr>
            <a:normAutofit fontScale="92500" lnSpcReduction="10000"/>
          </a:bodyPr>
          <a:lstStyle/>
          <a:p>
            <a:pPr marL="0" indent="0">
              <a:lnSpc>
                <a:spcPct val="110000"/>
              </a:lnSpc>
              <a:spcBef>
                <a:spcPts val="0"/>
              </a:spcBef>
              <a:buNone/>
            </a:pPr>
            <a:r>
              <a:rPr lang="en-US" sz="1400" b="1" dirty="0">
                <a:solidFill>
                  <a:schemeClr val="accent1"/>
                </a:solidFill>
              </a:rPr>
              <a:t>Inventory Setting</a:t>
            </a:r>
          </a:p>
          <a:p>
            <a:pPr marL="0" indent="0">
              <a:lnSpc>
                <a:spcPct val="110000"/>
              </a:lnSpc>
              <a:spcBef>
                <a:spcPts val="0"/>
              </a:spcBef>
              <a:buNone/>
            </a:pPr>
            <a:r>
              <a:rPr lang="en-US" sz="1400" dirty="0"/>
              <a:t>Per-item replenishment rules that tell the system when and how much to reorder for each location.</a:t>
            </a:r>
          </a:p>
          <a:p>
            <a:pPr marL="0" indent="0">
              <a:lnSpc>
                <a:spcPct val="110000"/>
              </a:lnSpc>
              <a:spcBef>
                <a:spcPts val="600"/>
              </a:spcBef>
              <a:buNone/>
            </a:pPr>
            <a:r>
              <a:rPr lang="en-US" sz="1400" b="1" dirty="0">
                <a:solidFill>
                  <a:schemeClr val="accent1"/>
                </a:solidFill>
              </a:rPr>
              <a:t>Reorder Point (Min)</a:t>
            </a:r>
          </a:p>
          <a:p>
            <a:pPr marL="0" indent="0">
              <a:lnSpc>
                <a:spcPct val="110000"/>
              </a:lnSpc>
              <a:spcBef>
                <a:spcPts val="0"/>
              </a:spcBef>
              <a:buNone/>
            </a:pPr>
            <a:r>
              <a:rPr lang="en-US" sz="1400" dirty="0"/>
              <a:t>Stock threshold that triggers reordering — (Avg Daily Sales × Lead Time) + Safety Buffer.</a:t>
            </a:r>
          </a:p>
          <a:p>
            <a:pPr marL="0" indent="0">
              <a:lnSpc>
                <a:spcPct val="110000"/>
              </a:lnSpc>
              <a:spcBef>
                <a:spcPts val="600"/>
              </a:spcBef>
              <a:buNone/>
            </a:pPr>
            <a:r>
              <a:rPr lang="en-US" sz="1400" b="1" dirty="0">
                <a:solidFill>
                  <a:schemeClr val="accent1"/>
                </a:solidFill>
              </a:rPr>
              <a:t>Lead Time</a:t>
            </a:r>
          </a:p>
          <a:p>
            <a:pPr marL="0" indent="0">
              <a:lnSpc>
                <a:spcPct val="110000"/>
              </a:lnSpc>
              <a:spcBef>
                <a:spcPts val="0"/>
              </a:spcBef>
              <a:buNone/>
            </a:pPr>
            <a:r>
              <a:rPr lang="en-US" sz="1400" dirty="0"/>
              <a:t>Days from placing the order to receiving stock. Vendor-specific and informed by demand planner.</a:t>
            </a:r>
          </a:p>
          <a:p>
            <a:pPr marL="0" indent="0">
              <a:lnSpc>
                <a:spcPct val="110000"/>
              </a:lnSpc>
              <a:spcBef>
                <a:spcPts val="600"/>
              </a:spcBef>
              <a:buNone/>
            </a:pPr>
            <a:r>
              <a:rPr lang="en-US" sz="1400" b="1" dirty="0">
                <a:solidFill>
                  <a:schemeClr val="accent1"/>
                </a:solidFill>
              </a:rPr>
              <a:t>Safety Buffer</a:t>
            </a:r>
          </a:p>
          <a:p>
            <a:pPr marL="0" indent="0">
              <a:lnSpc>
                <a:spcPct val="110000"/>
              </a:lnSpc>
              <a:spcBef>
                <a:spcPts val="0"/>
              </a:spcBef>
              <a:buNone/>
            </a:pPr>
            <a:r>
              <a:rPr lang="en-US" sz="1400" dirty="0"/>
              <a:t>Extra units held to absorb demand spikes and supplier delays — protects against stock-outs.</a:t>
            </a:r>
          </a:p>
          <a:p>
            <a:pPr marL="0" indent="0">
              <a:lnSpc>
                <a:spcPct val="110000"/>
              </a:lnSpc>
              <a:spcBef>
                <a:spcPts val="600"/>
              </a:spcBef>
              <a:buNone/>
            </a:pPr>
            <a:r>
              <a:rPr lang="en-US" sz="1400" b="1" dirty="0">
                <a:solidFill>
                  <a:schemeClr val="accent1"/>
                </a:solidFill>
              </a:rPr>
              <a:t>Preferred Stock Level (Max)</a:t>
            </a:r>
          </a:p>
          <a:p>
            <a:pPr marL="0" indent="0">
              <a:lnSpc>
                <a:spcPct val="110000"/>
              </a:lnSpc>
              <a:spcBef>
                <a:spcPts val="0"/>
              </a:spcBef>
              <a:buNone/>
            </a:pPr>
            <a:r>
              <a:rPr lang="en-US" sz="1400" dirty="0"/>
              <a:t>Target on-hand quantity after replenishment. Reorder Point + ( Avg Daily Sales × Review Cycle Days). Therefore, PO size = Max − on-hand − incoming.</a:t>
            </a:r>
          </a:p>
          <a:p>
            <a:pPr marL="0" indent="0">
              <a:lnSpc>
                <a:spcPct val="110000"/>
              </a:lnSpc>
              <a:spcBef>
                <a:spcPts val="0"/>
              </a:spcBef>
              <a:buNone/>
            </a:pPr>
            <a:endParaRPr lang="en-US" sz="1400" dirty="0"/>
          </a:p>
          <a:p>
            <a:pPr marL="0" indent="0">
              <a:lnSpc>
                <a:spcPct val="110000"/>
              </a:lnSpc>
              <a:spcBef>
                <a:spcPts val="0"/>
              </a:spcBef>
              <a:buNone/>
            </a:pPr>
            <a:endParaRPr lang="en-US" sz="1400" dirty="0"/>
          </a:p>
        </p:txBody>
      </p:sp>
      <p:sp>
        <p:nvSpPr>
          <p:cNvPr id="4" name="TextBox 3">
            <a:extLst>
              <a:ext uri="{FF2B5EF4-FFF2-40B4-BE49-F238E27FC236}">
                <a16:creationId xmlns:a16="http://schemas.microsoft.com/office/drawing/2014/main" id="{C55A003B-EE16-9AF2-E746-50DC9342773A}"/>
              </a:ext>
            </a:extLst>
          </p:cNvPr>
          <p:cNvSpPr txBox="1"/>
          <p:nvPr/>
        </p:nvSpPr>
        <p:spPr>
          <a:xfrm>
            <a:off x="614677" y="4810125"/>
            <a:ext cx="11067736" cy="1290418"/>
          </a:xfrm>
          <a:prstGeom prst="rect">
            <a:avLst/>
          </a:prstGeom>
          <a:noFill/>
        </p:spPr>
        <p:txBody>
          <a:bodyPr wrap="square" rtlCol="0">
            <a:spAutoFit/>
          </a:bodyPr>
          <a:lstStyle/>
          <a:p>
            <a:pPr>
              <a:lnSpc>
                <a:spcPct val="150000"/>
              </a:lnSpc>
            </a:pPr>
            <a:r>
              <a:rPr lang="en-CA" dirty="0">
                <a:solidFill>
                  <a:schemeClr val="accent1"/>
                </a:solidFill>
              </a:rPr>
              <a:t>Of the 27,737 active items in NetSuite, only 48.5% (13,454) have ever sold. A single inventory policy won’t fit every item, but tuning settings item-by-item isn’t realistic either — grouping products by demand pattern lets us apply the right rule to each class efficiently.</a:t>
            </a:r>
          </a:p>
        </p:txBody>
      </p:sp>
    </p:spTree>
    <p:extLst>
      <p:ext uri="{BB962C8B-B14F-4D97-AF65-F5344CB8AC3E}">
        <p14:creationId xmlns:p14="http://schemas.microsoft.com/office/powerpoint/2010/main" val="8182815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28C1DF-CD8C-F1F7-9632-C3718DF27A19}"/>
              </a:ext>
            </a:extLst>
          </p:cNvPr>
          <p:cNvSpPr>
            <a:spLocks noGrp="1"/>
          </p:cNvSpPr>
          <p:nvPr>
            <p:ph type="title"/>
          </p:nvPr>
        </p:nvSpPr>
        <p:spPr>
          <a:xfrm>
            <a:off x="612648" y="424445"/>
            <a:ext cx="4778502" cy="556260"/>
          </a:xfrm>
        </p:spPr>
        <p:txBody>
          <a:bodyPr>
            <a:normAutofit fontScale="90000"/>
          </a:bodyPr>
          <a:lstStyle/>
          <a:p>
            <a:r>
              <a:rPr lang="en-CA" dirty="0"/>
              <a:t>Target Products </a:t>
            </a:r>
          </a:p>
        </p:txBody>
      </p:sp>
      <p:sp>
        <p:nvSpPr>
          <p:cNvPr id="7" name="FunnelTier1">
            <a:extLst>
              <a:ext uri="{FF2B5EF4-FFF2-40B4-BE49-F238E27FC236}">
                <a16:creationId xmlns:a16="http://schemas.microsoft.com/office/drawing/2014/main" id="{55B4BFBF-BE95-4D2C-8A16-3169C0C2BC76}"/>
              </a:ext>
            </a:extLst>
          </p:cNvPr>
          <p:cNvSpPr/>
          <p:nvPr/>
        </p:nvSpPr>
        <p:spPr>
          <a:xfrm>
            <a:off x="612648" y="1209305"/>
            <a:ext cx="4826000" cy="812800"/>
          </a:xfrm>
          <a:prstGeom prst="roundRect">
            <a:avLst/>
          </a:prstGeom>
          <a:solidFill>
            <a:srgbClr val="3F8C8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lnSpc>
                <a:spcPct val="100000"/>
              </a:lnSpc>
              <a:spcBef>
                <a:spcPts val="0"/>
              </a:spcBef>
              <a:buNone/>
            </a:pPr>
            <a:r>
              <a:rPr lang="en-CA" sz="2400" b="1" dirty="0">
                <a:solidFill>
                  <a:srgbClr val="FFFFFF"/>
                </a:solidFill>
              </a:rPr>
              <a:t>9407</a:t>
            </a:r>
          </a:p>
          <a:p>
            <a:pPr algn="ctr">
              <a:lnSpc>
                <a:spcPct val="100000"/>
              </a:lnSpc>
              <a:spcBef>
                <a:spcPts val="200"/>
              </a:spcBef>
              <a:buNone/>
            </a:pPr>
            <a:r>
              <a:rPr lang="en-CA" sz="1400" dirty="0">
                <a:solidFill>
                  <a:srgbClr val="FFFFFF"/>
                </a:solidFill>
              </a:rPr>
              <a:t>Sold at least once since 2025 (exclude D2)</a:t>
            </a:r>
          </a:p>
        </p:txBody>
      </p:sp>
      <p:sp>
        <p:nvSpPr>
          <p:cNvPr id="8" name="FunnelTier2">
            <a:extLst>
              <a:ext uri="{FF2B5EF4-FFF2-40B4-BE49-F238E27FC236}">
                <a16:creationId xmlns:a16="http://schemas.microsoft.com/office/drawing/2014/main" id="{271C24B9-E3AF-4C10-9688-A54E6C7A8763}"/>
              </a:ext>
            </a:extLst>
          </p:cNvPr>
          <p:cNvSpPr/>
          <p:nvPr/>
        </p:nvSpPr>
        <p:spPr>
          <a:xfrm>
            <a:off x="-25400000" y="-25400000"/>
            <a:ext cx="1270000" cy="381000"/>
          </a:xfrm>
          <a:prstGeom prst="roundRect">
            <a:avLst/>
          </a:prstGeom>
          <a:solidFill>
            <a:srgbClr val="169C9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lnSpc>
                <a:spcPct val="100000"/>
              </a:lnSpc>
              <a:spcBef>
                <a:spcPts val="0"/>
              </a:spcBef>
              <a:buNone/>
            </a:pPr>
            <a:r>
              <a:rPr lang="en-CA" sz="2400" b="1" dirty="0">
                <a:solidFill>
                  <a:srgbClr val="FFFFFF"/>
                </a:solidFill>
              </a:rPr>
              <a:t>1,368</a:t>
            </a:r>
          </a:p>
          <a:p>
            <a:pPr algn="ctr">
              <a:lnSpc>
                <a:spcPct val="100000"/>
              </a:lnSpc>
              <a:spcBef>
                <a:spcPts val="200"/>
              </a:spcBef>
              <a:buNone/>
            </a:pPr>
            <a:r>
              <a:rPr lang="en-CA" sz="1400" dirty="0">
                <a:solidFill>
                  <a:srgbClr val="FFFFFF"/>
                </a:solidFill>
              </a:rPr>
              <a:t>Top Products (Focus)</a:t>
            </a:r>
          </a:p>
        </p:txBody>
      </p:sp>
      <p:sp>
        <p:nvSpPr>
          <p:cNvPr id="11" name="VennRevenue"/>
          <p:cNvSpPr/>
          <p:nvPr/>
        </p:nvSpPr>
        <p:spPr>
          <a:xfrm>
            <a:off x="7591425" y="1708336"/>
            <a:ext cx="2413000" cy="2413000"/>
          </a:xfrm>
          <a:prstGeom prst="ellipse">
            <a:avLst/>
          </a:prstGeom>
          <a:solidFill>
            <a:srgbClr val="169C9A">
              <a:alpha val="55000"/>
            </a:srgbClr>
          </a:solidFill>
          <a:ln w="12700">
            <a:solidFill>
              <a:srgbClr val="169C9A"/>
            </a:solidFill>
          </a:ln>
        </p:spPr>
        <p:txBody>
          <a:bodyPr wrap="none" anchor="ctr"/>
          <a:lstStyle/>
          <a:p>
            <a:endParaRPr lang="en-US"/>
          </a:p>
        </p:txBody>
      </p:sp>
      <p:sp>
        <p:nvSpPr>
          <p:cNvPr id="12" name="VennMargin"/>
          <p:cNvSpPr/>
          <p:nvPr/>
        </p:nvSpPr>
        <p:spPr>
          <a:xfrm>
            <a:off x="8258175" y="1811682"/>
            <a:ext cx="2066925" cy="2112432"/>
          </a:xfrm>
          <a:prstGeom prst="ellipse">
            <a:avLst/>
          </a:prstGeom>
          <a:solidFill>
            <a:srgbClr val="E89456">
              <a:alpha val="55000"/>
            </a:srgbClr>
          </a:solidFill>
          <a:ln w="12700">
            <a:solidFill>
              <a:srgbClr val="E89456"/>
            </a:solidFill>
          </a:ln>
        </p:spPr>
        <p:txBody>
          <a:bodyPr wrap="none" anchor="ctr"/>
          <a:lstStyle/>
          <a:p>
            <a:endParaRPr lang="en-US" dirty="0"/>
          </a:p>
        </p:txBody>
      </p:sp>
      <p:sp>
        <p:nvSpPr>
          <p:cNvPr id="13" name="VennQuantity"/>
          <p:cNvSpPr/>
          <p:nvPr/>
        </p:nvSpPr>
        <p:spPr>
          <a:xfrm>
            <a:off x="7842250" y="2723091"/>
            <a:ext cx="2660650" cy="2796490"/>
          </a:xfrm>
          <a:prstGeom prst="ellipse">
            <a:avLst/>
          </a:prstGeom>
          <a:solidFill>
            <a:srgbClr val="5E3B3D">
              <a:alpha val="55000"/>
            </a:srgbClr>
          </a:solidFill>
          <a:ln w="12700">
            <a:solidFill>
              <a:srgbClr val="5E3B3D"/>
            </a:solidFill>
          </a:ln>
        </p:spPr>
        <p:txBody>
          <a:bodyPr wrap="none" anchor="ctr"/>
          <a:lstStyle/>
          <a:p>
            <a:endParaRPr lang="en-US"/>
          </a:p>
        </p:txBody>
      </p:sp>
      <p:sp>
        <p:nvSpPr>
          <p:cNvPr id="14" name="VennRevenueLabel"/>
          <p:cNvSpPr txBox="1"/>
          <p:nvPr/>
        </p:nvSpPr>
        <p:spPr>
          <a:xfrm>
            <a:off x="7000875" y="1613959"/>
            <a:ext cx="1079500" cy="408146"/>
          </a:xfrm>
          <a:prstGeom prst="rect">
            <a:avLst/>
          </a:prstGeom>
          <a:noFill/>
        </p:spPr>
        <p:txBody>
          <a:bodyPr wrap="none" anchor="ctr"/>
          <a:lstStyle/>
          <a:p>
            <a:pPr algn="ctr">
              <a:buNone/>
            </a:pPr>
            <a:r>
              <a:rPr lang="en-US" sz="1400" b="1" dirty="0">
                <a:solidFill>
                  <a:srgbClr val="169C9A"/>
                </a:solidFill>
              </a:rPr>
              <a:t>Top </a:t>
            </a:r>
          </a:p>
          <a:p>
            <a:pPr algn="ctr">
              <a:buNone/>
            </a:pPr>
            <a:r>
              <a:rPr lang="en-US" sz="1400" b="1" dirty="0">
                <a:solidFill>
                  <a:srgbClr val="169C9A"/>
                </a:solidFill>
              </a:rPr>
              <a:t>Revenue</a:t>
            </a:r>
          </a:p>
        </p:txBody>
      </p:sp>
      <p:sp>
        <p:nvSpPr>
          <p:cNvPr id="15" name="VennMarginLabel"/>
          <p:cNvSpPr txBox="1"/>
          <p:nvPr/>
        </p:nvSpPr>
        <p:spPr>
          <a:xfrm>
            <a:off x="10258426" y="2916267"/>
            <a:ext cx="1143000" cy="457200"/>
          </a:xfrm>
          <a:prstGeom prst="rect">
            <a:avLst/>
          </a:prstGeom>
          <a:noFill/>
        </p:spPr>
        <p:txBody>
          <a:bodyPr wrap="none" anchor="ctr"/>
          <a:lstStyle/>
          <a:p>
            <a:pPr algn="ctr">
              <a:buNone/>
            </a:pPr>
            <a:r>
              <a:rPr lang="en-US" sz="1400" b="1" dirty="0">
                <a:solidFill>
                  <a:srgbClr val="E89456"/>
                </a:solidFill>
              </a:rPr>
              <a:t>Top </a:t>
            </a:r>
          </a:p>
          <a:p>
            <a:pPr algn="ctr">
              <a:buNone/>
            </a:pPr>
            <a:r>
              <a:rPr lang="en-US" sz="1400" b="1" dirty="0">
                <a:solidFill>
                  <a:srgbClr val="E89456"/>
                </a:solidFill>
              </a:rPr>
              <a:t>Margin</a:t>
            </a:r>
          </a:p>
        </p:txBody>
      </p:sp>
      <p:sp>
        <p:nvSpPr>
          <p:cNvPr id="16" name="VennQuantityLabel"/>
          <p:cNvSpPr txBox="1"/>
          <p:nvPr/>
        </p:nvSpPr>
        <p:spPr>
          <a:xfrm>
            <a:off x="6635750" y="4398620"/>
            <a:ext cx="1651000" cy="355600"/>
          </a:xfrm>
          <a:prstGeom prst="rect">
            <a:avLst/>
          </a:prstGeom>
          <a:noFill/>
        </p:spPr>
        <p:txBody>
          <a:bodyPr wrap="none" anchor="ctr"/>
          <a:lstStyle/>
          <a:p>
            <a:pPr algn="ctr">
              <a:buNone/>
            </a:pPr>
            <a:r>
              <a:rPr lang="en-US" sz="1400" b="1" dirty="0">
                <a:solidFill>
                  <a:srgbClr val="5E3B3D"/>
                </a:solidFill>
              </a:rPr>
              <a:t>Top </a:t>
            </a:r>
          </a:p>
          <a:p>
            <a:pPr algn="ctr">
              <a:buNone/>
            </a:pPr>
            <a:r>
              <a:rPr lang="en-US" sz="1400" b="1" dirty="0">
                <a:solidFill>
                  <a:srgbClr val="5E3B3D"/>
                </a:solidFill>
              </a:rPr>
              <a:t>Quantity</a:t>
            </a:r>
          </a:p>
        </p:txBody>
      </p:sp>
      <p:sp>
        <p:nvSpPr>
          <p:cNvPr id="31" name="TextBox 30">
            <a:extLst>
              <a:ext uri="{FF2B5EF4-FFF2-40B4-BE49-F238E27FC236}">
                <a16:creationId xmlns:a16="http://schemas.microsoft.com/office/drawing/2014/main" id="{436406EA-2E44-3DFD-158F-0B2BB4319DEC}"/>
              </a:ext>
            </a:extLst>
          </p:cNvPr>
          <p:cNvSpPr txBox="1"/>
          <p:nvPr/>
        </p:nvSpPr>
        <p:spPr>
          <a:xfrm>
            <a:off x="612647" y="2250705"/>
            <a:ext cx="5162677" cy="1077218"/>
          </a:xfrm>
          <a:prstGeom prst="rect">
            <a:avLst/>
          </a:prstGeom>
          <a:noFill/>
        </p:spPr>
        <p:txBody>
          <a:bodyPr wrap="square" rtlCol="0">
            <a:spAutoFit/>
          </a:bodyPr>
          <a:lstStyle/>
          <a:p>
            <a:r>
              <a:rPr lang="en-CA" sz="1600" dirty="0"/>
              <a:t>Using sales since 2025 as the baseline, items are ranked on three dimensions: the 80/20 rule defines top revenue and top margin, while top quantity is the 1,000 items with the highest units sold.</a:t>
            </a:r>
          </a:p>
        </p:txBody>
      </p:sp>
      <p:sp>
        <p:nvSpPr>
          <p:cNvPr id="4" name="LensDot_TopRevenue">
            <a:extLst>
              <a:ext uri="{FF2B5EF4-FFF2-40B4-BE49-F238E27FC236}">
                <a16:creationId xmlns:a16="http://schemas.microsoft.com/office/drawing/2014/main" id="{64DF0668-6E7E-484D-87DF-E516082204CA}"/>
              </a:ext>
            </a:extLst>
          </p:cNvPr>
          <p:cNvSpPr/>
          <p:nvPr/>
        </p:nvSpPr>
        <p:spPr>
          <a:xfrm>
            <a:off x="698246" y="3403414"/>
            <a:ext cx="177800" cy="177800"/>
          </a:xfrm>
          <a:prstGeom prst="ellipse">
            <a:avLst/>
          </a:prstGeom>
          <a:solidFill>
            <a:srgbClr val="169C9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CA"/>
          </a:p>
        </p:txBody>
      </p:sp>
      <p:sp>
        <p:nvSpPr>
          <p:cNvPr id="5" name="LensChip_TopRevenue">
            <a:extLst>
              <a:ext uri="{FF2B5EF4-FFF2-40B4-BE49-F238E27FC236}">
                <a16:creationId xmlns:a16="http://schemas.microsoft.com/office/drawing/2014/main" id="{1DC1A08D-29ED-42BD-B8FC-78DE668399C3}"/>
              </a:ext>
            </a:extLst>
          </p:cNvPr>
          <p:cNvSpPr txBox="1"/>
          <p:nvPr/>
        </p:nvSpPr>
        <p:spPr>
          <a:xfrm>
            <a:off x="803147" y="3319270"/>
            <a:ext cx="5038852" cy="850489"/>
          </a:xfrm>
          <a:prstGeom prst="rect">
            <a:avLst/>
          </a:prstGeom>
          <a:noFill/>
        </p:spPr>
        <p:txBody>
          <a:bodyPr vertOverflow="overflow" vert="horz" wrap="square" rtlCol="0" anchor="ctr" anchorCtr="0">
            <a:spAutoFit/>
          </a:bodyPr>
          <a:lstStyle/>
          <a:p>
            <a:pPr>
              <a:lnSpc>
                <a:spcPct val="110000"/>
              </a:lnSpc>
            </a:pPr>
            <a:r>
              <a:rPr lang="en-CA" sz="1400" b="1" dirty="0">
                <a:solidFill>
                  <a:srgbClr val="169C9A"/>
                </a:solidFill>
              </a:rPr>
              <a:t>Top Revenue</a:t>
            </a:r>
            <a:r>
              <a:rPr lang="en-CA" sz="1400" dirty="0">
                <a:solidFill>
                  <a:srgbClr val="2C3932"/>
                </a:solidFill>
              </a:rPr>
              <a:t>  —</a:t>
            </a:r>
            <a:r>
              <a:rPr lang="en-US" sz="1400" dirty="0"/>
              <a:t>Pareto 80/20 rule </a:t>
            </a:r>
            <a:r>
              <a:rPr lang="en-CA" sz="1400" dirty="0">
                <a:solidFill>
                  <a:srgbClr val="2C3932"/>
                </a:solidFill>
              </a:rPr>
              <a:t>by sales $</a:t>
            </a:r>
          </a:p>
          <a:p>
            <a:pPr>
              <a:lnSpc>
                <a:spcPct val="110000"/>
              </a:lnSpc>
            </a:pPr>
            <a:r>
              <a:rPr lang="en-US" sz="1050" dirty="0"/>
              <a:t>80% of 2025 sales came from top 12.62% items. The rest of 20% 2025 sales were composed by bottom 87.38% item. The 2025 sales concentrated heavily on the top 1034 items.</a:t>
            </a:r>
            <a:endParaRPr lang="en-CA" sz="1400" dirty="0">
              <a:solidFill>
                <a:srgbClr val="2C3932"/>
              </a:solidFill>
            </a:endParaRPr>
          </a:p>
        </p:txBody>
      </p:sp>
      <p:sp>
        <p:nvSpPr>
          <p:cNvPr id="6" name="LensDot_TopMargin">
            <a:extLst>
              <a:ext uri="{FF2B5EF4-FFF2-40B4-BE49-F238E27FC236}">
                <a16:creationId xmlns:a16="http://schemas.microsoft.com/office/drawing/2014/main" id="{8DA954AA-2941-476C-9505-E8031E1BABA8}"/>
              </a:ext>
            </a:extLst>
          </p:cNvPr>
          <p:cNvSpPr/>
          <p:nvPr/>
        </p:nvSpPr>
        <p:spPr>
          <a:xfrm>
            <a:off x="698246" y="4245100"/>
            <a:ext cx="177800" cy="177800"/>
          </a:xfrm>
          <a:prstGeom prst="ellipse">
            <a:avLst/>
          </a:prstGeom>
          <a:solidFill>
            <a:srgbClr val="E8945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CA"/>
          </a:p>
        </p:txBody>
      </p:sp>
      <p:sp>
        <p:nvSpPr>
          <p:cNvPr id="9" name="LensChip_TopMargin">
            <a:extLst>
              <a:ext uri="{FF2B5EF4-FFF2-40B4-BE49-F238E27FC236}">
                <a16:creationId xmlns:a16="http://schemas.microsoft.com/office/drawing/2014/main" id="{07265160-0B58-48E5-857D-BBA4E16E3EA3}"/>
              </a:ext>
            </a:extLst>
          </p:cNvPr>
          <p:cNvSpPr txBox="1"/>
          <p:nvPr/>
        </p:nvSpPr>
        <p:spPr>
          <a:xfrm>
            <a:off x="803275" y="4161187"/>
            <a:ext cx="5070475" cy="825675"/>
          </a:xfrm>
          <a:prstGeom prst="rect">
            <a:avLst/>
          </a:prstGeom>
          <a:noFill/>
        </p:spPr>
        <p:txBody>
          <a:bodyPr vertOverflow="overflow" vert="horz" wrap="square" rtlCol="0" anchor="ctr" anchorCtr="0">
            <a:spAutoFit/>
          </a:bodyPr>
          <a:lstStyle/>
          <a:p>
            <a:pPr>
              <a:lnSpc>
                <a:spcPct val="110000"/>
              </a:lnSpc>
            </a:pPr>
            <a:r>
              <a:rPr lang="en-CA" sz="1400" b="1" dirty="0">
                <a:solidFill>
                  <a:srgbClr val="E89456"/>
                </a:solidFill>
              </a:rPr>
              <a:t>Top Margin</a:t>
            </a:r>
            <a:r>
              <a:rPr lang="en-CA" sz="1400" dirty="0">
                <a:solidFill>
                  <a:srgbClr val="2C3932"/>
                </a:solidFill>
              </a:rPr>
              <a:t>  —  </a:t>
            </a:r>
            <a:r>
              <a:rPr lang="en-US" sz="1400" dirty="0"/>
              <a:t>Pareto 80/20 </a:t>
            </a:r>
            <a:r>
              <a:rPr lang="en-CA" sz="1400" dirty="0">
                <a:solidFill>
                  <a:srgbClr val="2C3932"/>
                </a:solidFill>
              </a:rPr>
              <a:t>by margin $</a:t>
            </a:r>
          </a:p>
          <a:p>
            <a:pPr>
              <a:lnSpc>
                <a:spcPct val="110000"/>
              </a:lnSpc>
            </a:pPr>
            <a:r>
              <a:rPr lang="en-US" sz="1000" dirty="0"/>
              <a:t>80% of 2025 margin came from top 9.08% items. The rest of 20% 2025 margin were composed by bottom 90.92% item. The 2025 sales concentrated heavily on the top 744 items, which far exceeds the Pareto 80/20 rule.</a:t>
            </a:r>
            <a:endParaRPr lang="en-CA" sz="800" dirty="0">
              <a:solidFill>
                <a:srgbClr val="2C3932"/>
              </a:solidFill>
            </a:endParaRPr>
          </a:p>
        </p:txBody>
      </p:sp>
      <p:sp>
        <p:nvSpPr>
          <p:cNvPr id="10" name="LensDot_TopQuantity">
            <a:extLst>
              <a:ext uri="{FF2B5EF4-FFF2-40B4-BE49-F238E27FC236}">
                <a16:creationId xmlns:a16="http://schemas.microsoft.com/office/drawing/2014/main" id="{146B8174-5093-4706-AFB6-EC1B73BCF0DD}"/>
              </a:ext>
            </a:extLst>
          </p:cNvPr>
          <p:cNvSpPr/>
          <p:nvPr/>
        </p:nvSpPr>
        <p:spPr>
          <a:xfrm>
            <a:off x="698246" y="5060524"/>
            <a:ext cx="177800" cy="177800"/>
          </a:xfrm>
          <a:prstGeom prst="ellipse">
            <a:avLst/>
          </a:prstGeom>
          <a:solidFill>
            <a:srgbClr val="5E3B3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CA"/>
          </a:p>
        </p:txBody>
      </p:sp>
      <p:sp>
        <p:nvSpPr>
          <p:cNvPr id="17" name="LensChip_TopQuantity">
            <a:extLst>
              <a:ext uri="{FF2B5EF4-FFF2-40B4-BE49-F238E27FC236}">
                <a16:creationId xmlns:a16="http://schemas.microsoft.com/office/drawing/2014/main" id="{B01FBD9F-72D9-4FB3-AF2D-E5A468CD1AA1}"/>
              </a:ext>
            </a:extLst>
          </p:cNvPr>
          <p:cNvSpPr txBox="1"/>
          <p:nvPr/>
        </p:nvSpPr>
        <p:spPr>
          <a:xfrm>
            <a:off x="803146" y="5016485"/>
            <a:ext cx="4972177" cy="850489"/>
          </a:xfrm>
          <a:prstGeom prst="rect">
            <a:avLst/>
          </a:prstGeom>
          <a:noFill/>
        </p:spPr>
        <p:txBody>
          <a:bodyPr vertOverflow="overflow" vert="horz" wrap="square" rtlCol="0" anchor="ctr" anchorCtr="0">
            <a:spAutoFit/>
          </a:bodyPr>
          <a:lstStyle/>
          <a:p>
            <a:pPr marL="0" indent="0">
              <a:lnSpc>
                <a:spcPct val="110000"/>
              </a:lnSpc>
              <a:buNone/>
            </a:pPr>
            <a:r>
              <a:rPr lang="en-CA" sz="1400" b="1" dirty="0">
                <a:solidFill>
                  <a:srgbClr val="5E3B3D"/>
                </a:solidFill>
              </a:rPr>
              <a:t>Top Quantity</a:t>
            </a:r>
            <a:r>
              <a:rPr lang="en-CA" sz="1400" dirty="0">
                <a:solidFill>
                  <a:srgbClr val="2C3932"/>
                </a:solidFill>
              </a:rPr>
              <a:t>  —  1,000 highest by units</a:t>
            </a:r>
          </a:p>
          <a:p>
            <a:pPr marL="0" indent="0">
              <a:lnSpc>
                <a:spcPct val="110000"/>
              </a:lnSpc>
              <a:buNone/>
            </a:pPr>
            <a:r>
              <a:rPr lang="en-CA" sz="1050" dirty="0">
                <a:solidFill>
                  <a:srgbClr val="2C3932"/>
                </a:solidFill>
              </a:rPr>
              <a:t>The mean quantity of the top quantity is  490.51 with std of 1474.63, and median of 90, max of 31281 and min of 55. In other words, there are few outliers that raise the average.</a:t>
            </a:r>
            <a:endParaRPr lang="en-CA" sz="1400" dirty="0">
              <a:solidFill>
                <a:srgbClr val="2C3932"/>
              </a:solidFill>
            </a:endParaRPr>
          </a:p>
        </p:txBody>
      </p:sp>
      <p:sp>
        <p:nvSpPr>
          <p:cNvPr id="18" name="FocusCallout">
            <a:extLst>
              <a:ext uri="{FF2B5EF4-FFF2-40B4-BE49-F238E27FC236}">
                <a16:creationId xmlns:a16="http://schemas.microsoft.com/office/drawing/2014/main" id="{64D934DA-4D20-438E-80E3-0905361544AB}"/>
              </a:ext>
            </a:extLst>
          </p:cNvPr>
          <p:cNvSpPr/>
          <p:nvPr/>
        </p:nvSpPr>
        <p:spPr>
          <a:xfrm>
            <a:off x="696849" y="5988236"/>
            <a:ext cx="5070475" cy="556259"/>
          </a:xfrm>
          <a:prstGeom prst="roundRect">
            <a:avLst/>
          </a:prstGeom>
          <a:solidFill>
            <a:srgbClr val="2C393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lnSpc>
                <a:spcPct val="100000"/>
              </a:lnSpc>
              <a:buNone/>
            </a:pPr>
            <a:r>
              <a:rPr lang="en-CA" sz="2000" b="1" dirty="0">
                <a:solidFill>
                  <a:srgbClr val="FFFFFF"/>
                </a:solidFill>
              </a:rPr>
              <a:t>1,419</a:t>
            </a:r>
            <a:r>
              <a:rPr lang="en-CA" sz="1400" dirty="0">
                <a:solidFill>
                  <a:srgbClr val="FFFFFF"/>
                </a:solidFill>
              </a:rPr>
              <a:t>  Top Products (Focus)  •  482 hit all three lenses</a:t>
            </a:r>
          </a:p>
        </p:txBody>
      </p:sp>
      <p:sp>
        <p:nvSpPr>
          <p:cNvPr id="3" name="TextBox 2">
            <a:extLst>
              <a:ext uri="{FF2B5EF4-FFF2-40B4-BE49-F238E27FC236}">
                <a16:creationId xmlns:a16="http://schemas.microsoft.com/office/drawing/2014/main" id="{6F0819A4-303D-C98A-60A4-903740D9B7C0}"/>
              </a:ext>
            </a:extLst>
          </p:cNvPr>
          <p:cNvSpPr txBox="1"/>
          <p:nvPr/>
        </p:nvSpPr>
        <p:spPr>
          <a:xfrm>
            <a:off x="7708900" y="2908486"/>
            <a:ext cx="609600" cy="279400"/>
          </a:xfrm>
          <a:prstGeom prst="rect">
            <a:avLst/>
          </a:prstGeom>
          <a:noFill/>
        </p:spPr>
        <p:txBody>
          <a:bodyPr wrap="square" rtlCol="0">
            <a:spAutoFit/>
          </a:bodyPr>
          <a:lstStyle/>
          <a:p>
            <a:r>
              <a:rPr lang="en-CA" sz="1200" dirty="0"/>
              <a:t>176</a:t>
            </a:r>
            <a:endParaRPr lang="en-CA" dirty="0"/>
          </a:p>
        </p:txBody>
      </p:sp>
      <p:sp>
        <p:nvSpPr>
          <p:cNvPr id="21" name="TextBox 20">
            <a:extLst>
              <a:ext uri="{FF2B5EF4-FFF2-40B4-BE49-F238E27FC236}">
                <a16:creationId xmlns:a16="http://schemas.microsoft.com/office/drawing/2014/main" id="{83B3D326-885C-1355-19F7-E57A8BFEC786}"/>
              </a:ext>
            </a:extLst>
          </p:cNvPr>
          <p:cNvSpPr txBox="1"/>
          <p:nvPr/>
        </p:nvSpPr>
        <p:spPr>
          <a:xfrm>
            <a:off x="8924396" y="2262902"/>
            <a:ext cx="609600" cy="276999"/>
          </a:xfrm>
          <a:prstGeom prst="rect">
            <a:avLst/>
          </a:prstGeom>
          <a:noFill/>
        </p:spPr>
        <p:txBody>
          <a:bodyPr wrap="square" rtlCol="0">
            <a:spAutoFit/>
          </a:bodyPr>
          <a:lstStyle/>
          <a:p>
            <a:r>
              <a:rPr lang="en-CA" sz="1200" dirty="0"/>
              <a:t>207</a:t>
            </a:r>
            <a:endParaRPr lang="en-CA" dirty="0"/>
          </a:p>
        </p:txBody>
      </p:sp>
      <p:sp>
        <p:nvSpPr>
          <p:cNvPr id="22" name="TextBox 21">
            <a:extLst>
              <a:ext uri="{FF2B5EF4-FFF2-40B4-BE49-F238E27FC236}">
                <a16:creationId xmlns:a16="http://schemas.microsoft.com/office/drawing/2014/main" id="{F2A0E008-E660-BD3D-9253-90348C7A3AF7}"/>
              </a:ext>
            </a:extLst>
          </p:cNvPr>
          <p:cNvSpPr txBox="1"/>
          <p:nvPr/>
        </p:nvSpPr>
        <p:spPr>
          <a:xfrm>
            <a:off x="9982200" y="2610723"/>
            <a:ext cx="609600" cy="279400"/>
          </a:xfrm>
          <a:prstGeom prst="rect">
            <a:avLst/>
          </a:prstGeom>
          <a:noFill/>
        </p:spPr>
        <p:txBody>
          <a:bodyPr wrap="square" rtlCol="0">
            <a:spAutoFit/>
          </a:bodyPr>
          <a:lstStyle/>
          <a:p>
            <a:r>
              <a:rPr lang="en-CA" sz="1200" dirty="0"/>
              <a:t>36</a:t>
            </a:r>
          </a:p>
        </p:txBody>
      </p:sp>
      <p:sp>
        <p:nvSpPr>
          <p:cNvPr id="24" name="TextBox 23">
            <a:extLst>
              <a:ext uri="{FF2B5EF4-FFF2-40B4-BE49-F238E27FC236}">
                <a16:creationId xmlns:a16="http://schemas.microsoft.com/office/drawing/2014/main" id="{89B6EF88-3DB2-0E28-3119-4602AB200793}"/>
              </a:ext>
            </a:extLst>
          </p:cNvPr>
          <p:cNvSpPr txBox="1"/>
          <p:nvPr/>
        </p:nvSpPr>
        <p:spPr>
          <a:xfrm>
            <a:off x="9888538" y="3293720"/>
            <a:ext cx="609600" cy="279400"/>
          </a:xfrm>
          <a:prstGeom prst="rect">
            <a:avLst/>
          </a:prstGeom>
          <a:noFill/>
        </p:spPr>
        <p:txBody>
          <a:bodyPr wrap="square">
            <a:spAutoFit/>
          </a:bodyPr>
          <a:lstStyle/>
          <a:p>
            <a:r>
              <a:rPr lang="en-CA" sz="1200" dirty="0"/>
              <a:t>19</a:t>
            </a:r>
            <a:endParaRPr lang="en-CA" dirty="0"/>
          </a:p>
        </p:txBody>
      </p:sp>
      <p:sp>
        <p:nvSpPr>
          <p:cNvPr id="26" name="TextBox 25">
            <a:extLst>
              <a:ext uri="{FF2B5EF4-FFF2-40B4-BE49-F238E27FC236}">
                <a16:creationId xmlns:a16="http://schemas.microsoft.com/office/drawing/2014/main" id="{8AF63CE1-78A4-F68C-939F-BD823BDD722D}"/>
              </a:ext>
            </a:extLst>
          </p:cNvPr>
          <p:cNvSpPr txBox="1"/>
          <p:nvPr/>
        </p:nvSpPr>
        <p:spPr>
          <a:xfrm>
            <a:off x="9090025" y="4735170"/>
            <a:ext cx="609600" cy="307777"/>
          </a:xfrm>
          <a:prstGeom prst="rect">
            <a:avLst/>
          </a:prstGeom>
          <a:noFill/>
        </p:spPr>
        <p:txBody>
          <a:bodyPr wrap="square">
            <a:spAutoFit/>
          </a:bodyPr>
          <a:lstStyle/>
          <a:p>
            <a:r>
              <a:rPr lang="en-CA" sz="1400" dirty="0"/>
              <a:t>330</a:t>
            </a:r>
            <a:endParaRPr lang="en-CA" dirty="0"/>
          </a:p>
        </p:txBody>
      </p:sp>
      <p:sp>
        <p:nvSpPr>
          <p:cNvPr id="28" name="TextBox 27">
            <a:extLst>
              <a:ext uri="{FF2B5EF4-FFF2-40B4-BE49-F238E27FC236}">
                <a16:creationId xmlns:a16="http://schemas.microsoft.com/office/drawing/2014/main" id="{B657761D-EF8B-6E98-740A-5FE884F8CB22}"/>
              </a:ext>
            </a:extLst>
          </p:cNvPr>
          <p:cNvSpPr txBox="1"/>
          <p:nvPr/>
        </p:nvSpPr>
        <p:spPr>
          <a:xfrm>
            <a:off x="8947150" y="3315572"/>
            <a:ext cx="609600" cy="307777"/>
          </a:xfrm>
          <a:prstGeom prst="rect">
            <a:avLst/>
          </a:prstGeom>
          <a:noFill/>
        </p:spPr>
        <p:txBody>
          <a:bodyPr wrap="square">
            <a:spAutoFit/>
          </a:bodyPr>
          <a:lstStyle/>
          <a:p>
            <a:r>
              <a:rPr lang="en-CA" sz="1400" dirty="0"/>
              <a:t>482</a:t>
            </a:r>
            <a:endParaRPr lang="en-CA" dirty="0"/>
          </a:p>
        </p:txBody>
      </p:sp>
      <p:sp>
        <p:nvSpPr>
          <p:cNvPr id="30" name="TextBox 29">
            <a:extLst>
              <a:ext uri="{FF2B5EF4-FFF2-40B4-BE49-F238E27FC236}">
                <a16:creationId xmlns:a16="http://schemas.microsoft.com/office/drawing/2014/main" id="{FCA95A44-31D4-A468-D5B2-AFC1F7D9A903}"/>
              </a:ext>
            </a:extLst>
          </p:cNvPr>
          <p:cNvSpPr txBox="1"/>
          <p:nvPr/>
        </p:nvSpPr>
        <p:spPr>
          <a:xfrm>
            <a:off x="8302096" y="3772772"/>
            <a:ext cx="609600" cy="279400"/>
          </a:xfrm>
          <a:prstGeom prst="rect">
            <a:avLst/>
          </a:prstGeom>
          <a:noFill/>
        </p:spPr>
        <p:txBody>
          <a:bodyPr wrap="square">
            <a:spAutoFit/>
          </a:bodyPr>
          <a:lstStyle/>
          <a:p>
            <a:r>
              <a:rPr lang="en-CA" sz="1200" dirty="0"/>
              <a:t>169</a:t>
            </a:r>
            <a:endParaRPr lang="en-CA" dirty="0"/>
          </a:p>
        </p:txBody>
      </p:sp>
      <p:cxnSp>
        <p:nvCxnSpPr>
          <p:cNvPr id="20" name="Straight Connector 19">
            <a:extLst>
              <a:ext uri="{FF2B5EF4-FFF2-40B4-BE49-F238E27FC236}">
                <a16:creationId xmlns:a16="http://schemas.microsoft.com/office/drawing/2014/main" id="{B3A10D7E-1B28-072A-D9E1-46B42B52B4CA}"/>
              </a:ext>
            </a:extLst>
          </p:cNvPr>
          <p:cNvCxnSpPr/>
          <p:nvPr/>
        </p:nvCxnSpPr>
        <p:spPr>
          <a:xfrm>
            <a:off x="6245488" y="762820"/>
            <a:ext cx="95250" cy="5781675"/>
          </a:xfrm>
          <a:prstGeom prst="line">
            <a:avLst/>
          </a:prstGeom>
        </p:spPr>
        <p:style>
          <a:lnRef idx="3">
            <a:schemeClr val="dk1"/>
          </a:lnRef>
          <a:fillRef idx="0">
            <a:schemeClr val="dk1"/>
          </a:fillRef>
          <a:effectRef idx="2">
            <a:schemeClr val="dk1"/>
          </a:effectRef>
          <a:fontRef idx="minor">
            <a:schemeClr val="tx1"/>
          </a:fontRef>
        </p:style>
      </p:cxnSp>
      <p:sp>
        <p:nvSpPr>
          <p:cNvPr id="23" name="TextBox 22">
            <a:extLst>
              <a:ext uri="{FF2B5EF4-FFF2-40B4-BE49-F238E27FC236}">
                <a16:creationId xmlns:a16="http://schemas.microsoft.com/office/drawing/2014/main" id="{73A38CE8-18B1-DD79-3377-302059723BCB}"/>
              </a:ext>
            </a:extLst>
          </p:cNvPr>
          <p:cNvSpPr txBox="1"/>
          <p:nvPr/>
        </p:nvSpPr>
        <p:spPr>
          <a:xfrm>
            <a:off x="7413625" y="5897034"/>
            <a:ext cx="3962400" cy="369332"/>
          </a:xfrm>
          <a:prstGeom prst="rect">
            <a:avLst/>
          </a:prstGeom>
          <a:noFill/>
        </p:spPr>
        <p:txBody>
          <a:bodyPr wrap="square" rtlCol="0">
            <a:spAutoFit/>
          </a:bodyPr>
          <a:lstStyle/>
          <a:p>
            <a:r>
              <a:rPr lang="en-CA" dirty="0"/>
              <a:t>Three Dimensions VENN Diagram</a:t>
            </a:r>
          </a:p>
        </p:txBody>
      </p:sp>
    </p:spTree>
    <p:extLst>
      <p:ext uri="{BB962C8B-B14F-4D97-AF65-F5344CB8AC3E}">
        <p14:creationId xmlns:p14="http://schemas.microsoft.com/office/powerpoint/2010/main" val="26706539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4BBB70-53F9-CC1C-29BF-5AF69593C3F4}"/>
              </a:ext>
            </a:extLst>
          </p:cNvPr>
          <p:cNvSpPr>
            <a:spLocks noGrp="1"/>
          </p:cNvSpPr>
          <p:nvPr>
            <p:ph type="title"/>
          </p:nvPr>
        </p:nvSpPr>
        <p:spPr/>
        <p:txBody>
          <a:bodyPr/>
          <a:lstStyle/>
          <a:p>
            <a:r>
              <a:rPr lang="en-CA" dirty="0"/>
              <a:t>Issues Raised by Product Management</a:t>
            </a:r>
          </a:p>
        </p:txBody>
      </p:sp>
      <p:sp>
        <p:nvSpPr>
          <p:cNvPr id="3" name="Content Placeholder 2">
            <a:extLst>
              <a:ext uri="{FF2B5EF4-FFF2-40B4-BE49-F238E27FC236}">
                <a16:creationId xmlns:a16="http://schemas.microsoft.com/office/drawing/2014/main" id="{100E3B8B-D706-8E4E-B5EF-5BD60CE04708}"/>
              </a:ext>
            </a:extLst>
          </p:cNvPr>
          <p:cNvSpPr>
            <a:spLocks noGrp="1"/>
          </p:cNvSpPr>
          <p:nvPr>
            <p:ph idx="1"/>
          </p:nvPr>
        </p:nvSpPr>
        <p:spPr>
          <a:xfrm>
            <a:off x="591748" y="1715532"/>
            <a:ext cx="6885377" cy="4475718"/>
          </a:xfrm>
        </p:spPr>
        <p:txBody>
          <a:bodyPr>
            <a:normAutofit lnSpcReduction="10000"/>
          </a:bodyPr>
          <a:lstStyle/>
          <a:p>
            <a:pPr marL="0" indent="0">
              <a:lnSpc>
                <a:spcPct val="110000"/>
              </a:lnSpc>
              <a:spcBef>
                <a:spcPts val="0"/>
              </a:spcBef>
              <a:buNone/>
            </a:pPr>
            <a:r>
              <a:rPr lang="en-CA" sz="1800" b="1" dirty="0">
                <a:solidFill>
                  <a:schemeClr val="accent1"/>
                </a:solidFill>
              </a:rPr>
              <a:t>Finding</a:t>
            </a:r>
          </a:p>
          <a:p>
            <a:pPr marL="228600" indent="-228600">
              <a:lnSpc>
                <a:spcPct val="120000"/>
              </a:lnSpc>
              <a:spcBef>
                <a:spcPts val="300"/>
              </a:spcBef>
              <a:buFont typeface="Arial"/>
              <a:buChar char="•"/>
            </a:pPr>
            <a:r>
              <a:rPr lang="en-CA" sz="1600" dirty="0"/>
              <a:t>Of the 1,419 Top Products identified from 2025 sales, 145 (~10.14%) are flagged inactive in NetSuite.</a:t>
            </a:r>
          </a:p>
          <a:p>
            <a:pPr marL="228600" indent="-228600">
              <a:lnSpc>
                <a:spcPct val="120000"/>
              </a:lnSpc>
              <a:spcBef>
                <a:spcPts val="300"/>
              </a:spcBef>
              <a:buFont typeface="Arial"/>
              <a:buChar char="•"/>
            </a:pPr>
            <a:r>
              <a:rPr lang="en-CA" sz="1600" dirty="0"/>
              <a:t>Most carry labels like “OLD – DO NOT USE” — not retired through the normal phase-out cycle but duplicate item profiles.</a:t>
            </a:r>
          </a:p>
          <a:p>
            <a:pPr marL="0" indent="0">
              <a:lnSpc>
                <a:spcPct val="110000"/>
              </a:lnSpc>
              <a:spcBef>
                <a:spcPts val="900"/>
              </a:spcBef>
              <a:buNone/>
            </a:pPr>
            <a:r>
              <a:rPr lang="en-CA" sz="1800" b="1" dirty="0">
                <a:solidFill>
                  <a:schemeClr val="accent1"/>
                </a:solidFill>
              </a:rPr>
              <a:t>Impact</a:t>
            </a:r>
          </a:p>
          <a:p>
            <a:pPr marL="228600" indent="-228600">
              <a:lnSpc>
                <a:spcPct val="120000"/>
              </a:lnSpc>
              <a:spcBef>
                <a:spcPts val="300"/>
              </a:spcBef>
              <a:buFont typeface="Arial"/>
              <a:buChar char="•"/>
            </a:pPr>
            <a:r>
              <a:rPr lang="en-CA" sz="1600" dirty="0"/>
              <a:t>Duplicate profiles fragment sales history, making the same product hard to identify and breaking continuity for demand planning and trend analysis. </a:t>
            </a:r>
          </a:p>
          <a:p>
            <a:pPr marL="228600" indent="-228600">
              <a:lnSpc>
                <a:spcPct val="120000"/>
              </a:lnSpc>
              <a:spcBef>
                <a:spcPts val="300"/>
              </a:spcBef>
              <a:buFont typeface="Arial"/>
              <a:buChar char="•"/>
            </a:pPr>
            <a:r>
              <a:rPr lang="en-CA" sz="1600" dirty="0"/>
              <a:t>“Order Items” Page embedded in NetSuite only show active item. </a:t>
            </a:r>
          </a:p>
          <a:p>
            <a:pPr marL="0" indent="0">
              <a:lnSpc>
                <a:spcPct val="110000"/>
              </a:lnSpc>
              <a:spcBef>
                <a:spcPts val="900"/>
              </a:spcBef>
              <a:buNone/>
            </a:pPr>
            <a:r>
              <a:rPr lang="en-CA" sz="1800" b="1" dirty="0">
                <a:solidFill>
                  <a:schemeClr val="accent1"/>
                </a:solidFill>
              </a:rPr>
              <a:t>Recommendation</a:t>
            </a:r>
          </a:p>
          <a:p>
            <a:pPr marL="228600" indent="-228600">
              <a:lnSpc>
                <a:spcPct val="120000"/>
              </a:lnSpc>
              <a:spcBef>
                <a:spcPts val="300"/>
              </a:spcBef>
              <a:buFont typeface="Arial"/>
              <a:buChar char="•"/>
            </a:pPr>
            <a:r>
              <a:rPr lang="en-CA" sz="1600" dirty="0"/>
              <a:t>Tighten product-management practice so a single item carries its full history — enabling accurate forecasting and clean trend analysis. </a:t>
            </a:r>
          </a:p>
        </p:txBody>
      </p:sp>
      <p:sp>
        <p:nvSpPr>
          <p:cNvPr id="12" name="Rectangle: Rounded Corners 11">
            <a:extLst>
              <a:ext uri="{FF2B5EF4-FFF2-40B4-BE49-F238E27FC236}">
                <a16:creationId xmlns:a16="http://schemas.microsoft.com/office/drawing/2014/main" id="{93E93D4E-24FE-59E1-943C-4CD883B4CD50}"/>
              </a:ext>
            </a:extLst>
          </p:cNvPr>
          <p:cNvSpPr/>
          <p:nvPr/>
        </p:nvSpPr>
        <p:spPr>
          <a:xfrm>
            <a:off x="8491856" y="3661494"/>
            <a:ext cx="2352676" cy="619125"/>
          </a:xfrm>
          <a:prstGeom prst="roundRect">
            <a:avLst/>
          </a:prstGeom>
          <a:solidFill>
            <a:schemeClr val="accent6">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dirty="0"/>
              <a:t>1,419 Top Product</a:t>
            </a:r>
          </a:p>
        </p:txBody>
      </p:sp>
      <p:sp>
        <p:nvSpPr>
          <p:cNvPr id="14" name="Rectangle: Rounded Corners 13">
            <a:extLst>
              <a:ext uri="{FF2B5EF4-FFF2-40B4-BE49-F238E27FC236}">
                <a16:creationId xmlns:a16="http://schemas.microsoft.com/office/drawing/2014/main" id="{973AFD99-94CA-D081-6236-92D31C826071}"/>
              </a:ext>
            </a:extLst>
          </p:cNvPr>
          <p:cNvSpPr/>
          <p:nvPr/>
        </p:nvSpPr>
        <p:spPr>
          <a:xfrm>
            <a:off x="8758236" y="5486400"/>
            <a:ext cx="1762127" cy="619125"/>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CA" sz="1400" dirty="0"/>
              <a:t>1,274 Top Product</a:t>
            </a:r>
          </a:p>
        </p:txBody>
      </p:sp>
      <p:sp>
        <p:nvSpPr>
          <p:cNvPr id="15" name="Arrow: Down 14">
            <a:extLst>
              <a:ext uri="{FF2B5EF4-FFF2-40B4-BE49-F238E27FC236}">
                <a16:creationId xmlns:a16="http://schemas.microsoft.com/office/drawing/2014/main" id="{BBA6D0A5-3CD4-C288-4DE9-65D145CEA0F1}"/>
              </a:ext>
            </a:extLst>
          </p:cNvPr>
          <p:cNvSpPr/>
          <p:nvPr/>
        </p:nvSpPr>
        <p:spPr>
          <a:xfrm>
            <a:off x="9486900" y="4428182"/>
            <a:ext cx="304800" cy="933450"/>
          </a:xfrm>
          <a:prstGeom prst="down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CA"/>
          </a:p>
        </p:txBody>
      </p:sp>
      <p:sp>
        <p:nvSpPr>
          <p:cNvPr id="16" name="TextBox 15">
            <a:extLst>
              <a:ext uri="{FF2B5EF4-FFF2-40B4-BE49-F238E27FC236}">
                <a16:creationId xmlns:a16="http://schemas.microsoft.com/office/drawing/2014/main" id="{62066F1E-E538-E0F2-0EB0-A063520F0BD6}"/>
              </a:ext>
            </a:extLst>
          </p:cNvPr>
          <p:cNvSpPr txBox="1"/>
          <p:nvPr/>
        </p:nvSpPr>
        <p:spPr>
          <a:xfrm>
            <a:off x="10060781" y="4571742"/>
            <a:ext cx="1762127" cy="646331"/>
          </a:xfrm>
          <a:prstGeom prst="rect">
            <a:avLst/>
          </a:prstGeom>
          <a:noFill/>
        </p:spPr>
        <p:txBody>
          <a:bodyPr wrap="square" rtlCol="0">
            <a:spAutoFit/>
          </a:bodyPr>
          <a:lstStyle/>
          <a:p>
            <a:r>
              <a:rPr lang="en-CA" sz="1200" dirty="0">
                <a:solidFill>
                  <a:schemeClr val="accent3">
                    <a:lumMod val="75000"/>
                  </a:schemeClr>
                </a:solidFill>
              </a:rPr>
              <a:t>*145 lost due to inconsistent product management</a:t>
            </a:r>
          </a:p>
        </p:txBody>
      </p:sp>
      <p:cxnSp>
        <p:nvCxnSpPr>
          <p:cNvPr id="18" name="Straight Connector 17">
            <a:extLst>
              <a:ext uri="{FF2B5EF4-FFF2-40B4-BE49-F238E27FC236}">
                <a16:creationId xmlns:a16="http://schemas.microsoft.com/office/drawing/2014/main" id="{2D8ED957-4625-DBEA-EF43-7904F3AD7804}"/>
              </a:ext>
            </a:extLst>
          </p:cNvPr>
          <p:cNvCxnSpPr/>
          <p:nvPr/>
        </p:nvCxnSpPr>
        <p:spPr>
          <a:xfrm>
            <a:off x="7677150" y="1447800"/>
            <a:ext cx="0" cy="4657725"/>
          </a:xfrm>
          <a:prstGeom prst="line">
            <a:avLst/>
          </a:prstGeom>
          <a:ln>
            <a:solidFill>
              <a:schemeClr val="accent6">
                <a:lumMod val="50000"/>
              </a:schemeClr>
            </a:solidFill>
          </a:ln>
        </p:spPr>
        <p:style>
          <a:lnRef idx="3">
            <a:schemeClr val="dk1"/>
          </a:lnRef>
          <a:fillRef idx="0">
            <a:schemeClr val="dk1"/>
          </a:fillRef>
          <a:effectRef idx="2">
            <a:schemeClr val="dk1"/>
          </a:effectRef>
          <a:fontRef idx="minor">
            <a:schemeClr val="tx1"/>
          </a:fontRef>
        </p:style>
      </p:cxnSp>
      <p:sp>
        <p:nvSpPr>
          <p:cNvPr id="19" name="Rectangle: Rounded Corners 18">
            <a:extLst>
              <a:ext uri="{FF2B5EF4-FFF2-40B4-BE49-F238E27FC236}">
                <a16:creationId xmlns:a16="http://schemas.microsoft.com/office/drawing/2014/main" id="{F36237BB-AF60-FAC9-3F08-3EB87E6A009A}"/>
              </a:ext>
            </a:extLst>
          </p:cNvPr>
          <p:cNvSpPr/>
          <p:nvPr/>
        </p:nvSpPr>
        <p:spPr>
          <a:xfrm>
            <a:off x="8106698" y="1244235"/>
            <a:ext cx="3122994" cy="727786"/>
          </a:xfrm>
          <a:prstGeom prst="roundRect">
            <a:avLst/>
          </a:prstGeom>
          <a:solidFill>
            <a:schemeClr val="accent6">
              <a:lumMod val="20000"/>
              <a:lumOff val="80000"/>
            </a:schemeClr>
          </a:solidFill>
          <a:ln>
            <a:solidFill>
              <a:schemeClr val="accent6">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dirty="0">
                <a:solidFill>
                  <a:schemeClr val="tx1"/>
                </a:solidFill>
              </a:rPr>
              <a:t>27,737 Active Items</a:t>
            </a:r>
          </a:p>
        </p:txBody>
      </p:sp>
      <p:sp>
        <p:nvSpPr>
          <p:cNvPr id="20" name="Rectangle: Rounded Corners 19">
            <a:extLst>
              <a:ext uri="{FF2B5EF4-FFF2-40B4-BE49-F238E27FC236}">
                <a16:creationId xmlns:a16="http://schemas.microsoft.com/office/drawing/2014/main" id="{6876899F-81F9-4766-15F6-53BC36A3AB8E}"/>
              </a:ext>
            </a:extLst>
          </p:cNvPr>
          <p:cNvSpPr/>
          <p:nvPr/>
        </p:nvSpPr>
        <p:spPr>
          <a:xfrm>
            <a:off x="8273707" y="2482513"/>
            <a:ext cx="2788977" cy="646331"/>
          </a:xfrm>
          <a:prstGeom prst="round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r>
              <a:rPr lang="en-CA" dirty="0"/>
              <a:t>9,407</a:t>
            </a:r>
          </a:p>
          <a:p>
            <a:pPr algn="ctr"/>
            <a:r>
              <a:rPr lang="en-CA" dirty="0"/>
              <a:t> </a:t>
            </a:r>
            <a:r>
              <a:rPr lang="en-CA" sz="1400" dirty="0"/>
              <a:t>sold once since 2025-01-01</a:t>
            </a:r>
            <a:endParaRPr lang="en-CA" dirty="0"/>
          </a:p>
        </p:txBody>
      </p:sp>
      <p:sp>
        <p:nvSpPr>
          <p:cNvPr id="21" name="Arrow: Down 20">
            <a:extLst>
              <a:ext uri="{FF2B5EF4-FFF2-40B4-BE49-F238E27FC236}">
                <a16:creationId xmlns:a16="http://schemas.microsoft.com/office/drawing/2014/main" id="{6978D206-2596-09E7-0CD0-0CC35E6FE182}"/>
              </a:ext>
            </a:extLst>
          </p:cNvPr>
          <p:cNvSpPr/>
          <p:nvPr/>
        </p:nvSpPr>
        <p:spPr>
          <a:xfrm>
            <a:off x="9486901" y="3244161"/>
            <a:ext cx="304800" cy="341937"/>
          </a:xfrm>
          <a:prstGeom prst="down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CA" dirty="0"/>
          </a:p>
        </p:txBody>
      </p:sp>
      <p:sp>
        <p:nvSpPr>
          <p:cNvPr id="22" name="Arrow: Down 21">
            <a:extLst>
              <a:ext uri="{FF2B5EF4-FFF2-40B4-BE49-F238E27FC236}">
                <a16:creationId xmlns:a16="http://schemas.microsoft.com/office/drawing/2014/main" id="{8081D065-A2C7-C91D-6113-139FB573F07A}"/>
              </a:ext>
            </a:extLst>
          </p:cNvPr>
          <p:cNvSpPr/>
          <p:nvPr/>
        </p:nvSpPr>
        <p:spPr>
          <a:xfrm>
            <a:off x="9486901" y="2110882"/>
            <a:ext cx="304800" cy="341937"/>
          </a:xfrm>
          <a:prstGeom prst="down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CA" dirty="0"/>
          </a:p>
        </p:txBody>
      </p:sp>
    </p:spTree>
    <p:extLst>
      <p:ext uri="{BB962C8B-B14F-4D97-AF65-F5344CB8AC3E}">
        <p14:creationId xmlns:p14="http://schemas.microsoft.com/office/powerpoint/2010/main" val="20015077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2F81C-2BD8-A4FA-1C47-752CDA28131D}"/>
              </a:ext>
            </a:extLst>
          </p:cNvPr>
          <p:cNvSpPr>
            <a:spLocks noGrp="1"/>
          </p:cNvSpPr>
          <p:nvPr>
            <p:ph type="ctrTitle"/>
          </p:nvPr>
        </p:nvSpPr>
        <p:spPr>
          <a:xfrm>
            <a:off x="274320" y="1801368"/>
            <a:ext cx="7772400" cy="4572000"/>
          </a:xfrm>
        </p:spPr>
        <p:txBody>
          <a:bodyPr/>
          <a:lstStyle/>
          <a:p>
            <a:r>
              <a:rPr lang="en-US" dirty="0"/>
              <a:t>Quantitative Forecasting</a:t>
            </a:r>
          </a:p>
        </p:txBody>
      </p:sp>
      <p:sp>
        <p:nvSpPr>
          <p:cNvPr id="5" name="Subtitle 4">
            <a:extLst>
              <a:ext uri="{FF2B5EF4-FFF2-40B4-BE49-F238E27FC236}">
                <a16:creationId xmlns:a16="http://schemas.microsoft.com/office/drawing/2014/main" id="{7DDC5760-52B8-999A-59CB-4AFDF3B93E05}"/>
              </a:ext>
            </a:extLst>
          </p:cNvPr>
          <p:cNvSpPr>
            <a:spLocks noGrp="1"/>
          </p:cNvSpPr>
          <p:nvPr>
            <p:ph type="subTitle" idx="1"/>
          </p:nvPr>
        </p:nvSpPr>
        <p:spPr/>
        <p:txBody>
          <a:bodyPr/>
          <a:lstStyle/>
          <a:p>
            <a:r>
              <a:rPr lang="en-CA" dirty="0"/>
              <a:t>Goal: Define </a:t>
            </a:r>
          </a:p>
        </p:txBody>
      </p:sp>
    </p:spTree>
    <p:extLst>
      <p:ext uri="{BB962C8B-B14F-4D97-AF65-F5344CB8AC3E}">
        <p14:creationId xmlns:p14="http://schemas.microsoft.com/office/powerpoint/2010/main" val="41986905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A144A5-0283-F980-85F3-EE51746FC4CD}"/>
              </a:ext>
            </a:extLst>
          </p:cNvPr>
          <p:cNvSpPr>
            <a:spLocks noGrp="1"/>
          </p:cNvSpPr>
          <p:nvPr>
            <p:ph type="title"/>
          </p:nvPr>
        </p:nvSpPr>
        <p:spPr>
          <a:xfrm>
            <a:off x="822196" y="294671"/>
            <a:ext cx="4187531" cy="1256653"/>
          </a:xfrm>
        </p:spPr>
        <p:txBody>
          <a:bodyPr>
            <a:normAutofit fontScale="90000"/>
          </a:bodyPr>
          <a:lstStyle/>
          <a:p>
            <a:r>
              <a:rPr lang="en-US" dirty="0"/>
              <a:t>Syntetos and Boylan Classification </a:t>
            </a:r>
            <a:r>
              <a:rPr lang="en-US" sz="3100" dirty="0"/>
              <a:t>for</a:t>
            </a:r>
            <a:r>
              <a:rPr lang="en-US" dirty="0"/>
              <a:t> Demand Pattern</a:t>
            </a:r>
          </a:p>
        </p:txBody>
      </p:sp>
      <p:sp>
        <p:nvSpPr>
          <p:cNvPr id="3" name="Content Placeholder 2">
            <a:extLst>
              <a:ext uri="{FF2B5EF4-FFF2-40B4-BE49-F238E27FC236}">
                <a16:creationId xmlns:a16="http://schemas.microsoft.com/office/drawing/2014/main" id="{1A385359-5FD3-D5C8-1467-F7082543AA4C}"/>
              </a:ext>
            </a:extLst>
          </p:cNvPr>
          <p:cNvSpPr>
            <a:spLocks noGrp="1"/>
          </p:cNvSpPr>
          <p:nvPr>
            <p:ph sz="quarter" idx="14"/>
          </p:nvPr>
        </p:nvSpPr>
        <p:spPr>
          <a:xfrm>
            <a:off x="5753100" y="4451619"/>
            <a:ext cx="5086350" cy="1633717"/>
          </a:xfrm>
        </p:spPr>
        <p:txBody>
          <a:bodyPr>
            <a:noAutofit/>
          </a:bodyPr>
          <a:lstStyle/>
          <a:p>
            <a:pPr marL="0" indent="0" algn="l">
              <a:lnSpc>
                <a:spcPct val="110000"/>
              </a:lnSpc>
              <a:spcBef>
                <a:spcPts val="500"/>
              </a:spcBef>
              <a:buNone/>
            </a:pPr>
            <a:r>
              <a:rPr lang="en-US" sz="1600" dirty="0"/>
              <a:t>Items split at the theoretical thresholds ADI = 1.32 and CV² = 0.49 into </a:t>
            </a:r>
            <a:r>
              <a:rPr lang="en-US" sz="1600" b="1" dirty="0"/>
              <a:t>Smooth</a:t>
            </a:r>
            <a:r>
              <a:rPr lang="en-US" sz="1600" dirty="0"/>
              <a:t>, </a:t>
            </a:r>
            <a:r>
              <a:rPr lang="en-US" sz="1600" b="1" dirty="0"/>
              <a:t>Intermittent</a:t>
            </a:r>
            <a:r>
              <a:rPr lang="en-US" sz="1600" dirty="0"/>
              <a:t>, </a:t>
            </a:r>
            <a:r>
              <a:rPr lang="en-US" sz="1600" b="1" dirty="0"/>
              <a:t>Erratic</a:t>
            </a:r>
            <a:r>
              <a:rPr lang="en-US" sz="1600" dirty="0"/>
              <a:t>, and </a:t>
            </a:r>
            <a:r>
              <a:rPr lang="en-US" sz="1600" b="1" dirty="0"/>
              <a:t>Lumpy</a:t>
            </a:r>
            <a:r>
              <a:rPr lang="en-US" sz="1600" dirty="0"/>
              <a:t> — each needing a different forecasting and replenishment approach. However, thresholds should be tuned to the industry and business context.</a:t>
            </a:r>
          </a:p>
        </p:txBody>
      </p:sp>
      <p:sp>
        <p:nvSpPr>
          <p:cNvPr id="13" name="Rectangle 12">
            <a:extLst>
              <a:ext uri="{FF2B5EF4-FFF2-40B4-BE49-F238E27FC236}">
                <a16:creationId xmlns:a16="http://schemas.microsoft.com/office/drawing/2014/main" id="{64119AC4-9D6D-E65D-9E0D-1827B3EEAC54}"/>
              </a:ext>
            </a:extLst>
          </p:cNvPr>
          <p:cNvSpPr/>
          <p:nvPr/>
        </p:nvSpPr>
        <p:spPr>
          <a:xfrm>
            <a:off x="1450847" y="1910715"/>
            <a:ext cx="1206500" cy="1016000"/>
          </a:xfrm>
          <a:prstGeom prst="rect">
            <a:avLst/>
          </a:prstGeom>
          <a:solidFill>
            <a:srgbClr val="FFFFFF"/>
          </a:solidFill>
          <a:ln w="15875" cap="flat" cmpd="sng" algn="ctr">
            <a:solidFill>
              <a:srgbClr val="2C3932"/>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en-CA" sz="1000" b="1" dirty="0">
                <a:solidFill>
                  <a:srgbClr val="2C3932"/>
                </a:solidFill>
              </a:rPr>
              <a:t>Erratic</a:t>
            </a:r>
          </a:p>
        </p:txBody>
      </p:sp>
      <p:sp>
        <p:nvSpPr>
          <p:cNvPr id="14" name="Rectangle 13">
            <a:extLst>
              <a:ext uri="{FF2B5EF4-FFF2-40B4-BE49-F238E27FC236}">
                <a16:creationId xmlns:a16="http://schemas.microsoft.com/office/drawing/2014/main" id="{1B0F0119-8324-691F-0BA1-E0021B25A799}"/>
              </a:ext>
            </a:extLst>
          </p:cNvPr>
          <p:cNvSpPr/>
          <p:nvPr/>
        </p:nvSpPr>
        <p:spPr>
          <a:xfrm>
            <a:off x="2657347" y="1910715"/>
            <a:ext cx="1206500" cy="1016000"/>
          </a:xfrm>
          <a:prstGeom prst="rect">
            <a:avLst/>
          </a:prstGeom>
          <a:solidFill>
            <a:srgbClr val="FFFFFF"/>
          </a:solidFill>
          <a:ln w="15875" cap="flat" cmpd="sng" algn="ctr">
            <a:solidFill>
              <a:srgbClr val="2C3932"/>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en-CA" sz="1000" b="1" dirty="0">
                <a:solidFill>
                  <a:srgbClr val="2C3932"/>
                </a:solidFill>
              </a:rPr>
              <a:t>Lumpy</a:t>
            </a:r>
          </a:p>
        </p:txBody>
      </p:sp>
      <p:sp>
        <p:nvSpPr>
          <p:cNvPr id="15" name="Rectangle 14">
            <a:extLst>
              <a:ext uri="{FF2B5EF4-FFF2-40B4-BE49-F238E27FC236}">
                <a16:creationId xmlns:a16="http://schemas.microsoft.com/office/drawing/2014/main" id="{C411DE63-9A1F-91EE-5619-B7E6FD64145A}"/>
              </a:ext>
            </a:extLst>
          </p:cNvPr>
          <p:cNvSpPr/>
          <p:nvPr/>
        </p:nvSpPr>
        <p:spPr>
          <a:xfrm>
            <a:off x="1450847" y="2921000"/>
            <a:ext cx="1206500" cy="1016000"/>
          </a:xfrm>
          <a:prstGeom prst="rect">
            <a:avLst/>
          </a:prstGeom>
          <a:solidFill>
            <a:srgbClr val="FFFFFF"/>
          </a:solidFill>
          <a:ln w="15875" cap="flat" cmpd="sng" algn="ctr">
            <a:solidFill>
              <a:srgbClr val="2C3932"/>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en-CA" sz="1000" b="1" dirty="0">
                <a:solidFill>
                  <a:srgbClr val="2C3932"/>
                </a:solidFill>
              </a:rPr>
              <a:t>Smooth</a:t>
            </a:r>
          </a:p>
        </p:txBody>
      </p:sp>
      <p:sp>
        <p:nvSpPr>
          <p:cNvPr id="16" name="Rectangle 15">
            <a:extLst>
              <a:ext uri="{FF2B5EF4-FFF2-40B4-BE49-F238E27FC236}">
                <a16:creationId xmlns:a16="http://schemas.microsoft.com/office/drawing/2014/main" id="{B82D65EE-9B3C-D06A-A612-44B5FD09D914}"/>
              </a:ext>
            </a:extLst>
          </p:cNvPr>
          <p:cNvSpPr/>
          <p:nvPr/>
        </p:nvSpPr>
        <p:spPr>
          <a:xfrm>
            <a:off x="2657347" y="2921000"/>
            <a:ext cx="1206500" cy="1016000"/>
          </a:xfrm>
          <a:prstGeom prst="rect">
            <a:avLst/>
          </a:prstGeom>
          <a:solidFill>
            <a:srgbClr val="FFFFFF"/>
          </a:solidFill>
          <a:ln w="15875" cap="flat" cmpd="sng" algn="ctr">
            <a:solidFill>
              <a:srgbClr val="2C3932"/>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en-CA" sz="1000" b="1" dirty="0">
                <a:solidFill>
                  <a:srgbClr val="2C3932"/>
                </a:solidFill>
              </a:rPr>
              <a:t>Intermittent</a:t>
            </a:r>
          </a:p>
        </p:txBody>
      </p:sp>
      <p:sp>
        <p:nvSpPr>
          <p:cNvPr id="18" name="TextBox 17">
            <a:extLst>
              <a:ext uri="{FF2B5EF4-FFF2-40B4-BE49-F238E27FC236}">
                <a16:creationId xmlns:a16="http://schemas.microsoft.com/office/drawing/2014/main" id="{68B1DB26-721B-234D-2608-6DE8CA4C271F}"/>
              </a:ext>
            </a:extLst>
          </p:cNvPr>
          <p:cNvSpPr txBox="1"/>
          <p:nvPr/>
        </p:nvSpPr>
        <p:spPr>
          <a:xfrm>
            <a:off x="2120900" y="4156391"/>
            <a:ext cx="1016000" cy="203200"/>
          </a:xfrm>
          <a:prstGeom prst="rect">
            <a:avLst/>
          </a:prstGeom>
          <a:noFill/>
        </p:spPr>
        <p:txBody>
          <a:bodyPr vertOverflow="overflow" vert="horz" wrap="square" rtlCol="0" anchor="b" anchorCtr="0">
            <a:noAutofit/>
          </a:bodyPr>
          <a:lstStyle/>
          <a:p>
            <a:pPr algn="ctr"/>
            <a:r>
              <a:rPr lang="en-CA" sz="1000" b="1" i="1" dirty="0">
                <a:solidFill>
                  <a:schemeClr val="accent1"/>
                </a:solidFill>
              </a:rPr>
              <a:t>ADI 1.32</a:t>
            </a:r>
          </a:p>
        </p:txBody>
      </p:sp>
      <p:sp>
        <p:nvSpPr>
          <p:cNvPr id="12" name="TextBox 11">
            <a:extLst>
              <a:ext uri="{FF2B5EF4-FFF2-40B4-BE49-F238E27FC236}">
                <a16:creationId xmlns:a16="http://schemas.microsoft.com/office/drawing/2014/main" id="{4032B486-26BF-478F-8002-56D7BA86F3B3}"/>
              </a:ext>
            </a:extLst>
          </p:cNvPr>
          <p:cNvSpPr txBox="1"/>
          <p:nvPr/>
        </p:nvSpPr>
        <p:spPr>
          <a:xfrm>
            <a:off x="384046" y="2819399"/>
            <a:ext cx="762000" cy="203200"/>
          </a:xfrm>
          <a:prstGeom prst="rect">
            <a:avLst/>
          </a:prstGeom>
          <a:noFill/>
        </p:spPr>
        <p:txBody>
          <a:bodyPr vertOverflow="overflow" vert="horz" wrap="square" rtlCol="0" anchor="ctr" anchorCtr="0">
            <a:noAutofit/>
          </a:bodyPr>
          <a:lstStyle/>
          <a:p>
            <a:pPr algn="r"/>
            <a:r>
              <a:rPr lang="en-CA" sz="1000" b="1" i="1" dirty="0">
                <a:solidFill>
                  <a:schemeClr val="accent1"/>
                </a:solidFill>
              </a:rPr>
              <a:t>CV² 0.49</a:t>
            </a:r>
          </a:p>
        </p:txBody>
      </p:sp>
      <p:cxnSp>
        <p:nvCxnSpPr>
          <p:cNvPr id="21" name="Straight Arrow Connector 20">
            <a:extLst>
              <a:ext uri="{FF2B5EF4-FFF2-40B4-BE49-F238E27FC236}">
                <a16:creationId xmlns:a16="http://schemas.microsoft.com/office/drawing/2014/main" id="{7847DAD8-C949-1D12-2BE2-C279DB1D7C6D}"/>
              </a:ext>
            </a:extLst>
          </p:cNvPr>
          <p:cNvCxnSpPr>
            <a:cxnSpLocks/>
          </p:cNvCxnSpPr>
          <p:nvPr/>
        </p:nvCxnSpPr>
        <p:spPr>
          <a:xfrm>
            <a:off x="1450847" y="4079874"/>
            <a:ext cx="2444814" cy="0"/>
          </a:xfrm>
          <a:prstGeom prst="straightConnector1">
            <a:avLst/>
          </a:pr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3" name="Straight Arrow Connector 22">
            <a:extLst>
              <a:ext uri="{FF2B5EF4-FFF2-40B4-BE49-F238E27FC236}">
                <a16:creationId xmlns:a16="http://schemas.microsoft.com/office/drawing/2014/main" id="{61D813BD-A5F3-1230-98BC-9807D957CC03}"/>
              </a:ext>
            </a:extLst>
          </p:cNvPr>
          <p:cNvCxnSpPr>
            <a:cxnSpLocks/>
          </p:cNvCxnSpPr>
          <p:nvPr/>
        </p:nvCxnSpPr>
        <p:spPr>
          <a:xfrm flipV="1">
            <a:off x="1298446" y="1904999"/>
            <a:ext cx="0" cy="2032000"/>
          </a:xfrm>
          <a:prstGeom prst="straightConnector1">
            <a:avLst/>
          </a:pr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B519CE0B-C022-DBDC-1FFF-123683EBD294}"/>
                  </a:ext>
                </a:extLst>
              </p:cNvPr>
              <p:cNvSpPr txBox="1"/>
              <p:nvPr/>
            </p:nvSpPr>
            <p:spPr>
              <a:xfrm>
                <a:off x="5686425" y="590250"/>
                <a:ext cx="4571998" cy="1633717"/>
              </a:xfrm>
              <a:prstGeom prst="rect">
                <a:avLst/>
              </a:prstGeom>
              <a:noFill/>
            </p:spPr>
            <p:txBody>
              <a:bodyPr wrap="square" rtlCol="0">
                <a:spAutoFit/>
              </a:bodyPr>
              <a:lstStyle/>
              <a:p>
                <a:r>
                  <a:rPr lang="en-US" b="1" dirty="0">
                    <a:solidFill>
                      <a:schemeClr val="accent1"/>
                    </a:solidFill>
                  </a:rPr>
                  <a:t>ADI — Average Demand Interval</a:t>
                </a:r>
                <a:r>
                  <a:rPr lang="en-US" dirty="0"/>
                  <a:t>  Measures demand regularity over time.</a:t>
                </a:r>
              </a:p>
              <a:p>
                <a:endParaRPr lang="en-US" dirty="0"/>
              </a:p>
              <a:p>
                <a:r>
                  <a:rPr lang="en-US" dirty="0"/>
                  <a:t>ADI = </a:t>
                </a:r>
                <a14:m>
                  <m:oMath xmlns:m="http://schemas.openxmlformats.org/officeDocument/2006/math">
                    <m:f>
                      <m:fPr>
                        <m:ctrlPr>
                          <a:rPr lang="en-US" i="1" dirty="0" smtClean="0">
                            <a:latin typeface="Cambria Math" panose="02040503050406030204" pitchFamily="18" charset="0"/>
                          </a:rPr>
                        </m:ctrlPr>
                      </m:fPr>
                      <m:num>
                        <m:r>
                          <a:rPr lang="en-US" i="1" dirty="0">
                            <a:latin typeface="Cambria Math" panose="02040503050406030204" pitchFamily="18" charset="0"/>
                          </a:rPr>
                          <m:t>𝑇𝑜𝑡𝑎𝑙</m:t>
                        </m:r>
                        <m:r>
                          <a:rPr lang="en-US" i="1" dirty="0">
                            <a:latin typeface="Cambria Math" panose="02040503050406030204" pitchFamily="18" charset="0"/>
                          </a:rPr>
                          <m:t> </m:t>
                        </m:r>
                        <m:r>
                          <a:rPr lang="en-US" i="1" dirty="0">
                            <a:latin typeface="Cambria Math" panose="02040503050406030204" pitchFamily="18" charset="0"/>
                          </a:rPr>
                          <m:t>𝑝𝑒𝑟𝑖𝑜𝑑𝑠</m:t>
                        </m:r>
                      </m:num>
                      <m:den>
                        <m:r>
                          <a:rPr lang="en-US" i="1" dirty="0">
                            <a:latin typeface="Cambria Math" panose="02040503050406030204" pitchFamily="18" charset="0"/>
                          </a:rPr>
                          <m:t>𝑝𝑒𝑟𝑖𝑜𝑑𝑠</m:t>
                        </m:r>
                        <m:r>
                          <a:rPr lang="en-US" i="1" dirty="0">
                            <a:latin typeface="Cambria Math" panose="02040503050406030204" pitchFamily="18" charset="0"/>
                          </a:rPr>
                          <m:t> </m:t>
                        </m:r>
                        <m:r>
                          <a:rPr lang="en-US" i="1" dirty="0">
                            <a:latin typeface="Cambria Math" panose="02040503050406030204" pitchFamily="18" charset="0"/>
                          </a:rPr>
                          <m:t>𝑤𝑖𝑡h</m:t>
                        </m:r>
                        <m:r>
                          <a:rPr lang="en-US" i="1" dirty="0">
                            <a:latin typeface="Cambria Math" panose="02040503050406030204" pitchFamily="18" charset="0"/>
                          </a:rPr>
                          <m:t> </m:t>
                        </m:r>
                        <m:r>
                          <a:rPr lang="en-US" i="1" dirty="0">
                            <a:latin typeface="Cambria Math" panose="02040503050406030204" pitchFamily="18" charset="0"/>
                          </a:rPr>
                          <m:t>𝑛𝑜𝑛</m:t>
                        </m:r>
                        <m:r>
                          <a:rPr lang="en-US" i="1" dirty="0">
                            <a:latin typeface="Cambria Math" panose="02040503050406030204" pitchFamily="18" charset="0"/>
                          </a:rPr>
                          <m:t>−</m:t>
                        </m:r>
                        <m:r>
                          <a:rPr lang="en-US" i="1" dirty="0">
                            <a:latin typeface="Cambria Math" panose="02040503050406030204" pitchFamily="18" charset="0"/>
                          </a:rPr>
                          <m:t>𝑧𝑒𝑟𝑜</m:t>
                        </m:r>
                        <m:r>
                          <a:rPr lang="en-US" i="1" dirty="0">
                            <a:latin typeface="Cambria Math" panose="02040503050406030204" pitchFamily="18" charset="0"/>
                          </a:rPr>
                          <m:t> </m:t>
                        </m:r>
                        <m:r>
                          <a:rPr lang="en-US" i="1" dirty="0">
                            <a:latin typeface="Cambria Math" panose="02040503050406030204" pitchFamily="18" charset="0"/>
                          </a:rPr>
                          <m:t>𝑑𝑒𝑚𝑎𝑛𝑑</m:t>
                        </m:r>
                      </m:den>
                    </m:f>
                  </m:oMath>
                </a14:m>
                <a:endParaRPr lang="en-US" dirty="0"/>
              </a:p>
              <a:p>
                <a:endParaRPr lang="en-CA" dirty="0"/>
              </a:p>
            </p:txBody>
          </p:sp>
        </mc:Choice>
        <mc:Fallback xmlns="">
          <p:sp>
            <p:nvSpPr>
              <p:cNvPr id="4" name="TextBox 3">
                <a:extLst>
                  <a:ext uri="{FF2B5EF4-FFF2-40B4-BE49-F238E27FC236}">
                    <a16:creationId xmlns:a16="http://schemas.microsoft.com/office/drawing/2014/main" id="{B519CE0B-C022-DBDC-1FFF-123683EBD294}"/>
                  </a:ext>
                </a:extLst>
              </p:cNvPr>
              <p:cNvSpPr txBox="1">
                <a:spLocks noRot="1" noChangeAspect="1" noMove="1" noResize="1" noEditPoints="1" noAdjustHandles="1" noChangeArrowheads="1" noChangeShapeType="1" noTextEdit="1"/>
              </p:cNvSpPr>
              <p:nvPr/>
            </p:nvSpPr>
            <p:spPr>
              <a:xfrm>
                <a:off x="5686425" y="590250"/>
                <a:ext cx="4571998" cy="1633717"/>
              </a:xfrm>
              <a:prstGeom prst="rect">
                <a:avLst/>
              </a:prstGeom>
              <a:blipFill>
                <a:blip r:embed="rId2"/>
                <a:stretch>
                  <a:fillRect l="-1200" t="-1866"/>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9923BE4B-EBA6-7624-9CB5-FD216B7CFA25}"/>
                  </a:ext>
                </a:extLst>
              </p:cNvPr>
              <p:cNvSpPr txBox="1"/>
              <p:nvPr/>
            </p:nvSpPr>
            <p:spPr>
              <a:xfrm>
                <a:off x="5753100" y="2432098"/>
                <a:ext cx="4505323" cy="1603259"/>
              </a:xfrm>
              <a:prstGeom prst="rect">
                <a:avLst/>
              </a:prstGeom>
              <a:noFill/>
            </p:spPr>
            <p:txBody>
              <a:bodyPr wrap="square" rtlCol="0">
                <a:spAutoFit/>
              </a:bodyPr>
              <a:lstStyle/>
              <a:p>
                <a:r>
                  <a:rPr lang="en-US" b="1" dirty="0">
                    <a:solidFill>
                      <a:schemeClr val="accent1"/>
                    </a:solidFill>
                  </a:rPr>
                  <a:t>CV² — Squared Coefficient of Variation</a:t>
                </a:r>
                <a:r>
                  <a:rPr lang="en-US" dirty="0"/>
                  <a:t>  Measures relative dispersion in demand size when demand happens.</a:t>
                </a:r>
              </a:p>
              <a:p>
                <a:endParaRPr lang="en-US" dirty="0"/>
              </a:p>
              <a:p>
                <a:r>
                  <a:rPr lang="en-US" i="1" dirty="0"/>
                  <a:t>CV²</a:t>
                </a:r>
                <a:r>
                  <a:rPr lang="en-US" b="1" dirty="0">
                    <a:solidFill>
                      <a:schemeClr val="accent1"/>
                    </a:solidFill>
                  </a:rPr>
                  <a:t> </a:t>
                </a:r>
                <a14:m>
                  <m:oMath xmlns:m="http://schemas.openxmlformats.org/officeDocument/2006/math">
                    <m:sSup>
                      <m:sSupPr>
                        <m:ctrlPr>
                          <a:rPr lang="en-CA" i="1">
                            <a:latin typeface="Cambria Math" panose="02040503050406030204" pitchFamily="18" charset="0"/>
                          </a:rPr>
                        </m:ctrlPr>
                      </m:sSupPr>
                      <m:e>
                        <m:r>
                          <a:rPr lang="en-CA" b="0" i="1" smtClean="0">
                            <a:latin typeface="Cambria Math" panose="02040503050406030204" pitchFamily="18" charset="0"/>
                          </a:rPr>
                          <m:t>= </m:t>
                        </m:r>
                        <m:r>
                          <a:rPr lang="en-CA" i="1">
                            <a:latin typeface="Cambria Math" panose="02040503050406030204" pitchFamily="18" charset="0"/>
                          </a:rPr>
                          <m:t>(</m:t>
                        </m:r>
                        <m:f>
                          <m:fPr>
                            <m:ctrlPr>
                              <a:rPr lang="en-US" i="1">
                                <a:latin typeface="Cambria Math" panose="02040503050406030204" pitchFamily="18" charset="0"/>
                              </a:rPr>
                            </m:ctrlPr>
                          </m:fPr>
                          <m:num>
                            <m:r>
                              <a:rPr lang="en-CA" i="1">
                                <a:latin typeface="Cambria Math" panose="02040503050406030204" pitchFamily="18" charset="0"/>
                              </a:rPr>
                              <m:t>𝑆𝑡𝑎𝑛𝑑𝑎𝑟𝑑</m:t>
                            </m:r>
                            <m:r>
                              <a:rPr lang="en-CA" i="1">
                                <a:latin typeface="Cambria Math" panose="02040503050406030204" pitchFamily="18" charset="0"/>
                              </a:rPr>
                              <m:t> </m:t>
                            </m:r>
                            <m:r>
                              <a:rPr lang="en-CA" i="1">
                                <a:latin typeface="Cambria Math" panose="02040503050406030204" pitchFamily="18" charset="0"/>
                              </a:rPr>
                              <m:t>𝐷𝑒𝑣𝑖𝑎𝑡𝑖𝑜𝑛</m:t>
                            </m:r>
                          </m:num>
                          <m:den>
                            <m:r>
                              <a:rPr lang="en-CA" i="1">
                                <a:latin typeface="Cambria Math" panose="02040503050406030204" pitchFamily="18" charset="0"/>
                              </a:rPr>
                              <m:t>𝑀𝑒𝑎𝑛</m:t>
                            </m:r>
                          </m:den>
                        </m:f>
                        <m:r>
                          <a:rPr lang="en-CA" i="1">
                            <a:latin typeface="Cambria Math" panose="02040503050406030204" pitchFamily="18" charset="0"/>
                          </a:rPr>
                          <m:t>)</m:t>
                        </m:r>
                      </m:e>
                      <m:sup>
                        <m:r>
                          <a:rPr lang="en-CA" b="0" i="1" smtClean="0">
                            <a:latin typeface="Cambria Math" panose="02040503050406030204" pitchFamily="18" charset="0"/>
                          </a:rPr>
                          <m:t>2</m:t>
                        </m:r>
                      </m:sup>
                    </m:sSup>
                  </m:oMath>
                </a14:m>
                <a:endParaRPr lang="en-CA" dirty="0"/>
              </a:p>
            </p:txBody>
          </p:sp>
        </mc:Choice>
        <mc:Fallback xmlns="">
          <p:sp>
            <p:nvSpPr>
              <p:cNvPr id="5" name="TextBox 4">
                <a:extLst>
                  <a:ext uri="{FF2B5EF4-FFF2-40B4-BE49-F238E27FC236}">
                    <a16:creationId xmlns:a16="http://schemas.microsoft.com/office/drawing/2014/main" id="{9923BE4B-EBA6-7624-9CB5-FD216B7CFA25}"/>
                  </a:ext>
                </a:extLst>
              </p:cNvPr>
              <p:cNvSpPr txBox="1">
                <a:spLocks noRot="1" noChangeAspect="1" noMove="1" noResize="1" noEditPoints="1" noAdjustHandles="1" noChangeArrowheads="1" noChangeShapeType="1" noTextEdit="1"/>
              </p:cNvSpPr>
              <p:nvPr/>
            </p:nvSpPr>
            <p:spPr>
              <a:xfrm>
                <a:off x="5753100" y="2432098"/>
                <a:ext cx="4505323" cy="1603259"/>
              </a:xfrm>
              <a:prstGeom prst="rect">
                <a:avLst/>
              </a:prstGeom>
              <a:blipFill>
                <a:blip r:embed="rId3"/>
                <a:stretch>
                  <a:fillRect l="-1218" t="-1901" b="-1521"/>
                </a:stretch>
              </a:blipFill>
            </p:spPr>
            <p:txBody>
              <a:bodyPr/>
              <a:lstStyle/>
              <a:p>
                <a:r>
                  <a:rPr lang="en-CA">
                    <a:noFill/>
                  </a:rPr>
                  <a:t> </a:t>
                </a:r>
              </a:p>
            </p:txBody>
          </p:sp>
        </mc:Fallback>
      </mc:AlternateContent>
      <p:sp>
        <p:nvSpPr>
          <p:cNvPr id="6" name="TextBox 5">
            <a:extLst>
              <a:ext uri="{FF2B5EF4-FFF2-40B4-BE49-F238E27FC236}">
                <a16:creationId xmlns:a16="http://schemas.microsoft.com/office/drawing/2014/main" id="{E4724FCD-18BF-1CD1-82C3-D980C6D311F3}"/>
              </a:ext>
            </a:extLst>
          </p:cNvPr>
          <p:cNvSpPr txBox="1"/>
          <p:nvPr/>
        </p:nvSpPr>
        <p:spPr>
          <a:xfrm>
            <a:off x="1028700" y="4644349"/>
            <a:ext cx="3237656" cy="707886"/>
          </a:xfrm>
          <a:prstGeom prst="rect">
            <a:avLst/>
          </a:prstGeom>
          <a:noFill/>
        </p:spPr>
        <p:txBody>
          <a:bodyPr wrap="square" rtlCol="0">
            <a:spAutoFit/>
          </a:bodyPr>
          <a:lstStyle/>
          <a:p>
            <a:r>
              <a:rPr lang="en-US" sz="1000" dirty="0"/>
              <a:t>Citation: Syntetos, M &amp; Boylan, John &amp; Croston, JD. (2005). On the categorization of demand patterns. Journal of the Operational Research Society. 56. 10.1057/palgrave.jors.2601841. </a:t>
            </a:r>
            <a:endParaRPr lang="en-CA" sz="1000" dirty="0"/>
          </a:p>
        </p:txBody>
      </p:sp>
      <p:cxnSp>
        <p:nvCxnSpPr>
          <p:cNvPr id="20" name="Straight Connector 19">
            <a:extLst>
              <a:ext uri="{FF2B5EF4-FFF2-40B4-BE49-F238E27FC236}">
                <a16:creationId xmlns:a16="http://schemas.microsoft.com/office/drawing/2014/main" id="{DD3A1CC6-6FF3-6BBE-A3C2-37DC681B412D}"/>
              </a:ext>
            </a:extLst>
          </p:cNvPr>
          <p:cNvCxnSpPr>
            <a:cxnSpLocks/>
          </p:cNvCxnSpPr>
          <p:nvPr/>
        </p:nvCxnSpPr>
        <p:spPr>
          <a:xfrm>
            <a:off x="5009727" y="0"/>
            <a:ext cx="0" cy="6858000"/>
          </a:xfrm>
          <a:prstGeom prst="line">
            <a:avLst/>
          </a:prstGeom>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5150916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10">
            <a:extLst>
              <a:ext uri="{FF2B5EF4-FFF2-40B4-BE49-F238E27FC236}">
                <a16:creationId xmlns:a16="http://schemas.microsoft.com/office/drawing/2014/main" id="{A69E5615-750F-3A82-D8C2-10EA34EF8CB8}"/>
              </a:ext>
            </a:extLst>
          </p:cNvPr>
          <p:cNvSpPr>
            <a:spLocks noGrp="1"/>
          </p:cNvSpPr>
          <p:nvPr>
            <p:ph idx="1"/>
          </p:nvPr>
        </p:nvSpPr>
        <p:spPr/>
        <p:txBody>
          <a:bodyPr/>
          <a:lstStyle/>
          <a:p>
            <a:endParaRPr lang="en-CA" dirty="0"/>
          </a:p>
        </p:txBody>
      </p:sp>
      <p:pic>
        <p:nvPicPr>
          <p:cNvPr id="13" name="Picture 12">
            <a:extLst>
              <a:ext uri="{FF2B5EF4-FFF2-40B4-BE49-F238E27FC236}">
                <a16:creationId xmlns:a16="http://schemas.microsoft.com/office/drawing/2014/main" id="{9E14A61D-4C5E-2213-24C7-6E62D3557386}"/>
              </a:ext>
            </a:extLst>
          </p:cNvPr>
          <p:cNvPicPr>
            <a:picLocks noChangeAspect="1"/>
          </p:cNvPicPr>
          <p:nvPr/>
        </p:nvPicPr>
        <p:blipFill>
          <a:blip r:embed="rId2"/>
          <a:stretch>
            <a:fillRect/>
          </a:stretch>
        </p:blipFill>
        <p:spPr>
          <a:xfrm>
            <a:off x="1097279" y="193892"/>
            <a:ext cx="9816465" cy="6112138"/>
          </a:xfrm>
          <a:prstGeom prst="rect">
            <a:avLst/>
          </a:prstGeom>
        </p:spPr>
      </p:pic>
    </p:spTree>
    <p:extLst>
      <p:ext uri="{BB962C8B-B14F-4D97-AF65-F5344CB8AC3E}">
        <p14:creationId xmlns:p14="http://schemas.microsoft.com/office/powerpoint/2010/main" val="30627246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292C71-AF85-A9E6-2F68-F7D77E7B51F0}"/>
              </a:ext>
            </a:extLst>
          </p:cNvPr>
          <p:cNvSpPr>
            <a:spLocks noGrp="1"/>
          </p:cNvSpPr>
          <p:nvPr>
            <p:ph type="title"/>
          </p:nvPr>
        </p:nvSpPr>
        <p:spPr>
          <a:xfrm>
            <a:off x="229202" y="241554"/>
            <a:ext cx="8180950" cy="729941"/>
          </a:xfrm>
        </p:spPr>
        <p:txBody>
          <a:bodyPr>
            <a:normAutofit/>
          </a:bodyPr>
          <a:lstStyle/>
          <a:p>
            <a:r>
              <a:rPr lang="en-CA" dirty="0"/>
              <a:t>Top Product Segmentation by Demand Pattern</a:t>
            </a:r>
          </a:p>
        </p:txBody>
      </p:sp>
      <p:sp>
        <p:nvSpPr>
          <p:cNvPr id="7" name="Content Placeholder 6">
            <a:extLst>
              <a:ext uri="{FF2B5EF4-FFF2-40B4-BE49-F238E27FC236}">
                <a16:creationId xmlns:a16="http://schemas.microsoft.com/office/drawing/2014/main" id="{76C14BFD-4A95-0269-B5E0-9ACBB4FBC9C4}"/>
              </a:ext>
            </a:extLst>
          </p:cNvPr>
          <p:cNvSpPr>
            <a:spLocks noGrp="1"/>
          </p:cNvSpPr>
          <p:nvPr>
            <p:ph idx="1"/>
          </p:nvPr>
        </p:nvSpPr>
        <p:spPr>
          <a:xfrm>
            <a:off x="137159" y="1181100"/>
            <a:ext cx="11924209" cy="5309808"/>
          </a:xfrm>
        </p:spPr>
        <p:txBody>
          <a:bodyPr/>
          <a:lstStyle/>
          <a:p>
            <a:pPr marL="0" indent="0">
              <a:buNone/>
            </a:pPr>
            <a:endParaRPr lang="en-CA" dirty="0"/>
          </a:p>
        </p:txBody>
      </p:sp>
      <p:sp>
        <p:nvSpPr>
          <p:cNvPr id="15" name="CatSwatch0">
            <a:extLst>
              <a:ext uri="{FF2B5EF4-FFF2-40B4-BE49-F238E27FC236}">
                <a16:creationId xmlns:a16="http://schemas.microsoft.com/office/drawing/2014/main" id="{265E6213-67E4-4959-9913-641288182C08}"/>
              </a:ext>
            </a:extLst>
          </p:cNvPr>
          <p:cNvSpPr/>
          <p:nvPr/>
        </p:nvSpPr>
        <p:spPr>
          <a:xfrm>
            <a:off x="8636000" y="1416050"/>
            <a:ext cx="152400" cy="152400"/>
          </a:xfrm>
          <a:prstGeom prst="ellipse">
            <a:avLst/>
          </a:prstGeom>
          <a:solidFill>
            <a:srgbClr val="B6A6C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CA" dirty="0"/>
          </a:p>
        </p:txBody>
      </p:sp>
      <p:sp>
        <p:nvSpPr>
          <p:cNvPr id="16" name="CatName0">
            <a:extLst>
              <a:ext uri="{FF2B5EF4-FFF2-40B4-BE49-F238E27FC236}">
                <a16:creationId xmlns:a16="http://schemas.microsoft.com/office/drawing/2014/main" id="{542DCB73-29ED-49DA-BD14-089754F50F6E}"/>
              </a:ext>
            </a:extLst>
          </p:cNvPr>
          <p:cNvSpPr txBox="1"/>
          <p:nvPr/>
        </p:nvSpPr>
        <p:spPr>
          <a:xfrm>
            <a:off x="8915400" y="1357692"/>
            <a:ext cx="2387600" cy="279400"/>
          </a:xfrm>
          <a:prstGeom prst="rect">
            <a:avLst/>
          </a:prstGeom>
          <a:noFill/>
        </p:spPr>
        <p:txBody>
          <a:bodyPr vertOverflow="overflow" vert="horz" wrap="square" rtlCol="0" anchor="t" anchorCtr="0">
            <a:noAutofit/>
          </a:bodyPr>
          <a:lstStyle/>
          <a:p>
            <a:pPr algn="l"/>
            <a:r>
              <a:rPr lang="en-CA" sz="1200" dirty="0">
                <a:solidFill>
                  <a:srgbClr val="2C3932"/>
                </a:solidFill>
              </a:rPr>
              <a:t>Various and Frequent - Erratic</a:t>
            </a:r>
          </a:p>
        </p:txBody>
      </p:sp>
      <p:sp>
        <p:nvSpPr>
          <p:cNvPr id="17" name="CatCount0">
            <a:extLst>
              <a:ext uri="{FF2B5EF4-FFF2-40B4-BE49-F238E27FC236}">
                <a16:creationId xmlns:a16="http://schemas.microsoft.com/office/drawing/2014/main" id="{70073E88-84EA-4C78-812D-627896F35DC4}"/>
              </a:ext>
            </a:extLst>
          </p:cNvPr>
          <p:cNvSpPr txBox="1"/>
          <p:nvPr/>
        </p:nvSpPr>
        <p:spPr>
          <a:xfrm>
            <a:off x="11303000" y="1364539"/>
            <a:ext cx="736600" cy="279400"/>
          </a:xfrm>
          <a:prstGeom prst="rect">
            <a:avLst/>
          </a:prstGeom>
          <a:noFill/>
        </p:spPr>
        <p:txBody>
          <a:bodyPr vertOverflow="overflow" vert="horz" wrap="square" rtlCol="0" anchor="t">
            <a:noAutofit/>
          </a:bodyPr>
          <a:lstStyle/>
          <a:p>
            <a:pPr algn="l"/>
            <a:r>
              <a:rPr lang="en-CA" sz="1400" b="1" dirty="0">
                <a:solidFill>
                  <a:srgbClr val="8B7AAE"/>
                </a:solidFill>
              </a:rPr>
              <a:t>402</a:t>
            </a:r>
          </a:p>
        </p:txBody>
      </p:sp>
      <p:sp>
        <p:nvSpPr>
          <p:cNvPr id="18" name="CatSwatch1">
            <a:extLst>
              <a:ext uri="{FF2B5EF4-FFF2-40B4-BE49-F238E27FC236}">
                <a16:creationId xmlns:a16="http://schemas.microsoft.com/office/drawing/2014/main" id="{4D0BFC88-268E-4AD2-9672-BE4867375487}"/>
              </a:ext>
            </a:extLst>
          </p:cNvPr>
          <p:cNvSpPr/>
          <p:nvPr/>
        </p:nvSpPr>
        <p:spPr>
          <a:xfrm>
            <a:off x="8623300" y="1917700"/>
            <a:ext cx="152400" cy="152400"/>
          </a:xfrm>
          <a:prstGeom prst="ellipse">
            <a:avLst/>
          </a:prstGeom>
          <a:solidFill>
            <a:srgbClr val="A8C8E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CA" dirty="0"/>
          </a:p>
        </p:txBody>
      </p:sp>
      <p:sp>
        <p:nvSpPr>
          <p:cNvPr id="19" name="CatName1">
            <a:extLst>
              <a:ext uri="{FF2B5EF4-FFF2-40B4-BE49-F238E27FC236}">
                <a16:creationId xmlns:a16="http://schemas.microsoft.com/office/drawing/2014/main" id="{1D78E9AB-F9CE-4584-A362-54B3BC2E0520}"/>
              </a:ext>
            </a:extLst>
          </p:cNvPr>
          <p:cNvSpPr txBox="1"/>
          <p:nvPr/>
        </p:nvSpPr>
        <p:spPr>
          <a:xfrm>
            <a:off x="8915400" y="1827378"/>
            <a:ext cx="2387600" cy="279400"/>
          </a:xfrm>
          <a:prstGeom prst="rect">
            <a:avLst/>
          </a:prstGeom>
          <a:noFill/>
        </p:spPr>
        <p:txBody>
          <a:bodyPr vertOverflow="overflow" vert="horz" wrap="square" rtlCol="0" anchor="t" anchorCtr="0">
            <a:noAutofit/>
          </a:bodyPr>
          <a:lstStyle/>
          <a:p>
            <a:pPr algn="l"/>
            <a:r>
              <a:rPr lang="en-CA" sz="1200" dirty="0">
                <a:solidFill>
                  <a:srgbClr val="2C3932"/>
                </a:solidFill>
              </a:rPr>
              <a:t>Consistent and Intermittent - Intermittent</a:t>
            </a:r>
          </a:p>
        </p:txBody>
      </p:sp>
      <p:sp>
        <p:nvSpPr>
          <p:cNvPr id="20" name="CatCount1">
            <a:extLst>
              <a:ext uri="{FF2B5EF4-FFF2-40B4-BE49-F238E27FC236}">
                <a16:creationId xmlns:a16="http://schemas.microsoft.com/office/drawing/2014/main" id="{01DD43CF-D075-4108-8E55-82182089A17C}"/>
              </a:ext>
            </a:extLst>
          </p:cNvPr>
          <p:cNvSpPr txBox="1"/>
          <p:nvPr/>
        </p:nvSpPr>
        <p:spPr>
          <a:xfrm>
            <a:off x="11303000" y="1852992"/>
            <a:ext cx="736600" cy="279400"/>
          </a:xfrm>
          <a:prstGeom prst="rect">
            <a:avLst/>
          </a:prstGeom>
          <a:noFill/>
        </p:spPr>
        <p:txBody>
          <a:bodyPr vertOverflow="overflow" vert="horz" wrap="square" rtlCol="0" anchor="t">
            <a:noAutofit/>
          </a:bodyPr>
          <a:lstStyle/>
          <a:p>
            <a:pPr algn="l"/>
            <a:r>
              <a:rPr lang="en-CA" sz="1400" b="1" dirty="0">
                <a:solidFill>
                  <a:srgbClr val="5B95C8"/>
                </a:solidFill>
              </a:rPr>
              <a:t>278</a:t>
            </a:r>
          </a:p>
        </p:txBody>
      </p:sp>
      <p:sp>
        <p:nvSpPr>
          <p:cNvPr id="21" name="CatSwatch2">
            <a:extLst>
              <a:ext uri="{FF2B5EF4-FFF2-40B4-BE49-F238E27FC236}">
                <a16:creationId xmlns:a16="http://schemas.microsoft.com/office/drawing/2014/main" id="{60B7B763-D802-48AA-82BA-50C624172EC4}"/>
              </a:ext>
            </a:extLst>
          </p:cNvPr>
          <p:cNvSpPr/>
          <p:nvPr/>
        </p:nvSpPr>
        <p:spPr>
          <a:xfrm>
            <a:off x="8636000" y="2400300"/>
            <a:ext cx="152400" cy="152400"/>
          </a:xfrm>
          <a:prstGeom prst="ellipse">
            <a:avLst/>
          </a:prstGeom>
          <a:solidFill>
            <a:srgbClr val="E89B9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CA"/>
          </a:p>
        </p:txBody>
      </p:sp>
      <p:sp>
        <p:nvSpPr>
          <p:cNvPr id="22" name="CatName2">
            <a:extLst>
              <a:ext uri="{FF2B5EF4-FFF2-40B4-BE49-F238E27FC236}">
                <a16:creationId xmlns:a16="http://schemas.microsoft.com/office/drawing/2014/main" id="{E7963B5F-F01E-485D-A03C-21F5E60DB591}"/>
              </a:ext>
            </a:extLst>
          </p:cNvPr>
          <p:cNvSpPr txBox="1"/>
          <p:nvPr/>
        </p:nvSpPr>
        <p:spPr>
          <a:xfrm>
            <a:off x="8915400" y="2374900"/>
            <a:ext cx="2387600" cy="279400"/>
          </a:xfrm>
          <a:prstGeom prst="rect">
            <a:avLst/>
          </a:prstGeom>
          <a:noFill/>
        </p:spPr>
        <p:txBody>
          <a:bodyPr vertOverflow="overflow" vert="horz" wrap="square" rtlCol="0" anchor="t" anchorCtr="0">
            <a:noAutofit/>
          </a:bodyPr>
          <a:lstStyle/>
          <a:p>
            <a:pPr algn="l"/>
            <a:r>
              <a:rPr lang="en-CA" sz="1200" dirty="0">
                <a:solidFill>
                  <a:srgbClr val="2C3932"/>
                </a:solidFill>
              </a:rPr>
              <a:t>Consistent and Frequent – Smooth </a:t>
            </a:r>
          </a:p>
        </p:txBody>
      </p:sp>
      <p:sp>
        <p:nvSpPr>
          <p:cNvPr id="23" name="CatCount2">
            <a:extLst>
              <a:ext uri="{FF2B5EF4-FFF2-40B4-BE49-F238E27FC236}">
                <a16:creationId xmlns:a16="http://schemas.microsoft.com/office/drawing/2014/main" id="{00190097-EE0F-45AC-9937-0B194C356538}"/>
              </a:ext>
            </a:extLst>
          </p:cNvPr>
          <p:cNvSpPr txBox="1"/>
          <p:nvPr/>
        </p:nvSpPr>
        <p:spPr>
          <a:xfrm>
            <a:off x="11313884" y="2371725"/>
            <a:ext cx="736600" cy="279400"/>
          </a:xfrm>
          <a:prstGeom prst="rect">
            <a:avLst/>
          </a:prstGeom>
          <a:noFill/>
        </p:spPr>
        <p:txBody>
          <a:bodyPr vertOverflow="overflow" vert="horz" wrap="square" rtlCol="0" anchor="t">
            <a:noAutofit/>
          </a:bodyPr>
          <a:lstStyle/>
          <a:p>
            <a:pPr algn="l"/>
            <a:r>
              <a:rPr lang="en-CA" sz="1400" b="1" dirty="0">
                <a:solidFill>
                  <a:srgbClr val="C56666"/>
                </a:solidFill>
              </a:rPr>
              <a:t>235</a:t>
            </a:r>
          </a:p>
        </p:txBody>
      </p:sp>
      <p:sp>
        <p:nvSpPr>
          <p:cNvPr id="24" name="CatSwatch3">
            <a:extLst>
              <a:ext uri="{FF2B5EF4-FFF2-40B4-BE49-F238E27FC236}">
                <a16:creationId xmlns:a16="http://schemas.microsoft.com/office/drawing/2014/main" id="{251CF161-FAE5-49DE-A658-E65E9B0F4F61}"/>
              </a:ext>
            </a:extLst>
          </p:cNvPr>
          <p:cNvSpPr/>
          <p:nvPr/>
        </p:nvSpPr>
        <p:spPr>
          <a:xfrm>
            <a:off x="8623300" y="2933700"/>
            <a:ext cx="152400" cy="152400"/>
          </a:xfrm>
          <a:prstGeom prst="ellipse">
            <a:avLst/>
          </a:prstGeom>
          <a:solidFill>
            <a:srgbClr val="F0B88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CA"/>
          </a:p>
        </p:txBody>
      </p:sp>
      <p:sp>
        <p:nvSpPr>
          <p:cNvPr id="25" name="CatName3">
            <a:extLst>
              <a:ext uri="{FF2B5EF4-FFF2-40B4-BE49-F238E27FC236}">
                <a16:creationId xmlns:a16="http://schemas.microsoft.com/office/drawing/2014/main" id="{816A8AAB-8C66-4932-903E-25EE1D258250}"/>
              </a:ext>
            </a:extLst>
          </p:cNvPr>
          <p:cNvSpPr txBox="1"/>
          <p:nvPr/>
        </p:nvSpPr>
        <p:spPr>
          <a:xfrm>
            <a:off x="8915400" y="2860576"/>
            <a:ext cx="2387600" cy="279400"/>
          </a:xfrm>
          <a:prstGeom prst="rect">
            <a:avLst/>
          </a:prstGeom>
          <a:noFill/>
        </p:spPr>
        <p:txBody>
          <a:bodyPr vertOverflow="overflow" vert="horz" wrap="square" rtlCol="0" anchor="t" anchorCtr="0">
            <a:noAutofit/>
          </a:bodyPr>
          <a:lstStyle/>
          <a:p>
            <a:pPr algn="l"/>
            <a:r>
              <a:rPr lang="en-CA" sz="1200" dirty="0">
                <a:solidFill>
                  <a:srgbClr val="2C3932"/>
                </a:solidFill>
              </a:rPr>
              <a:t>Various and Intermittent – Lumpy </a:t>
            </a:r>
          </a:p>
        </p:txBody>
      </p:sp>
      <p:sp>
        <p:nvSpPr>
          <p:cNvPr id="26" name="CatCount3">
            <a:extLst>
              <a:ext uri="{FF2B5EF4-FFF2-40B4-BE49-F238E27FC236}">
                <a16:creationId xmlns:a16="http://schemas.microsoft.com/office/drawing/2014/main" id="{7684C01C-0E8A-4B3B-879C-A664008D1BEB}"/>
              </a:ext>
            </a:extLst>
          </p:cNvPr>
          <p:cNvSpPr txBox="1"/>
          <p:nvPr/>
        </p:nvSpPr>
        <p:spPr>
          <a:xfrm>
            <a:off x="11303000" y="2813050"/>
            <a:ext cx="736600" cy="279400"/>
          </a:xfrm>
          <a:prstGeom prst="rect">
            <a:avLst/>
          </a:prstGeom>
          <a:noFill/>
        </p:spPr>
        <p:txBody>
          <a:bodyPr vertOverflow="overflow" vert="horz" wrap="square" rtlCol="0" anchor="t">
            <a:noAutofit/>
          </a:bodyPr>
          <a:lstStyle/>
          <a:p>
            <a:pPr algn="l"/>
            <a:r>
              <a:rPr lang="en-CA" sz="1400" b="1" dirty="0">
                <a:solidFill>
                  <a:srgbClr val="D08A4E"/>
                </a:solidFill>
              </a:rPr>
              <a:t>212</a:t>
            </a:r>
          </a:p>
        </p:txBody>
      </p:sp>
      <p:sp>
        <p:nvSpPr>
          <p:cNvPr id="27" name="CatSwatch4">
            <a:extLst>
              <a:ext uri="{FF2B5EF4-FFF2-40B4-BE49-F238E27FC236}">
                <a16:creationId xmlns:a16="http://schemas.microsoft.com/office/drawing/2014/main" id="{654B7BAF-3C36-4825-B1AC-32EA760D500D}"/>
              </a:ext>
            </a:extLst>
          </p:cNvPr>
          <p:cNvSpPr/>
          <p:nvPr/>
        </p:nvSpPr>
        <p:spPr>
          <a:xfrm>
            <a:off x="8636000" y="3390900"/>
            <a:ext cx="152400" cy="152400"/>
          </a:xfrm>
          <a:prstGeom prst="ellipse">
            <a:avLst/>
          </a:prstGeom>
          <a:solidFill>
            <a:srgbClr val="A8D5A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CA"/>
          </a:p>
        </p:txBody>
      </p:sp>
      <p:sp>
        <p:nvSpPr>
          <p:cNvPr id="28" name="CatName4">
            <a:extLst>
              <a:ext uri="{FF2B5EF4-FFF2-40B4-BE49-F238E27FC236}">
                <a16:creationId xmlns:a16="http://schemas.microsoft.com/office/drawing/2014/main" id="{6CB716AB-78F7-4329-9A2A-3B1BD32F1141}"/>
              </a:ext>
            </a:extLst>
          </p:cNvPr>
          <p:cNvSpPr txBox="1"/>
          <p:nvPr/>
        </p:nvSpPr>
        <p:spPr>
          <a:xfrm>
            <a:off x="8926284" y="3359150"/>
            <a:ext cx="2387600" cy="279400"/>
          </a:xfrm>
          <a:prstGeom prst="rect">
            <a:avLst/>
          </a:prstGeom>
          <a:noFill/>
        </p:spPr>
        <p:txBody>
          <a:bodyPr vertOverflow="overflow" vert="horz" wrap="square" rtlCol="0" anchor="t" anchorCtr="0">
            <a:noAutofit/>
          </a:bodyPr>
          <a:lstStyle/>
          <a:p>
            <a:pPr algn="l"/>
            <a:r>
              <a:rPr lang="en-CA" sz="1200" dirty="0">
                <a:solidFill>
                  <a:srgbClr val="2C3932"/>
                </a:solidFill>
              </a:rPr>
              <a:t>Sparse</a:t>
            </a:r>
          </a:p>
        </p:txBody>
      </p:sp>
      <p:sp>
        <p:nvSpPr>
          <p:cNvPr id="29" name="CatCount4">
            <a:extLst>
              <a:ext uri="{FF2B5EF4-FFF2-40B4-BE49-F238E27FC236}">
                <a16:creationId xmlns:a16="http://schemas.microsoft.com/office/drawing/2014/main" id="{D4341319-168D-401F-9EB7-AEFBB6422997}"/>
              </a:ext>
            </a:extLst>
          </p:cNvPr>
          <p:cNvSpPr txBox="1"/>
          <p:nvPr/>
        </p:nvSpPr>
        <p:spPr>
          <a:xfrm>
            <a:off x="11303000" y="3311498"/>
            <a:ext cx="736600" cy="279400"/>
          </a:xfrm>
          <a:prstGeom prst="rect">
            <a:avLst/>
          </a:prstGeom>
          <a:noFill/>
        </p:spPr>
        <p:txBody>
          <a:bodyPr vertOverflow="overflow" vert="horz" wrap="square" rtlCol="0" anchor="t">
            <a:noAutofit/>
          </a:bodyPr>
          <a:lstStyle/>
          <a:p>
            <a:pPr algn="l"/>
            <a:r>
              <a:rPr lang="en-CA" sz="1400" b="1" dirty="0">
                <a:solidFill>
                  <a:srgbClr val="5FA85F"/>
                </a:solidFill>
              </a:rPr>
              <a:t>147</a:t>
            </a:r>
          </a:p>
        </p:txBody>
      </p:sp>
      <p:sp>
        <p:nvSpPr>
          <p:cNvPr id="30" name="Rectangle 29">
            <a:extLst>
              <a:ext uri="{FF2B5EF4-FFF2-40B4-BE49-F238E27FC236}">
                <a16:creationId xmlns:a16="http://schemas.microsoft.com/office/drawing/2014/main" id="{D5B40715-9FE5-40E8-A0DF-80024E5C4D91}"/>
              </a:ext>
            </a:extLst>
          </p:cNvPr>
          <p:cNvSpPr/>
          <p:nvPr/>
        </p:nvSpPr>
        <p:spPr>
          <a:xfrm>
            <a:off x="8636000" y="3695700"/>
            <a:ext cx="3403600" cy="12700"/>
          </a:xfrm>
          <a:prstGeom prst="rect">
            <a:avLst/>
          </a:prstGeom>
          <a:solidFill>
            <a:srgbClr val="CFCFC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CA"/>
          </a:p>
        </p:txBody>
      </p:sp>
      <p:sp>
        <p:nvSpPr>
          <p:cNvPr id="31" name="TextBox 30">
            <a:extLst>
              <a:ext uri="{FF2B5EF4-FFF2-40B4-BE49-F238E27FC236}">
                <a16:creationId xmlns:a16="http://schemas.microsoft.com/office/drawing/2014/main" id="{C1A1EFB1-B93C-403E-885F-BAF8733A34EF}"/>
              </a:ext>
            </a:extLst>
          </p:cNvPr>
          <p:cNvSpPr txBox="1"/>
          <p:nvPr/>
        </p:nvSpPr>
        <p:spPr>
          <a:xfrm>
            <a:off x="8636000" y="3797300"/>
            <a:ext cx="1270000" cy="279400"/>
          </a:xfrm>
          <a:prstGeom prst="rect">
            <a:avLst/>
          </a:prstGeom>
          <a:noFill/>
        </p:spPr>
        <p:txBody>
          <a:bodyPr vertOverflow="overflow" vert="horz" wrap="square" rtlCol="0" anchor="t">
            <a:noAutofit/>
          </a:bodyPr>
          <a:lstStyle/>
          <a:p>
            <a:pPr algn="l"/>
            <a:r>
              <a:rPr lang="en-CA" sz="1200" dirty="0">
                <a:solidFill>
                  <a:srgbClr val="5A6660"/>
                </a:solidFill>
              </a:rPr>
              <a:t>Total</a:t>
            </a:r>
          </a:p>
        </p:txBody>
      </p:sp>
      <p:sp>
        <p:nvSpPr>
          <p:cNvPr id="32" name="TextBox 31">
            <a:extLst>
              <a:ext uri="{FF2B5EF4-FFF2-40B4-BE49-F238E27FC236}">
                <a16:creationId xmlns:a16="http://schemas.microsoft.com/office/drawing/2014/main" id="{EB32D061-789A-4827-9DC0-0EF13C7BD61B}"/>
              </a:ext>
            </a:extLst>
          </p:cNvPr>
          <p:cNvSpPr txBox="1"/>
          <p:nvPr/>
        </p:nvSpPr>
        <p:spPr>
          <a:xfrm>
            <a:off x="11150600" y="3771900"/>
            <a:ext cx="889000" cy="304800"/>
          </a:xfrm>
          <a:prstGeom prst="rect">
            <a:avLst/>
          </a:prstGeom>
          <a:noFill/>
        </p:spPr>
        <p:txBody>
          <a:bodyPr vertOverflow="overflow" vert="horz" wrap="square" rtlCol="0" anchor="t">
            <a:noAutofit/>
          </a:bodyPr>
          <a:lstStyle/>
          <a:p>
            <a:pPr algn="l"/>
            <a:r>
              <a:rPr lang="en-CA" sz="1400" b="1" dirty="0">
                <a:solidFill>
                  <a:srgbClr val="2C3932"/>
                </a:solidFill>
              </a:rPr>
              <a:t>1,274</a:t>
            </a:r>
          </a:p>
        </p:txBody>
      </p:sp>
      <p:sp>
        <p:nvSpPr>
          <p:cNvPr id="9" name="TextBox 8">
            <a:extLst>
              <a:ext uri="{FF2B5EF4-FFF2-40B4-BE49-F238E27FC236}">
                <a16:creationId xmlns:a16="http://schemas.microsoft.com/office/drawing/2014/main" id="{9A3F75E7-CF6E-5588-5408-D80FD3F20C72}"/>
              </a:ext>
            </a:extLst>
          </p:cNvPr>
          <p:cNvSpPr txBox="1"/>
          <p:nvPr/>
        </p:nvSpPr>
        <p:spPr>
          <a:xfrm>
            <a:off x="8502193" y="4273352"/>
            <a:ext cx="3403600" cy="1384995"/>
          </a:xfrm>
          <a:prstGeom prst="rect">
            <a:avLst/>
          </a:prstGeom>
          <a:noFill/>
        </p:spPr>
        <p:txBody>
          <a:bodyPr wrap="square" rtlCol="0">
            <a:spAutoFit/>
          </a:bodyPr>
          <a:lstStyle/>
          <a:p>
            <a:r>
              <a:rPr lang="en-CA" sz="1400" dirty="0"/>
              <a:t>- ADI = 20.13 means that from last year till today, the sales happened around 18 days.</a:t>
            </a:r>
          </a:p>
          <a:p>
            <a:r>
              <a:rPr lang="en-CA" sz="1400" dirty="0"/>
              <a:t>- ADI = 117.33 means that from last year till today, the sales happened around 3 days.</a:t>
            </a:r>
          </a:p>
        </p:txBody>
      </p:sp>
      <p:pic>
        <p:nvPicPr>
          <p:cNvPr id="6" name="Picture 5">
            <a:extLst>
              <a:ext uri="{FF2B5EF4-FFF2-40B4-BE49-F238E27FC236}">
                <a16:creationId xmlns:a16="http://schemas.microsoft.com/office/drawing/2014/main" id="{BB1549F9-7116-DE6F-7D3E-FC5918F94ED6}"/>
              </a:ext>
            </a:extLst>
          </p:cNvPr>
          <p:cNvPicPr>
            <a:picLocks noChangeAspect="1"/>
          </p:cNvPicPr>
          <p:nvPr/>
        </p:nvPicPr>
        <p:blipFill>
          <a:blip r:embed="rId2"/>
          <a:stretch>
            <a:fillRect/>
          </a:stretch>
        </p:blipFill>
        <p:spPr>
          <a:xfrm>
            <a:off x="106528" y="1236344"/>
            <a:ext cx="8426298" cy="4709108"/>
          </a:xfrm>
          <a:prstGeom prst="rect">
            <a:avLst/>
          </a:prstGeom>
        </p:spPr>
      </p:pic>
    </p:spTree>
    <p:extLst>
      <p:ext uri="{BB962C8B-B14F-4D97-AF65-F5344CB8AC3E}">
        <p14:creationId xmlns:p14="http://schemas.microsoft.com/office/powerpoint/2010/main" val="5759856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BD2400-94AD-31F6-37F1-0D93921947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BB50A7-8097-B5C9-4E58-9ED8D14ADA20}"/>
              </a:ext>
            </a:extLst>
          </p:cNvPr>
          <p:cNvSpPr>
            <a:spLocks noGrp="1"/>
          </p:cNvSpPr>
          <p:nvPr>
            <p:ph type="title"/>
          </p:nvPr>
        </p:nvSpPr>
        <p:spPr>
          <a:xfrm>
            <a:off x="612648" y="548640"/>
            <a:ext cx="10653578" cy="1132258"/>
          </a:xfrm>
        </p:spPr>
        <p:txBody>
          <a:bodyPr>
            <a:normAutofit/>
          </a:bodyPr>
          <a:lstStyle/>
          <a:p>
            <a:r>
              <a:rPr lang="en-US" dirty="0"/>
              <a:t>Smooth</a:t>
            </a:r>
          </a:p>
        </p:txBody>
      </p:sp>
      <p:sp>
        <p:nvSpPr>
          <p:cNvPr id="4" name="Content Placeholder 3">
            <a:extLst>
              <a:ext uri="{FF2B5EF4-FFF2-40B4-BE49-F238E27FC236}">
                <a16:creationId xmlns:a16="http://schemas.microsoft.com/office/drawing/2014/main" id="{32736EAF-69CA-1BE0-F864-B502A89E5D2C}"/>
              </a:ext>
            </a:extLst>
          </p:cNvPr>
          <p:cNvSpPr>
            <a:spLocks noGrp="1"/>
          </p:cNvSpPr>
          <p:nvPr>
            <p:ph idx="1"/>
          </p:nvPr>
        </p:nvSpPr>
        <p:spPr/>
        <p:txBody>
          <a:bodyPr/>
          <a:lstStyle/>
          <a:p>
            <a:pPr marL="0" indent="0">
              <a:lnSpc>
                <a:spcPct val="120000"/>
              </a:lnSpc>
              <a:spcBef>
                <a:spcPts val="0"/>
              </a:spcBef>
              <a:buNone/>
            </a:pPr>
            <a:r>
              <a:rPr lang="en-CA" sz="1800" b="1" dirty="0">
                <a:solidFill>
                  <a:schemeClr val="accent1"/>
                </a:solidFill>
              </a:rPr>
              <a:t>Low ADI (Frequent) · Low CV² (Consistent)</a:t>
            </a:r>
          </a:p>
          <a:p>
            <a:pPr marL="0" indent="0">
              <a:buNone/>
            </a:pPr>
            <a:r>
              <a:rPr lang="en-CA" dirty="0"/>
              <a:t>Forecast Mean = Syntetos –Boylan Approximation ( </a:t>
            </a:r>
            <a:r>
              <a:rPr lang="el-GR" dirty="0">
                <a:latin typeface="Times New Roman" panose="02020603050405020304" pitchFamily="18" charset="0"/>
                <a:cs typeface="Times New Roman" panose="02020603050405020304" pitchFamily="18" charset="0"/>
              </a:rPr>
              <a:t>α</a:t>
            </a:r>
            <a:r>
              <a:rPr lang="en-CA" dirty="0">
                <a:latin typeface="Times New Roman" panose="02020603050405020304" pitchFamily="18" charset="0"/>
                <a:cs typeface="Times New Roman" panose="02020603050405020304" pitchFamily="18" charset="0"/>
              </a:rPr>
              <a:t> = 0.2 ) </a:t>
            </a:r>
            <a:endParaRPr lang="en-CA" dirty="0"/>
          </a:p>
          <a:p>
            <a:pPr marL="0" indent="0">
              <a:lnSpc>
                <a:spcPct val="120000"/>
              </a:lnSpc>
              <a:spcBef>
                <a:spcPts val="300"/>
              </a:spcBef>
              <a:buNone/>
            </a:pPr>
            <a:r>
              <a:rPr lang="en-CA" sz="1800" dirty="0"/>
              <a:t>Review Cycle Demand = Review Cycle × Forecast Mean Demand</a:t>
            </a:r>
          </a:p>
          <a:p>
            <a:pPr marL="0" indent="0">
              <a:lnSpc>
                <a:spcPct val="120000"/>
              </a:lnSpc>
              <a:spcBef>
                <a:spcPts val="300"/>
              </a:spcBef>
              <a:buNone/>
            </a:pPr>
            <a:r>
              <a:rPr lang="en-CA" sz="1800" dirty="0"/>
              <a:t>Safety stock: bootstrapping samples, 70</a:t>
            </a:r>
            <a:r>
              <a:rPr lang="en-CA" sz="1800" baseline="30000" dirty="0"/>
              <a:t>th</a:t>
            </a:r>
            <a:r>
              <a:rPr lang="en-CA" sz="1800" dirty="0"/>
              <a:t> percentile – average demand over Review Period + Lead Time</a:t>
            </a:r>
          </a:p>
          <a:p>
            <a:pPr marL="0" indent="0">
              <a:lnSpc>
                <a:spcPct val="120000"/>
              </a:lnSpc>
              <a:spcBef>
                <a:spcPts val="300"/>
              </a:spcBef>
              <a:buNone/>
            </a:pPr>
            <a:r>
              <a:rPr lang="en-CA" sz="1800" dirty="0"/>
              <a:t>Lead Time (days) is fixed, provided by demand planner.</a:t>
            </a:r>
          </a:p>
          <a:p>
            <a:pPr marL="0" indent="0">
              <a:lnSpc>
                <a:spcPct val="120000"/>
              </a:lnSpc>
              <a:spcBef>
                <a:spcPts val="300"/>
              </a:spcBef>
              <a:buNone/>
            </a:pPr>
            <a:r>
              <a:rPr lang="en-CA" sz="1800" dirty="0"/>
              <a:t>Lead Time Demand = Lead Time (days) × Forecast Mean Demand</a:t>
            </a:r>
          </a:p>
          <a:p>
            <a:pPr marL="0" indent="0">
              <a:lnSpc>
                <a:spcPct val="120000"/>
              </a:lnSpc>
              <a:spcBef>
                <a:spcPts val="300"/>
              </a:spcBef>
              <a:buNone/>
            </a:pPr>
            <a:r>
              <a:rPr lang="en-CA" sz="1800" dirty="0"/>
              <a:t>Reorder Point = Lead Time Demand + Safety Stock</a:t>
            </a:r>
          </a:p>
          <a:p>
            <a:pPr marL="0" indent="0">
              <a:lnSpc>
                <a:spcPct val="120000"/>
              </a:lnSpc>
              <a:spcBef>
                <a:spcPts val="300"/>
              </a:spcBef>
              <a:buNone/>
            </a:pPr>
            <a:r>
              <a:rPr lang="en-CA" sz="1800" dirty="0"/>
              <a:t>Preferred Stock Level = Reorder Point+ Review Cycle Demand</a:t>
            </a:r>
          </a:p>
        </p:txBody>
      </p:sp>
    </p:spTree>
    <p:extLst>
      <p:ext uri="{BB962C8B-B14F-4D97-AF65-F5344CB8AC3E}">
        <p14:creationId xmlns:p14="http://schemas.microsoft.com/office/powerpoint/2010/main" val="38183231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BD2400-94AD-31F6-37F1-0D93921947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BB50A7-8097-B5C9-4E58-9ED8D14ADA20}"/>
              </a:ext>
            </a:extLst>
          </p:cNvPr>
          <p:cNvSpPr>
            <a:spLocks noGrp="1"/>
          </p:cNvSpPr>
          <p:nvPr>
            <p:ph type="title"/>
          </p:nvPr>
        </p:nvSpPr>
        <p:spPr>
          <a:xfrm>
            <a:off x="612647" y="748665"/>
            <a:ext cx="9302877" cy="861060"/>
          </a:xfrm>
        </p:spPr>
        <p:txBody>
          <a:bodyPr>
            <a:normAutofit/>
          </a:bodyPr>
          <a:lstStyle/>
          <a:p>
            <a:r>
              <a:rPr lang="en-US" dirty="0"/>
              <a:t>Intermittent</a:t>
            </a:r>
          </a:p>
        </p:txBody>
      </p:sp>
      <mc:AlternateContent xmlns:mc="http://schemas.openxmlformats.org/markup-compatibility/2006">
        <mc:Choice xmlns:a14="http://schemas.microsoft.com/office/drawing/2010/main" Requires="a14">
          <p:sp>
            <p:nvSpPr>
              <p:cNvPr id="4" name="Content Placeholder 3">
                <a:extLst>
                  <a:ext uri="{FF2B5EF4-FFF2-40B4-BE49-F238E27FC236}">
                    <a16:creationId xmlns:a16="http://schemas.microsoft.com/office/drawing/2014/main" id="{32736EAF-69CA-1BE0-F864-B502A89E5D2C}"/>
                  </a:ext>
                </a:extLst>
              </p:cNvPr>
              <p:cNvSpPr>
                <a:spLocks noGrp="1"/>
              </p:cNvSpPr>
              <p:nvPr>
                <p:ph idx="1"/>
              </p:nvPr>
            </p:nvSpPr>
            <p:spPr>
              <a:xfrm>
                <a:off x="612647" y="1686957"/>
                <a:ext cx="10653579" cy="4593828"/>
              </a:xfrm>
            </p:spPr>
            <p:txBody>
              <a:bodyPr>
                <a:normAutofit fontScale="92500" lnSpcReduction="10000"/>
              </a:bodyPr>
              <a:lstStyle/>
              <a:p>
                <a:pPr marL="0" indent="0">
                  <a:lnSpc>
                    <a:spcPct val="120000"/>
                  </a:lnSpc>
                  <a:spcBef>
                    <a:spcPts val="0"/>
                  </a:spcBef>
                  <a:buNone/>
                </a:pPr>
                <a:r>
                  <a:rPr lang="en-CA" sz="1800" b="1" dirty="0">
                    <a:solidFill>
                      <a:schemeClr val="accent1"/>
                    </a:solidFill>
                  </a:rPr>
                  <a:t>High ADI (Sparse) · Low CV² (Consistent)</a:t>
                </a:r>
              </a:p>
              <a:p>
                <a:pPr marL="0" indent="0">
                  <a:buNone/>
                </a:pPr>
                <a:r>
                  <a:rPr lang="en-CA" dirty="0"/>
                  <a:t>Forecast Mean = Syntetos –Boylan Approximation ( </a:t>
                </a:r>
                <a:r>
                  <a:rPr lang="el-GR" dirty="0">
                    <a:latin typeface="Times New Roman" panose="02020603050405020304" pitchFamily="18" charset="0"/>
                    <a:cs typeface="Times New Roman" panose="02020603050405020304" pitchFamily="18" charset="0"/>
                  </a:rPr>
                  <a:t>α</a:t>
                </a:r>
                <a:r>
                  <a:rPr lang="en-CA" dirty="0">
                    <a:latin typeface="Times New Roman" panose="02020603050405020304" pitchFamily="18" charset="0"/>
                    <a:cs typeface="Times New Roman" panose="02020603050405020304" pitchFamily="18" charset="0"/>
                  </a:rPr>
                  <a:t> = 0.1, fewer observation relies more on the whole pictures) </a:t>
                </a:r>
                <a:endParaRPr lang="en-CA" dirty="0"/>
              </a:p>
              <a:p>
                <a:pPr marL="0" indent="0">
                  <a:spcBef>
                    <a:spcPts val="300"/>
                  </a:spcBef>
                  <a:buNone/>
                </a:pPr>
                <a:r>
                  <a:rPr lang="en-CA" dirty="0"/>
                  <a:t>Review Cycle Demand = Review Cycle × Forecast Mean Demand</a:t>
                </a:r>
              </a:p>
              <a:p>
                <a:pPr marL="0" indent="0">
                  <a:spcBef>
                    <a:spcPts val="300"/>
                  </a:spcBef>
                  <a:buNone/>
                </a:pPr>
                <a:r>
                  <a:rPr lang="en-CA" dirty="0"/>
                  <a:t>Lead Time (days) is fixed, provided by demand planner.</a:t>
                </a:r>
              </a:p>
              <a:p>
                <a:pPr marL="0" indent="0">
                  <a:spcBef>
                    <a:spcPts val="300"/>
                  </a:spcBef>
                  <a:buNone/>
                </a:pPr>
                <a:r>
                  <a:rPr lang="en-CA" dirty="0"/>
                  <a:t>Lead Time Demand = Lead Time (days) × Forecast Mean Demand</a:t>
                </a:r>
              </a:p>
              <a:p>
                <a:pPr marL="0" indent="0">
                  <a:spcBef>
                    <a:spcPts val="300"/>
                  </a:spcBef>
                  <a:buNone/>
                </a:pPr>
                <a:r>
                  <a:rPr lang="en-CA" dirty="0"/>
                  <a:t>Safety Stock = NB(k, p, service level) – next period forecast mean ( service level = 0.80 )</a:t>
                </a:r>
              </a:p>
              <a:p>
                <a:pPr>
                  <a:spcBef>
                    <a:spcPts val="300"/>
                  </a:spcBef>
                  <a:buFontTx/>
                  <a:buChar char="-"/>
                </a:pPr>
                <a:r>
                  <a:rPr lang="en-CA" dirty="0"/>
                  <a:t>k = </a:t>
                </a:r>
                <a14:m>
                  <m:oMath xmlns:m="http://schemas.openxmlformats.org/officeDocument/2006/math">
                    <m:f>
                      <m:fPr>
                        <m:ctrlPr>
                          <a:rPr lang="en-CA" i="1">
                            <a:latin typeface="Cambria Math" panose="02040503050406030204" pitchFamily="18" charset="0"/>
                          </a:rPr>
                        </m:ctrlPr>
                      </m:fPr>
                      <m:num>
                        <m:sSup>
                          <m:sSupPr>
                            <m:ctrlPr>
                              <a:rPr lang="en-CA" i="1">
                                <a:latin typeface="Cambria Math" panose="02040503050406030204" pitchFamily="18" charset="0"/>
                              </a:rPr>
                            </m:ctrlPr>
                          </m:sSupPr>
                          <m:e>
                            <m:r>
                              <a:rPr lang="en-CA" i="1">
                                <a:latin typeface="Cambria Math" panose="02040503050406030204" pitchFamily="18" charset="0"/>
                              </a:rPr>
                              <m:t>𝑢</m:t>
                            </m:r>
                          </m:e>
                          <m:sup>
                            <m:r>
                              <a:rPr lang="en-CA" i="1">
                                <a:latin typeface="Cambria Math" panose="02040503050406030204" pitchFamily="18" charset="0"/>
                              </a:rPr>
                              <m:t>2</m:t>
                            </m:r>
                          </m:sup>
                        </m:sSup>
                      </m:num>
                      <m:den>
                        <m:r>
                          <a:rPr lang="en-CA" i="1">
                            <a:latin typeface="Cambria Math" panose="02040503050406030204" pitchFamily="18" charset="0"/>
                          </a:rPr>
                          <m:t>𝑉𝑎𝑟</m:t>
                        </m:r>
                        <m:d>
                          <m:dPr>
                            <m:ctrlPr>
                              <a:rPr lang="en-CA" i="1">
                                <a:latin typeface="Cambria Math" panose="02040503050406030204" pitchFamily="18" charset="0"/>
                              </a:rPr>
                            </m:ctrlPr>
                          </m:dPr>
                          <m:e>
                            <m:r>
                              <a:rPr lang="en-CA" i="1">
                                <a:latin typeface="Cambria Math" panose="02040503050406030204" pitchFamily="18" charset="0"/>
                              </a:rPr>
                              <m:t>𝑋</m:t>
                            </m:r>
                          </m:e>
                        </m:d>
                        <m:r>
                          <a:rPr lang="en-CA" i="1">
                            <a:latin typeface="Cambria Math" panose="02040503050406030204" pitchFamily="18" charset="0"/>
                          </a:rPr>
                          <m:t>−</m:t>
                        </m:r>
                        <m:r>
                          <a:rPr lang="en-CA" i="1">
                            <a:latin typeface="Cambria Math" panose="02040503050406030204" pitchFamily="18" charset="0"/>
                          </a:rPr>
                          <m:t>𝑢</m:t>
                        </m:r>
                      </m:den>
                    </m:f>
                    <m:r>
                      <a:rPr lang="en-CA">
                        <a:latin typeface="Cambria Math" panose="02040503050406030204" pitchFamily="18" charset="0"/>
                      </a:rPr>
                      <m:t>  , </m:t>
                    </m:r>
                    <m:r>
                      <m:rPr>
                        <m:sty m:val="p"/>
                      </m:rPr>
                      <a:rPr lang="en-CA">
                        <a:latin typeface="Cambria Math" panose="02040503050406030204" pitchFamily="18" charset="0"/>
                      </a:rPr>
                      <m:t>u</m:t>
                    </m:r>
                    <m:r>
                      <a:rPr lang="en-CA">
                        <a:latin typeface="Cambria Math" panose="02040503050406030204" pitchFamily="18" charset="0"/>
                      </a:rPr>
                      <m:t> </m:t>
                    </m:r>
                    <m:r>
                      <m:rPr>
                        <m:sty m:val="p"/>
                      </m:rPr>
                      <a:rPr lang="en-CA">
                        <a:latin typeface="Cambria Math" panose="02040503050406030204" pitchFamily="18" charset="0"/>
                      </a:rPr>
                      <m:t>and</m:t>
                    </m:r>
                    <m:r>
                      <a:rPr lang="en-CA">
                        <a:latin typeface="Cambria Math" panose="02040503050406030204" pitchFamily="18" charset="0"/>
                      </a:rPr>
                      <m:t> </m:t>
                    </m:r>
                    <m:r>
                      <m:rPr>
                        <m:sty m:val="p"/>
                      </m:rPr>
                      <a:rPr lang="en-CA">
                        <a:latin typeface="Cambria Math" panose="02040503050406030204" pitchFamily="18" charset="0"/>
                      </a:rPr>
                      <m:t>Var</m:t>
                    </m:r>
                    <m:d>
                      <m:dPr>
                        <m:ctrlPr>
                          <a:rPr lang="en-CA" i="1">
                            <a:latin typeface="Cambria Math" panose="02040503050406030204" pitchFamily="18" charset="0"/>
                          </a:rPr>
                        </m:ctrlPr>
                      </m:dPr>
                      <m:e>
                        <m:r>
                          <m:rPr>
                            <m:sty m:val="p"/>
                          </m:rPr>
                          <a:rPr lang="en-CA">
                            <a:latin typeface="Cambria Math" panose="02040503050406030204" pitchFamily="18" charset="0"/>
                          </a:rPr>
                          <m:t>x</m:t>
                        </m:r>
                      </m:e>
                    </m:d>
                    <m:r>
                      <a:rPr lang="en-CA">
                        <a:latin typeface="Cambria Math" panose="02040503050406030204" pitchFamily="18" charset="0"/>
                      </a:rPr>
                      <m:t> </m:t>
                    </m:r>
                    <m:r>
                      <m:rPr>
                        <m:sty m:val="p"/>
                      </m:rPr>
                      <a:rPr lang="en-CA">
                        <a:latin typeface="Cambria Math" panose="02040503050406030204" pitchFamily="18" charset="0"/>
                      </a:rPr>
                      <m:t>are</m:t>
                    </m:r>
                    <m:r>
                      <a:rPr lang="en-CA">
                        <a:latin typeface="Cambria Math" panose="02040503050406030204" pitchFamily="18" charset="0"/>
                      </a:rPr>
                      <m:t> </m:t>
                    </m:r>
                    <m:r>
                      <m:rPr>
                        <m:sty m:val="p"/>
                      </m:rPr>
                      <a:rPr lang="en-CA">
                        <a:latin typeface="Cambria Math" panose="02040503050406030204" pitchFamily="18" charset="0"/>
                      </a:rPr>
                      <m:t>oberserved</m:t>
                    </m:r>
                    <m:r>
                      <a:rPr lang="en-CA">
                        <a:latin typeface="Cambria Math" panose="02040503050406030204" pitchFamily="18" charset="0"/>
                      </a:rPr>
                      <m:t> </m:t>
                    </m:r>
                    <m:r>
                      <m:rPr>
                        <m:sty m:val="p"/>
                      </m:rPr>
                      <a:rPr lang="en-CA">
                        <a:latin typeface="Cambria Math" panose="02040503050406030204" pitchFamily="18" charset="0"/>
                      </a:rPr>
                      <m:t>parmamters</m:t>
                    </m:r>
                    <m:r>
                      <a:rPr lang="en-CA">
                        <a:latin typeface="Cambria Math" panose="02040503050406030204" pitchFamily="18" charset="0"/>
                      </a:rPr>
                      <m:t> </m:t>
                    </m:r>
                    <m:r>
                      <m:rPr>
                        <m:sty m:val="p"/>
                      </m:rPr>
                      <a:rPr lang="en-CA">
                        <a:latin typeface="Cambria Math" panose="02040503050406030204" pitchFamily="18" charset="0"/>
                      </a:rPr>
                      <m:t>using</m:t>
                    </m:r>
                    <m:r>
                      <a:rPr lang="en-CA">
                        <a:latin typeface="Cambria Math" panose="02040503050406030204" pitchFamily="18" charset="0"/>
                      </a:rPr>
                      <m:t> </m:t>
                    </m:r>
                    <m:r>
                      <m:rPr>
                        <m:sty m:val="p"/>
                      </m:rPr>
                      <a:rPr lang="en-CA">
                        <a:latin typeface="Cambria Math" panose="02040503050406030204" pitchFamily="18" charset="0"/>
                      </a:rPr>
                      <m:t>MoM</m:t>
                    </m:r>
                    <m:r>
                      <a:rPr lang="en-CA">
                        <a:latin typeface="Cambria Math" panose="02040503050406030204" pitchFamily="18" charset="0"/>
                      </a:rPr>
                      <m:t>.  </m:t>
                    </m:r>
                    <m:d>
                      <m:dPr>
                        <m:ctrlPr>
                          <a:rPr lang="en-CA" i="1">
                            <a:latin typeface="Cambria Math" panose="02040503050406030204" pitchFamily="18" charset="0"/>
                          </a:rPr>
                        </m:ctrlPr>
                      </m:dPr>
                      <m:e>
                        <m:r>
                          <a:rPr lang="en-CA">
                            <a:latin typeface="Cambria Math" panose="02040503050406030204" pitchFamily="18" charset="0"/>
                          </a:rPr>
                          <m:t> </m:t>
                        </m:r>
                        <m:r>
                          <m:rPr>
                            <m:sty m:val="p"/>
                          </m:rPr>
                          <a:rPr lang="en-CA">
                            <a:latin typeface="Cambria Math" panose="02040503050406030204" pitchFamily="18" charset="0"/>
                          </a:rPr>
                          <m:t>Match</m:t>
                        </m:r>
                        <m:r>
                          <a:rPr lang="en-CA">
                            <a:latin typeface="Cambria Math" panose="02040503050406030204" pitchFamily="18" charset="0"/>
                          </a:rPr>
                          <m:t> </m:t>
                        </m:r>
                        <m:r>
                          <m:rPr>
                            <m:sty m:val="p"/>
                          </m:rPr>
                          <a:rPr lang="en-CA">
                            <a:latin typeface="Cambria Math" panose="02040503050406030204" pitchFamily="18" charset="0"/>
                          </a:rPr>
                          <m:t>variance</m:t>
                        </m:r>
                        <m:r>
                          <a:rPr lang="en-CA">
                            <a:latin typeface="Cambria Math" panose="02040503050406030204" pitchFamily="18" charset="0"/>
                          </a:rPr>
                          <m:t> </m:t>
                        </m:r>
                        <m:r>
                          <m:rPr>
                            <m:sty m:val="p"/>
                          </m:rPr>
                          <a:rPr lang="en-CA">
                            <a:latin typeface="Cambria Math" panose="02040503050406030204" pitchFamily="18" charset="0"/>
                          </a:rPr>
                          <m:t>formula</m:t>
                        </m:r>
                        <m:r>
                          <a:rPr lang="en-CA">
                            <a:latin typeface="Cambria Math" panose="02040503050406030204" pitchFamily="18" charset="0"/>
                          </a:rPr>
                          <m:t> </m:t>
                        </m:r>
                      </m:e>
                    </m:d>
                  </m:oMath>
                </a14:m>
                <a:endParaRPr lang="en-CA" dirty="0">
                  <a:latin typeface="Cambria Math" panose="02040503050406030204" pitchFamily="18" charset="0"/>
                </a:endParaRPr>
              </a:p>
              <a:p>
                <a:pPr>
                  <a:spcBef>
                    <a:spcPts val="300"/>
                  </a:spcBef>
                  <a:buFontTx/>
                  <a:buChar char="-"/>
                </a:pPr>
                <a:r>
                  <a:rPr lang="en-CA" dirty="0"/>
                  <a:t>p = </a:t>
                </a:r>
                <a14:m>
                  <m:oMath xmlns:m="http://schemas.openxmlformats.org/officeDocument/2006/math">
                    <m:f>
                      <m:fPr>
                        <m:ctrlPr>
                          <a:rPr lang="en-CA" i="1">
                            <a:latin typeface="Cambria Math" panose="02040503050406030204" pitchFamily="18" charset="0"/>
                          </a:rPr>
                        </m:ctrlPr>
                      </m:fPr>
                      <m:num>
                        <m:r>
                          <a:rPr lang="en-CA" i="1">
                            <a:latin typeface="Cambria Math" panose="02040503050406030204" pitchFamily="18" charset="0"/>
                          </a:rPr>
                          <m:t>𝑘</m:t>
                        </m:r>
                      </m:num>
                      <m:den>
                        <m:r>
                          <a:rPr lang="en-CA" i="1">
                            <a:latin typeface="Cambria Math" panose="02040503050406030204" pitchFamily="18" charset="0"/>
                          </a:rPr>
                          <m:t>𝑘</m:t>
                        </m:r>
                        <m:r>
                          <a:rPr lang="en-CA" i="1">
                            <a:latin typeface="Cambria Math" panose="02040503050406030204" pitchFamily="18" charset="0"/>
                          </a:rPr>
                          <m:t>+</m:t>
                        </m:r>
                        <m:r>
                          <a:rPr lang="en-CA" i="1">
                            <a:latin typeface="Cambria Math" panose="02040503050406030204" pitchFamily="18" charset="0"/>
                          </a:rPr>
                          <m:t>𝑢</m:t>
                        </m:r>
                      </m:den>
                    </m:f>
                  </m:oMath>
                </a14:m>
                <a:r>
                  <a:rPr lang="en-CA" sz="1800" dirty="0"/>
                  <a:t> ( Match mean formula )</a:t>
                </a:r>
              </a:p>
              <a:p>
                <a:pPr marL="0" indent="0">
                  <a:spcBef>
                    <a:spcPts val="300"/>
                  </a:spcBef>
                  <a:buNone/>
                </a:pPr>
                <a:r>
                  <a:rPr lang="en-CA" dirty="0"/>
                  <a:t>Reorder Point = Lead Time Demand + Safety Stock</a:t>
                </a:r>
              </a:p>
              <a:p>
                <a:pPr marL="0" indent="0">
                  <a:spcBef>
                    <a:spcPts val="300"/>
                  </a:spcBef>
                  <a:buNone/>
                </a:pPr>
                <a:r>
                  <a:rPr lang="en-CA" dirty="0"/>
                  <a:t>Preferred Stock Level = Lead Time Demand + Review Cycle Demand</a:t>
                </a:r>
              </a:p>
              <a:p>
                <a:pPr marL="0" indent="0">
                  <a:buNone/>
                </a:pPr>
                <a:endParaRPr lang="en-CA" dirty="0"/>
              </a:p>
            </p:txBody>
          </p:sp>
        </mc:Choice>
        <mc:Fallback>
          <p:sp>
            <p:nvSpPr>
              <p:cNvPr id="4" name="Content Placeholder 3">
                <a:extLst>
                  <a:ext uri="{FF2B5EF4-FFF2-40B4-BE49-F238E27FC236}">
                    <a16:creationId xmlns:a16="http://schemas.microsoft.com/office/drawing/2014/main" id="{32736EAF-69CA-1BE0-F864-B502A89E5D2C}"/>
                  </a:ext>
                </a:extLst>
              </p:cNvPr>
              <p:cNvSpPr>
                <a:spLocks noGrp="1" noRot="1" noChangeAspect="1" noMove="1" noResize="1" noEditPoints="1" noAdjustHandles="1" noChangeArrowheads="1" noChangeShapeType="1" noTextEdit="1"/>
              </p:cNvSpPr>
              <p:nvPr>
                <p:ph idx="1"/>
              </p:nvPr>
            </p:nvSpPr>
            <p:spPr>
              <a:xfrm>
                <a:off x="612647" y="1686957"/>
                <a:ext cx="10653579" cy="4593828"/>
              </a:xfrm>
              <a:blipFill>
                <a:blip r:embed="rId2"/>
                <a:stretch>
                  <a:fillRect l="-515" t="-266"/>
                </a:stretch>
              </a:blipFill>
            </p:spPr>
            <p:txBody>
              <a:bodyPr/>
              <a:lstStyle/>
              <a:p>
                <a:r>
                  <a:rPr lang="en-CA">
                    <a:noFill/>
                  </a:rPr>
                  <a:t> </a:t>
                </a:r>
              </a:p>
            </p:txBody>
          </p:sp>
        </mc:Fallback>
      </mc:AlternateContent>
    </p:spTree>
    <p:extLst>
      <p:ext uri="{BB962C8B-B14F-4D97-AF65-F5344CB8AC3E}">
        <p14:creationId xmlns:p14="http://schemas.microsoft.com/office/powerpoint/2010/main" val="11240451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BD2400-94AD-31F6-37F1-0D93921947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BB50A7-8097-B5C9-4E58-9ED8D14ADA20}"/>
              </a:ext>
            </a:extLst>
          </p:cNvPr>
          <p:cNvSpPr>
            <a:spLocks noGrp="1"/>
          </p:cNvSpPr>
          <p:nvPr>
            <p:ph type="title"/>
          </p:nvPr>
        </p:nvSpPr>
        <p:spPr>
          <a:xfrm>
            <a:off x="612648" y="548640"/>
            <a:ext cx="10653578" cy="1132258"/>
          </a:xfrm>
        </p:spPr>
        <p:txBody>
          <a:bodyPr>
            <a:normAutofit/>
          </a:bodyPr>
          <a:lstStyle/>
          <a:p>
            <a:r>
              <a:rPr lang="en-US" dirty="0"/>
              <a:t>Erratic</a:t>
            </a:r>
          </a:p>
        </p:txBody>
      </p:sp>
      <p:sp>
        <p:nvSpPr>
          <p:cNvPr id="4" name="Content Placeholder 3">
            <a:extLst>
              <a:ext uri="{FF2B5EF4-FFF2-40B4-BE49-F238E27FC236}">
                <a16:creationId xmlns:a16="http://schemas.microsoft.com/office/drawing/2014/main" id="{32736EAF-69CA-1BE0-F864-B502A89E5D2C}"/>
              </a:ext>
            </a:extLst>
          </p:cNvPr>
          <p:cNvSpPr>
            <a:spLocks noGrp="1"/>
          </p:cNvSpPr>
          <p:nvPr>
            <p:ph idx="1"/>
          </p:nvPr>
        </p:nvSpPr>
        <p:spPr/>
        <p:txBody>
          <a:bodyPr>
            <a:normAutofit/>
          </a:bodyPr>
          <a:lstStyle/>
          <a:p>
            <a:pPr marL="0" indent="0">
              <a:lnSpc>
                <a:spcPct val="120000"/>
              </a:lnSpc>
              <a:spcBef>
                <a:spcPts val="0"/>
              </a:spcBef>
              <a:buNone/>
            </a:pPr>
            <a:r>
              <a:rPr lang="en-CA" sz="1800" b="1" dirty="0">
                <a:solidFill>
                  <a:schemeClr val="accent1"/>
                </a:solidFill>
              </a:rPr>
              <a:t>Low ADI (Frequent) · High CV² (Variable)</a:t>
            </a:r>
            <a:endParaRPr lang="en-CA" dirty="0"/>
          </a:p>
          <a:p>
            <a:pPr marL="0" indent="0">
              <a:buNone/>
            </a:pPr>
            <a:r>
              <a:rPr lang="en-CA" sz="1800" dirty="0"/>
              <a:t>Forecast Mean = Syntetos –Boylan Approximation ( </a:t>
            </a:r>
            <a:r>
              <a:rPr lang="el-GR" sz="1800" dirty="0">
                <a:latin typeface="Times New Roman" panose="02020603050405020304" pitchFamily="18" charset="0"/>
                <a:cs typeface="Times New Roman" panose="02020603050405020304" pitchFamily="18" charset="0"/>
              </a:rPr>
              <a:t>α</a:t>
            </a:r>
            <a:r>
              <a:rPr lang="en-CA" sz="1800" dirty="0">
                <a:latin typeface="Times New Roman" panose="02020603050405020304" pitchFamily="18" charset="0"/>
                <a:cs typeface="Times New Roman" panose="02020603050405020304" pitchFamily="18" charset="0"/>
              </a:rPr>
              <a:t> = 0.2, average 60 non-zero sales day ) </a:t>
            </a:r>
            <a:endParaRPr lang="en-CA" sz="1800" dirty="0"/>
          </a:p>
          <a:p>
            <a:pPr marL="0" indent="0">
              <a:spcBef>
                <a:spcPts val="300"/>
              </a:spcBef>
              <a:buNone/>
            </a:pPr>
            <a:r>
              <a:rPr lang="en-CA" sz="1800" dirty="0"/>
              <a:t>Review Cycle Demand = Review Cycle × Forecast Mean Demand</a:t>
            </a:r>
          </a:p>
          <a:p>
            <a:pPr marL="0" indent="0">
              <a:spcBef>
                <a:spcPts val="300"/>
              </a:spcBef>
              <a:buNone/>
            </a:pPr>
            <a:r>
              <a:rPr lang="en-CA" sz="1800" dirty="0"/>
              <a:t>Lead Time (days) is fixed, provided by demand planner.</a:t>
            </a:r>
          </a:p>
          <a:p>
            <a:pPr marL="0" indent="0">
              <a:spcBef>
                <a:spcPts val="300"/>
              </a:spcBef>
              <a:buNone/>
            </a:pPr>
            <a:r>
              <a:rPr lang="en-CA" sz="1800" dirty="0"/>
              <a:t>Lead Time Demand = Lead Time (days) × Forecast Mean Demand</a:t>
            </a:r>
          </a:p>
          <a:p>
            <a:pPr marL="0" indent="0">
              <a:spcBef>
                <a:spcPts val="300"/>
              </a:spcBef>
              <a:buNone/>
            </a:pPr>
            <a:r>
              <a:rPr lang="en-CA" sz="1800" dirty="0"/>
              <a:t>Safety Stock = bootstrapping</a:t>
            </a:r>
          </a:p>
          <a:p>
            <a:pPr marL="0" indent="0">
              <a:spcBef>
                <a:spcPts val="300"/>
              </a:spcBef>
              <a:buNone/>
            </a:pPr>
            <a:r>
              <a:rPr lang="en-CA" sz="1800" dirty="0"/>
              <a:t>Reorder Point = Lead Time Demand + Safety Stock</a:t>
            </a:r>
          </a:p>
          <a:p>
            <a:pPr marL="0" indent="0">
              <a:spcBef>
                <a:spcPts val="300"/>
              </a:spcBef>
              <a:buNone/>
            </a:pPr>
            <a:r>
              <a:rPr lang="en-CA" sz="1800" dirty="0"/>
              <a:t>Preferred Stock Level = Lead Time Demand + Review Cycle Demand</a:t>
            </a:r>
          </a:p>
          <a:p>
            <a:pPr marL="0" indent="0">
              <a:spcBef>
                <a:spcPts val="300"/>
              </a:spcBef>
              <a:buNone/>
            </a:pPr>
            <a:r>
              <a:rPr lang="en-CA" sz="1800" dirty="0"/>
              <a:t>*Flagged extreme CV² investigate separately.</a:t>
            </a:r>
          </a:p>
          <a:p>
            <a:pPr marL="0" indent="0">
              <a:spcBef>
                <a:spcPts val="300"/>
              </a:spcBef>
              <a:buNone/>
            </a:pPr>
            <a:endParaRPr lang="en-CA" sz="1800" dirty="0"/>
          </a:p>
        </p:txBody>
      </p:sp>
    </p:spTree>
    <p:extLst>
      <p:ext uri="{BB962C8B-B14F-4D97-AF65-F5344CB8AC3E}">
        <p14:creationId xmlns:p14="http://schemas.microsoft.com/office/powerpoint/2010/main" val="26209360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BD2400-94AD-31F6-37F1-0D93921947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BB50A7-8097-B5C9-4E58-9ED8D14ADA20}"/>
              </a:ext>
            </a:extLst>
          </p:cNvPr>
          <p:cNvSpPr>
            <a:spLocks noGrp="1"/>
          </p:cNvSpPr>
          <p:nvPr>
            <p:ph type="title"/>
          </p:nvPr>
        </p:nvSpPr>
        <p:spPr>
          <a:xfrm>
            <a:off x="612648" y="548640"/>
            <a:ext cx="10653578" cy="1132258"/>
          </a:xfrm>
        </p:spPr>
        <p:txBody>
          <a:bodyPr>
            <a:normAutofit/>
          </a:bodyPr>
          <a:lstStyle/>
          <a:p>
            <a:r>
              <a:rPr lang="en-US" dirty="0"/>
              <a:t>Lumpy</a:t>
            </a:r>
          </a:p>
        </p:txBody>
      </p:sp>
      <p:sp>
        <p:nvSpPr>
          <p:cNvPr id="4" name="Content Placeholder 3">
            <a:extLst>
              <a:ext uri="{FF2B5EF4-FFF2-40B4-BE49-F238E27FC236}">
                <a16:creationId xmlns:a16="http://schemas.microsoft.com/office/drawing/2014/main" id="{32736EAF-69CA-1BE0-F864-B502A89E5D2C}"/>
              </a:ext>
            </a:extLst>
          </p:cNvPr>
          <p:cNvSpPr>
            <a:spLocks noGrp="1"/>
          </p:cNvSpPr>
          <p:nvPr>
            <p:ph idx="1"/>
          </p:nvPr>
        </p:nvSpPr>
        <p:spPr/>
        <p:txBody>
          <a:bodyPr>
            <a:normAutofit fontScale="85000" lnSpcReduction="20000"/>
          </a:bodyPr>
          <a:lstStyle/>
          <a:p>
            <a:pPr marL="0" indent="0">
              <a:lnSpc>
                <a:spcPct val="120000"/>
              </a:lnSpc>
              <a:spcBef>
                <a:spcPts val="0"/>
              </a:spcBef>
              <a:buNone/>
            </a:pPr>
            <a:r>
              <a:rPr lang="en-CA" sz="1800" b="1" dirty="0">
                <a:solidFill>
                  <a:schemeClr val="accent1"/>
                </a:solidFill>
              </a:rPr>
              <a:t>High ADI (Sparse) · High CV² (Variable)</a:t>
            </a:r>
          </a:p>
          <a:p>
            <a:r>
              <a:rPr lang="en-US" b="1" dirty="0"/>
              <a:t>ADI mean ~40, max 88</a:t>
            </a:r>
            <a:r>
              <a:rPr lang="en-US" dirty="0"/>
              <a:t> — demand occurs every 40 days on average, some SKUs every 88 days. Extremely infrequent.</a:t>
            </a:r>
          </a:p>
          <a:p>
            <a:r>
              <a:rPr lang="en-US" b="1" dirty="0"/>
              <a:t>CV² mean ~0.97, max 3.03</a:t>
            </a:r>
            <a:r>
              <a:rPr lang="en-US" dirty="0"/>
              <a:t> — when demand does occur, the size is highly variable.</a:t>
            </a:r>
          </a:p>
          <a:p>
            <a:r>
              <a:rPr lang="en-US" b="1" dirty="0"/>
              <a:t>Sales days 4–17, mean ~10</a:t>
            </a:r>
            <a:r>
              <a:rPr lang="en-US" dirty="0"/>
              <a:t> — critically sparse. On average only 10 data points per SKU to work with.</a:t>
            </a:r>
          </a:p>
          <a:p>
            <a:pPr marL="0" indent="0">
              <a:buNone/>
            </a:pPr>
            <a:r>
              <a:rPr lang="en-US" dirty="0"/>
              <a:t>With this little historical data, statistical forecast is not trustable and has limitation. </a:t>
            </a:r>
          </a:p>
          <a:p>
            <a:pPr marL="0" indent="0">
              <a:buNone/>
            </a:pPr>
            <a:r>
              <a:rPr lang="en-US" dirty="0"/>
              <a:t>Demand Probability = Non-Zero Sales Days/ Total demand Days</a:t>
            </a:r>
          </a:p>
          <a:p>
            <a:pPr marL="0" indent="0">
              <a:buNone/>
            </a:pPr>
            <a:r>
              <a:rPr lang="en-CA" dirty="0"/>
              <a:t>Forecast Mean = Demand probability * Average demand of Non-Zero Sales Day</a:t>
            </a:r>
          </a:p>
          <a:p>
            <a:pPr marL="0" indent="0">
              <a:lnSpc>
                <a:spcPct val="120000"/>
              </a:lnSpc>
              <a:spcBef>
                <a:spcPts val="300"/>
              </a:spcBef>
              <a:buNone/>
            </a:pPr>
            <a:r>
              <a:rPr lang="en-CA" sz="1800" dirty="0"/>
              <a:t>Review Cycle Demand = Review Cycle × Forecast Mean Demand</a:t>
            </a:r>
          </a:p>
          <a:p>
            <a:pPr marL="0" indent="0">
              <a:lnSpc>
                <a:spcPct val="120000"/>
              </a:lnSpc>
              <a:spcBef>
                <a:spcPts val="300"/>
              </a:spcBef>
              <a:buNone/>
            </a:pPr>
            <a:r>
              <a:rPr lang="en-CA" sz="1800" dirty="0"/>
              <a:t>Lead Time (days) is fixed, provided by demand planner.</a:t>
            </a:r>
          </a:p>
          <a:p>
            <a:pPr marL="0" indent="0">
              <a:lnSpc>
                <a:spcPct val="120000"/>
              </a:lnSpc>
              <a:spcBef>
                <a:spcPts val="300"/>
              </a:spcBef>
              <a:buNone/>
            </a:pPr>
            <a:r>
              <a:rPr lang="en-CA" sz="1800" dirty="0"/>
              <a:t>Lead Time Demand = Lead Time (days) × Forecast Mean Demand</a:t>
            </a:r>
          </a:p>
          <a:p>
            <a:pPr marL="0" indent="0">
              <a:spcBef>
                <a:spcPts val="300"/>
              </a:spcBef>
              <a:buNone/>
            </a:pPr>
            <a:r>
              <a:rPr lang="en-CA" sz="1800" dirty="0"/>
              <a:t>Safety Stock = 0.2 × Lead Time Demand</a:t>
            </a:r>
          </a:p>
          <a:p>
            <a:pPr marL="0" indent="0">
              <a:lnSpc>
                <a:spcPct val="120000"/>
              </a:lnSpc>
              <a:spcBef>
                <a:spcPts val="300"/>
              </a:spcBef>
              <a:buNone/>
            </a:pPr>
            <a:r>
              <a:rPr lang="en-CA" sz="1800" dirty="0"/>
              <a:t>Reorder Point = Lead Time Demand + Safety Stock</a:t>
            </a:r>
          </a:p>
          <a:p>
            <a:pPr marL="0" indent="0">
              <a:lnSpc>
                <a:spcPct val="120000"/>
              </a:lnSpc>
              <a:spcBef>
                <a:spcPts val="300"/>
              </a:spcBef>
              <a:buNone/>
            </a:pPr>
            <a:r>
              <a:rPr lang="en-CA" sz="1800" dirty="0"/>
              <a:t>Preferred Stock Level = Lead Time Demand + Review Cycle Demand</a:t>
            </a:r>
          </a:p>
        </p:txBody>
      </p:sp>
    </p:spTree>
    <p:extLst>
      <p:ext uri="{BB962C8B-B14F-4D97-AF65-F5344CB8AC3E}">
        <p14:creationId xmlns:p14="http://schemas.microsoft.com/office/powerpoint/2010/main" val="36651879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B26F7E-03C3-7C25-44BA-0B11D7B5F88A}"/>
              </a:ext>
            </a:extLst>
          </p:cNvPr>
          <p:cNvSpPr>
            <a:spLocks noGrp="1"/>
          </p:cNvSpPr>
          <p:nvPr>
            <p:ph type="title"/>
          </p:nvPr>
        </p:nvSpPr>
        <p:spPr/>
        <p:txBody>
          <a:bodyPr/>
          <a:lstStyle/>
          <a:p>
            <a:r>
              <a:rPr lang="en-CA" dirty="0"/>
              <a:t>Sparse</a:t>
            </a:r>
          </a:p>
        </p:txBody>
      </p:sp>
      <p:graphicFrame>
        <p:nvGraphicFramePr>
          <p:cNvPr id="201" name="Chart 1"/>
          <p:cNvGraphicFramePr/>
          <p:nvPr>
            <p:extLst>
              <p:ext uri="{D42A27DB-BD31-4B8C-83A1-F6EECF244321}">
                <p14:modId xmlns:p14="http://schemas.microsoft.com/office/powerpoint/2010/main" val="1295311313"/>
              </p:ext>
            </p:extLst>
          </p:nvPr>
        </p:nvGraphicFramePr>
        <p:xfrm>
          <a:off x="441199" y="2562226"/>
          <a:ext cx="6131052" cy="3619500"/>
        </p:xfrm>
        <a:graphic>
          <a:graphicData uri="http://schemas.openxmlformats.org/drawingml/2006/chart">
            <c:chart xmlns:c="http://schemas.openxmlformats.org/drawingml/2006/chart" xmlns:r="http://schemas.openxmlformats.org/officeDocument/2006/relationships" r:id="rId2"/>
          </a:graphicData>
        </a:graphic>
      </p:graphicFrame>
      <p:sp>
        <p:nvSpPr>
          <p:cNvPr id="3" name="TextBox 2">
            <a:extLst>
              <a:ext uri="{FF2B5EF4-FFF2-40B4-BE49-F238E27FC236}">
                <a16:creationId xmlns:a16="http://schemas.microsoft.com/office/drawing/2014/main" id="{0C3AA45E-27DD-E500-1DD7-FC8AFDDFC155}"/>
              </a:ext>
            </a:extLst>
          </p:cNvPr>
          <p:cNvSpPr txBox="1"/>
          <p:nvPr/>
        </p:nvSpPr>
        <p:spPr>
          <a:xfrm>
            <a:off x="526923" y="1297014"/>
            <a:ext cx="4749927" cy="923330"/>
          </a:xfrm>
          <a:prstGeom prst="rect">
            <a:avLst/>
          </a:prstGeom>
          <a:noFill/>
        </p:spPr>
        <p:txBody>
          <a:bodyPr wrap="square" rtlCol="0">
            <a:spAutoFit/>
          </a:bodyPr>
          <a:lstStyle/>
          <a:p>
            <a:r>
              <a:rPr lang="en-CA" dirty="0"/>
              <a:t>Sold fewer than three times through since 2026. Why were they classified as Top Products?  </a:t>
            </a:r>
          </a:p>
        </p:txBody>
      </p:sp>
      <p:sp>
        <p:nvSpPr>
          <p:cNvPr id="4" name="TextBox 3">
            <a:extLst>
              <a:ext uri="{FF2B5EF4-FFF2-40B4-BE49-F238E27FC236}">
                <a16:creationId xmlns:a16="http://schemas.microsoft.com/office/drawing/2014/main" id="{7ADFC444-6C32-4F6C-9B82-0F615071BCDC}"/>
              </a:ext>
            </a:extLst>
          </p:cNvPr>
          <p:cNvSpPr txBox="1"/>
          <p:nvPr/>
        </p:nvSpPr>
        <p:spPr>
          <a:xfrm>
            <a:off x="7362825" y="1562100"/>
            <a:ext cx="3989126" cy="3416320"/>
          </a:xfrm>
          <a:prstGeom prst="rect">
            <a:avLst/>
          </a:prstGeom>
          <a:noFill/>
        </p:spPr>
        <p:txBody>
          <a:bodyPr wrap="square" rtlCol="0">
            <a:spAutoFit/>
          </a:bodyPr>
          <a:lstStyle/>
          <a:p>
            <a:r>
              <a:rPr lang="en-CA" dirty="0"/>
              <a:t>To free up the cashflow, decided on order as demand occurred </a:t>
            </a:r>
          </a:p>
          <a:p>
            <a:r>
              <a:rPr lang="en-CA" dirty="0"/>
              <a:t>Reorder Point = 0</a:t>
            </a:r>
          </a:p>
          <a:p>
            <a:r>
              <a:rPr lang="en-CA" dirty="0"/>
              <a:t>Preferred Stock Level = 0 </a:t>
            </a:r>
          </a:p>
          <a:p>
            <a:endParaRPr lang="en-CA" dirty="0"/>
          </a:p>
          <a:p>
            <a:r>
              <a:rPr lang="en-CA" dirty="0"/>
              <a:t>With excessive cashflow</a:t>
            </a:r>
          </a:p>
          <a:p>
            <a:r>
              <a:rPr lang="en-CA" dirty="0"/>
              <a:t>Reorder Point = Average Demand Size </a:t>
            </a:r>
          </a:p>
          <a:p>
            <a:r>
              <a:rPr lang="en-CA" dirty="0"/>
              <a:t>Preferred Stock Level = Average Demand Size ( solely rely on historical data )  </a:t>
            </a:r>
          </a:p>
          <a:p>
            <a:endParaRPr lang="en-CA" dirty="0"/>
          </a:p>
        </p:txBody>
      </p:sp>
    </p:spTree>
    <p:extLst>
      <p:ext uri="{BB962C8B-B14F-4D97-AF65-F5344CB8AC3E}">
        <p14:creationId xmlns:p14="http://schemas.microsoft.com/office/powerpoint/2010/main" val="12470317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A41DBECD-F588-8989-5C2F-EDD424C6BA73}"/>
              </a:ext>
            </a:extLst>
          </p:cNvPr>
          <p:cNvSpPr>
            <a:spLocks noGrp="1"/>
          </p:cNvSpPr>
          <p:nvPr>
            <p:ph type="pic" sz="quarter" idx="13"/>
          </p:nvPr>
        </p:nvSpPr>
        <p:spPr>
          <a:xfrm>
            <a:off x="0" y="0"/>
            <a:ext cx="4023360" cy="6858000"/>
          </a:xfrm>
          <a:solidFill>
            <a:schemeClr val="tx1"/>
          </a:solidFill>
        </p:spPr>
        <p:txBody>
          <a:bodyPr/>
          <a:lstStyle/>
          <a:p>
            <a:endParaRPr lang="en-CA" dirty="0"/>
          </a:p>
        </p:txBody>
      </p:sp>
      <p:sp>
        <p:nvSpPr>
          <p:cNvPr id="2" name="Title 1">
            <a:extLst>
              <a:ext uri="{FF2B5EF4-FFF2-40B4-BE49-F238E27FC236}">
                <a16:creationId xmlns:a16="http://schemas.microsoft.com/office/drawing/2014/main" id="{90979F20-7FE0-9464-CC8C-AAB74EE175D5}"/>
              </a:ext>
            </a:extLst>
          </p:cNvPr>
          <p:cNvSpPr>
            <a:spLocks noGrp="1"/>
          </p:cNvSpPr>
          <p:nvPr>
            <p:ph type="title"/>
          </p:nvPr>
        </p:nvSpPr>
        <p:spPr>
          <a:xfrm>
            <a:off x="173736" y="311083"/>
            <a:ext cx="3040804" cy="1838227"/>
          </a:xfrm>
        </p:spPr>
        <p:txBody>
          <a:bodyPr>
            <a:normAutofit/>
          </a:bodyPr>
          <a:lstStyle/>
          <a:p>
            <a:r>
              <a:rPr lang="en-US" dirty="0">
                <a:solidFill>
                  <a:schemeClr val="bg1"/>
                </a:solidFill>
              </a:rPr>
              <a:t>Action Plan</a:t>
            </a:r>
            <a:br>
              <a:rPr lang="en-US" dirty="0">
                <a:solidFill>
                  <a:schemeClr val="bg1"/>
                </a:solidFill>
              </a:rPr>
            </a:br>
            <a:r>
              <a:rPr lang="en-US" sz="2400" dirty="0">
                <a:solidFill>
                  <a:schemeClr val="bg1"/>
                </a:solidFill>
              </a:rPr>
              <a:t>listed by department</a:t>
            </a:r>
            <a:endParaRPr lang="en-US" dirty="0">
              <a:solidFill>
                <a:schemeClr val="bg1"/>
              </a:solidFill>
            </a:endParaRPr>
          </a:p>
        </p:txBody>
      </p:sp>
      <p:sp>
        <p:nvSpPr>
          <p:cNvPr id="4" name="Content Placeholder 3">
            <a:extLst>
              <a:ext uri="{FF2B5EF4-FFF2-40B4-BE49-F238E27FC236}">
                <a16:creationId xmlns:a16="http://schemas.microsoft.com/office/drawing/2014/main" id="{A8072345-EDED-4266-CFF8-650FF0BB1E47}"/>
              </a:ext>
            </a:extLst>
          </p:cNvPr>
          <p:cNvSpPr>
            <a:spLocks noGrp="1"/>
          </p:cNvSpPr>
          <p:nvPr>
            <p:ph sz="quarter" idx="14"/>
          </p:nvPr>
        </p:nvSpPr>
        <p:spPr>
          <a:xfrm>
            <a:off x="4601497" y="311083"/>
            <a:ext cx="6938134" cy="6112746"/>
          </a:xfrm>
        </p:spPr>
        <p:txBody>
          <a:bodyPr>
            <a:noAutofit/>
          </a:bodyPr>
          <a:lstStyle/>
          <a:p>
            <a:pPr marL="0" indent="0">
              <a:buNone/>
            </a:pPr>
            <a:r>
              <a:rPr lang="en-US" sz="1700" b="1" dirty="0"/>
              <a:t>Purchasing </a:t>
            </a:r>
          </a:p>
          <a:p>
            <a:r>
              <a:rPr lang="en-US" sz="1700" dirty="0"/>
              <a:t>Populate Lead Times and Preferred Vendor for each item</a:t>
            </a:r>
          </a:p>
          <a:p>
            <a:pPr>
              <a:buFontTx/>
              <a:buChar char="•"/>
            </a:pPr>
            <a:r>
              <a:rPr lang="en-US" sz="1700" dirty="0"/>
              <a:t>Review Reorder Point, Preferred Stock Level, Safety Stock, and Preferred Vendor per item</a:t>
            </a:r>
          </a:p>
          <a:p>
            <a:pPr>
              <a:buFontTx/>
              <a:buChar char="•"/>
            </a:pPr>
            <a:r>
              <a:rPr lang="en-US" sz="1700" dirty="0"/>
              <a:t>Once data is uploaded, place orders via the NetSuite “Order Items” page</a:t>
            </a:r>
          </a:p>
          <a:p>
            <a:pPr marL="0" indent="0">
              <a:buNone/>
            </a:pPr>
            <a:r>
              <a:rPr lang="en-US" sz="1700" b="1" dirty="0"/>
              <a:t>Sales &amp; Marketing</a:t>
            </a:r>
          </a:p>
          <a:p>
            <a:pPr>
              <a:buFontTx/>
              <a:buChar char="•"/>
            </a:pPr>
            <a:r>
              <a:rPr lang="en-US" sz="1700" dirty="0"/>
              <a:t>Provide demand insight and overwrite forecasts for promotional items</a:t>
            </a:r>
          </a:p>
          <a:p>
            <a:pPr marL="0" indent="0">
              <a:buNone/>
            </a:pPr>
            <a:r>
              <a:rPr lang="en-US" sz="1700" b="1" dirty="0"/>
              <a:t>BI</a:t>
            </a:r>
          </a:p>
          <a:p>
            <a:pPr>
              <a:buFontTx/>
              <a:buChar char="•"/>
            </a:pPr>
            <a:r>
              <a:rPr lang="en-US" sz="1700" dirty="0"/>
              <a:t>Mass-update NetSuite data once the review is complete</a:t>
            </a:r>
          </a:p>
          <a:p>
            <a:pPr>
              <a:buFontTx/>
              <a:buChar char="•"/>
            </a:pPr>
            <a:r>
              <a:rPr lang="en-US" sz="1700" dirty="0"/>
              <a:t>Seasonality Analysis for Top Product with enough history.</a:t>
            </a:r>
          </a:p>
          <a:p>
            <a:pPr>
              <a:buFontTx/>
              <a:buChar char="•"/>
            </a:pPr>
            <a:r>
              <a:rPr lang="en-US" sz="1700" dirty="0"/>
              <a:t>Smooth the data stream of the analysis</a:t>
            </a:r>
          </a:p>
          <a:p>
            <a:pPr>
              <a:buFontTx/>
              <a:buChar char="•"/>
            </a:pPr>
            <a:r>
              <a:rPr lang="en-US" sz="1700" dirty="0"/>
              <a:t>Monitor demand throughout the next 30-day review cycle</a:t>
            </a:r>
          </a:p>
          <a:p>
            <a:pPr>
              <a:buFontTx/>
              <a:buChar char="•"/>
            </a:pPr>
            <a:r>
              <a:rPr lang="en-US" sz="1700" dirty="0"/>
              <a:t>Refine the methodology based on outcomes</a:t>
            </a:r>
          </a:p>
        </p:txBody>
      </p:sp>
    </p:spTree>
    <p:extLst>
      <p:ext uri="{BB962C8B-B14F-4D97-AF65-F5344CB8AC3E}">
        <p14:creationId xmlns:p14="http://schemas.microsoft.com/office/powerpoint/2010/main" val="15926450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A209B1-CECE-7466-7044-9D73619E56A1}"/>
              </a:ext>
            </a:extLst>
          </p:cNvPr>
          <p:cNvSpPr>
            <a:spLocks noGrp="1"/>
          </p:cNvSpPr>
          <p:nvPr>
            <p:ph type="ctrTitle"/>
          </p:nvPr>
        </p:nvSpPr>
        <p:spPr>
          <a:xfrm>
            <a:off x="365759" y="4109693"/>
            <a:ext cx="11460480" cy="786384"/>
          </a:xfrm>
        </p:spPr>
        <p:txBody>
          <a:bodyPr/>
          <a:lstStyle/>
          <a:p>
            <a:r>
              <a:rPr lang="en-US" dirty="0"/>
              <a:t>Q &amp; A</a:t>
            </a:r>
          </a:p>
        </p:txBody>
      </p:sp>
      <p:sp>
        <p:nvSpPr>
          <p:cNvPr id="3" name="Subtitle 2">
            <a:extLst>
              <a:ext uri="{FF2B5EF4-FFF2-40B4-BE49-F238E27FC236}">
                <a16:creationId xmlns:a16="http://schemas.microsoft.com/office/drawing/2014/main" id="{0D66681B-5E1B-BD2B-6960-3B46EFE83A39}"/>
              </a:ext>
            </a:extLst>
          </p:cNvPr>
          <p:cNvSpPr>
            <a:spLocks noGrp="1"/>
          </p:cNvSpPr>
          <p:nvPr>
            <p:ph type="subTitle" idx="1"/>
          </p:nvPr>
        </p:nvSpPr>
        <p:spPr>
          <a:xfrm>
            <a:off x="365760" y="5186245"/>
            <a:ext cx="11460480" cy="1266757"/>
          </a:xfrm>
        </p:spPr>
        <p:txBody>
          <a:bodyPr/>
          <a:lstStyle/>
          <a:p>
            <a:endParaRPr lang="en-US" dirty="0"/>
          </a:p>
        </p:txBody>
      </p:sp>
      <p:pic>
        <p:nvPicPr>
          <p:cNvPr id="6" name="Picture Placeholder 5" descr="People floating on inner tubes in the water">
            <a:extLst>
              <a:ext uri="{FF2B5EF4-FFF2-40B4-BE49-F238E27FC236}">
                <a16:creationId xmlns:a16="http://schemas.microsoft.com/office/drawing/2014/main" id="{7D071976-9DDA-8EF5-F9B4-1BE7497CC16D}"/>
              </a:ext>
            </a:extLst>
          </p:cNvPr>
          <p:cNvPicPr>
            <a:picLocks noGrp="1" noChangeAspect="1"/>
          </p:cNvPicPr>
          <p:nvPr>
            <p:ph type="pic" sz="quarter" idx="13"/>
          </p:nvPr>
        </p:nvPicPr>
        <p:blipFill>
          <a:blip r:embed="rId2" cstate="print">
            <a:extLst>
              <a:ext uri="{28A0092B-C50C-407E-A947-70E740481C1C}">
                <a14:useLocalDpi xmlns:a14="http://schemas.microsoft.com/office/drawing/2010/main"/>
              </a:ext>
            </a:extLst>
          </a:blip>
          <a:srcRect/>
          <a:stretch/>
        </p:blipFill>
        <p:spPr>
          <a:xfrm>
            <a:off x="0" y="0"/>
            <a:ext cx="12191999" cy="3819525"/>
          </a:xfrm>
        </p:spPr>
      </p:pic>
    </p:spTree>
    <p:extLst>
      <p:ext uri="{BB962C8B-B14F-4D97-AF65-F5344CB8AC3E}">
        <p14:creationId xmlns:p14="http://schemas.microsoft.com/office/powerpoint/2010/main" val="2999686948"/>
      </p:ext>
    </p:extLst>
  </p:cSld>
  <p:clrMapOvr>
    <a:masterClrMapping/>
  </p:clrMapOvr>
</p:sld>
</file>

<file path=ppt/theme/theme1.xml><?xml version="1.0" encoding="utf-8"?>
<a:theme xmlns:a="http://schemas.openxmlformats.org/drawingml/2006/main" name="Helena">
  <a:themeElements>
    <a:clrScheme name="Helen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elena_win32_DN_V3" id="{9F427321-9060-43C1-8B15-4D38A9FA231C}" vid="{F91C65FD-DCCD-4832-9662-5F5E1061559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B15A8F8F-8D4F-4F24-B4CA-053587F5E5F8}">
  <we:reference id="wa200010001" version="1.0.0.1" store="en-US" storeType="OMEX"/>
  <we:alternateReferences>
    <we:reference id="WA200010001" version="1.0.0.1" store="WA200010001" storeType="OMEX"/>
  </we:alternateReferences>
  <we:properties>
    <we:property name="claude.fileId" value="&quot;39900db9-ab54-4013-83ca-700e92ff4b1d&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2CE066C3087F64FBCB2C7BC57AE6FB2" ma:contentTypeVersion="16" ma:contentTypeDescription="Create a new document." ma:contentTypeScope="" ma:versionID="7e7035417576c076d72d137af2d855a9">
  <xsd:schema xmlns:xsd="http://www.w3.org/2001/XMLSchema" xmlns:xs="http://www.w3.org/2001/XMLSchema" xmlns:p="http://schemas.microsoft.com/office/2006/metadata/properties" xmlns:ns2="05875338-de70-420d-89e5-93abf7f89c8d" xmlns:ns3="d91d8232-05cd-45bb-af26-704ad614215d" targetNamespace="http://schemas.microsoft.com/office/2006/metadata/properties" ma:root="true" ma:fieldsID="f6ece0e7ebdcfbe48e7b71880decc3c1" ns2:_="" ns3:_="">
    <xsd:import namespace="05875338-de70-420d-89e5-93abf7f89c8d"/>
    <xsd:import namespace="d91d8232-05cd-45bb-af26-704ad614215d"/>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3:SharedWithUsers" minOccurs="0"/>
                <xsd:element ref="ns3:SharedWithDetails" minOccurs="0"/>
                <xsd:element ref="ns2:MediaLengthInSeconds" minOccurs="0"/>
                <xsd:element ref="ns2:MediaServiceSearchProperties" minOccurs="0"/>
                <xsd:element ref="ns2:MediaServiceLocation" minOccurs="0"/>
                <xsd:element ref="ns2:No_x002e_"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5875338-de70-420d-89e5-93abf7f89c8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5784b361-de9c-4750-8c46-782edf13f8bb"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dexed="true" ma:internalName="MediaServiceDateTake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ServiceLocation" ma:index="22" nillable="true" ma:displayName="Location" ma:indexed="true" ma:internalName="MediaServiceLocation" ma:readOnly="true">
      <xsd:simpleType>
        <xsd:restriction base="dms:Text"/>
      </xsd:simpleType>
    </xsd:element>
    <xsd:element name="No_x002e_" ma:index="23" nillable="true" ma:displayName="No." ma:format="Dropdown" ma:internalName="No_x002e_" ma:percentage="FALSE">
      <xsd:simpleType>
        <xsd:restriction base="dms:Number"/>
      </xsd:simpleType>
    </xsd:element>
  </xsd:schema>
  <xsd:schema xmlns:xsd="http://www.w3.org/2001/XMLSchema" xmlns:xs="http://www.w3.org/2001/XMLSchema" xmlns:dms="http://schemas.microsoft.com/office/2006/documentManagement/types" xmlns:pc="http://schemas.microsoft.com/office/infopath/2007/PartnerControls" targetNamespace="d91d8232-05cd-45bb-af26-704ad614215d"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d19cc7f7-59c8-4cb4-b1a1-b1201242d3bf}" ma:internalName="TaxCatchAll" ma:showField="CatchAllData" ma:web="d91d8232-05cd-45bb-af26-704ad614215d">
      <xsd:complexType>
        <xsd:complexContent>
          <xsd:extension base="dms:MultiChoiceLookup">
            <xsd:sequence>
              <xsd:element name="Value" type="dms:Lookup" maxOccurs="unbounded" minOccurs="0" nillable="true"/>
            </xsd:sequence>
          </xsd:extension>
        </xsd:complexContent>
      </xsd:complexType>
    </xsd:element>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d91d8232-05cd-45bb-af26-704ad614215d" xsi:nil="true"/>
    <lcf76f155ced4ddcb4097134ff3c332f xmlns="05875338-de70-420d-89e5-93abf7f89c8d">
      <Terms xmlns="http://schemas.microsoft.com/office/infopath/2007/PartnerControls"/>
    </lcf76f155ced4ddcb4097134ff3c332f>
    <No_x002e_ xmlns="05875338-de70-420d-89e5-93abf7f89c8d"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9AE5ABD-037B-4841-B7AF-021BFD5DDAD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5875338-de70-420d-89e5-93abf7f89c8d"/>
    <ds:schemaRef ds:uri="d91d8232-05cd-45bb-af26-704ad614215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EA2E174-8201-44C8-8E86-D532E6482AAF}">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 ds:uri="d91d8232-05cd-45bb-af26-704ad614215d"/>
    <ds:schemaRef ds:uri="05875338-de70-420d-89e5-93abf7f89c8d"/>
  </ds:schemaRefs>
</ds:datastoreItem>
</file>

<file path=customXml/itemProps3.xml><?xml version="1.0" encoding="utf-8"?>
<ds:datastoreItem xmlns:ds="http://schemas.openxmlformats.org/officeDocument/2006/customXml" ds:itemID="{7815C017-F059-461C-B5CA-F74FA8291930}">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{A25E707F-8187-4431-9797-BFD7C6ED32FD}9db5ba7a-f6a8-423e-8130-f3099013613b-TF6f351658-02aa-4255-a406-604a46294ca9_win32</Template>
  <TotalTime>7650</TotalTime>
  <Words>1697</Words>
  <Application>Microsoft Office PowerPoint</Application>
  <PresentationFormat>Widescreen</PresentationFormat>
  <Paragraphs>196</Paragraphs>
  <Slides>18</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Aptos</vt:lpstr>
      <vt:lpstr>Arial</vt:lpstr>
      <vt:lpstr>Cambria Math</vt:lpstr>
      <vt:lpstr>Neue Haas Grotesk Text Pro</vt:lpstr>
      <vt:lpstr>Times New Roman</vt:lpstr>
      <vt:lpstr>Helena</vt:lpstr>
      <vt:lpstr>Optimizing Inventory Setting</vt:lpstr>
      <vt:lpstr>Agenda &amp; Objective</vt:lpstr>
      <vt:lpstr>Back Order  2025-11-10 to 2026-05-25</vt:lpstr>
      <vt:lpstr>Key Components of Demand Planning </vt:lpstr>
      <vt:lpstr>Introducing to  Inventory Setting: ------------------------ Reorder Point Lead Time  Safety Buffer Preferred Stock Level</vt:lpstr>
      <vt:lpstr>Target Products </vt:lpstr>
      <vt:lpstr>Issues Raised by Product Management</vt:lpstr>
      <vt:lpstr>Quantitative Forecasting</vt:lpstr>
      <vt:lpstr>Syntetos and Boylan Classification for Demand Pattern</vt:lpstr>
      <vt:lpstr>PowerPoint Presentation</vt:lpstr>
      <vt:lpstr>Top Product Segmentation by Demand Pattern</vt:lpstr>
      <vt:lpstr>Smooth</vt:lpstr>
      <vt:lpstr>Intermittent</vt:lpstr>
      <vt:lpstr>Erratic</vt:lpstr>
      <vt:lpstr>Lumpy</vt:lpstr>
      <vt:lpstr>Sparse</vt:lpstr>
      <vt:lpstr>Action Plan listed by department</vt:lpstr>
      <vt:lpstr>Q &amp; 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Tzuying Yu</dc:creator>
  <cp:lastModifiedBy>Tzuying Yu</cp:lastModifiedBy>
  <cp:revision>1</cp:revision>
  <dcterms:created xsi:type="dcterms:W3CDTF">2026-05-27T13:56:01Z</dcterms:created>
  <dcterms:modified xsi:type="dcterms:W3CDTF">2026-06-25T16:56:54Z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0x010100B2CE066C3087F64FBCB2C7BC57AE6FB2</vt:lpwstr>
  </property>
  <property fmtid="{D5CDD505-2E9C-101B-9397-08002B2CF9AE}" pid="3" name="MediaServiceImageTags">
    <vt:lpwstr/>
  </property>
</Properties>
</file>